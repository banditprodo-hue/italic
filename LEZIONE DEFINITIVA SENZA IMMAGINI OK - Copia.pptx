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6"/>
  </p:notesMasterIdLst>
  <p:handoutMasterIdLst>
    <p:handoutMasterId r:id="rId77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7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A1D08E-8A9F-4B54-A5DC-B52D110753BE}" type="datetime1">
              <a:rPr lang="it-IT" smtClean="0"/>
              <a:t>24/06/2026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it-IT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E1426A-FEA2-4562-8B81-624F47BF2E70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it-IT" b="1" i="1">
                <a:latin typeface="Arial" pitchFamily="34" charset="0"/>
                <a:cs typeface="Arial" pitchFamily="34" charset="0"/>
              </a:rPr>
              <a:t>NOTA:</a:t>
            </a:r>
          </a:p>
          <a:p>
            <a:pPr rtl="0"/>
            <a:r>
              <a:rPr lang="it-IT" i="1">
                <a:latin typeface="Arial" pitchFamily="34" charset="0"/>
                <a:cs typeface="Arial" pitchFamily="34" charset="0"/>
              </a:rPr>
              <a:t>per cambiare l'immagine in questa diapositiva, selezionarla ed eliminarla. Quindi fare clic sull'icona Immagini nel segnaposto per inserire l'immagine desiderata.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57357D53-8FB3-4E65-898F-CE944B0347C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02612B-950C-4B69-B3CC-A899FF39363D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11" name="Segnaposto immagine 10" descr="Segnaposto vuoto per aggiungere un'immagine. Fare clic sul segnaposto e selezionare l'immagine che si vuole aggiungere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8" name="Rettango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grpSp>
        <p:nvGrpSpPr>
          <p:cNvPr id="14" name="Grup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nettore dirit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dirit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magin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up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nettore dirit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ttango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nettore dirit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ttango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noProof="0"/>
            </a:p>
          </p:txBody>
        </p:sp>
        <p:grpSp>
          <p:nvGrpSpPr>
            <p:cNvPr id="11" name="Grup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nettore dirit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dirit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F6C6B6-6359-4C94-ABF9-C406F36C33C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E5DF46-A41A-4BE5-9396-C6E7ECBE5CF6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D6F3B3-053B-47CE-B08C-DE0DB4B8B5D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019651-76A1-4332-BBF9-B85C4D198B2F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C01DF8-12BB-40A3-9942-F3CAFDB4905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5025F-F07F-4E77-AE38-5F985DA144B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" name="Segnaposto immagine 2" descr="Segnaposto vuoto per aggiungere un'immagine. Fare clic sul segnaposto e selezionare l'immagine che si vuole aggiungere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5BFD7-91A4-478D-8FD9-9CEB30EEA1D7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521F72-A3A7-4E18-B26E-DF4DCD533BA2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83475-3B2C-4257-97FB-E5566CB3FAF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  <p:grpSp>
        <p:nvGrpSpPr>
          <p:cNvPr id="7" name="Grup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nettore dirit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dirit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5DB32F-1ED2-FCAB-A2C7-71D07EB4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C8938F-9E79-9591-9EEF-2FF908F3E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34CADF-5D4F-1A5D-3B5A-DF3A4F07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4A13-4815-4010-B719-7D16B2B9F3A1}" type="datetimeFigureOut">
              <a:rPr lang="it-IT" smtClean="0"/>
              <a:t>24/06/2026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432953-A6B9-6D44-5F15-264978F9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81BF5A-E90C-088E-896F-78100FFD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9BEA1-B17C-4638-B0EF-84F48484E1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78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  <a:p>
            <a:pPr lvl="5" rtl="0"/>
            <a:r>
              <a:rPr lang="it-IT" noProof="0"/>
              <a:t>Sesto livello</a:t>
            </a:r>
          </a:p>
          <a:p>
            <a:pPr lvl="6" rtl="0"/>
            <a:r>
              <a:rPr lang="it-IT" noProof="0"/>
              <a:t>Settimo livello</a:t>
            </a:r>
          </a:p>
          <a:p>
            <a:pPr lvl="7" rtl="0"/>
            <a:r>
              <a:rPr lang="it-IT" noProof="0"/>
              <a:t>Ottavo livello</a:t>
            </a:r>
          </a:p>
          <a:p>
            <a:pPr lvl="8" rtl="0"/>
            <a:r>
              <a:rPr lang="it-IT" noProof="0"/>
              <a:t>Nono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120D766-8702-4376-BA25-6EE9DAAC971C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it-IT" noProof="0" smtClean="0"/>
              <a:pPr/>
              <a:t>‹N›</a:t>
            </a:fld>
            <a:endParaRPr lang="it-IT" noProof="0"/>
          </a:p>
        </p:txBody>
      </p:sp>
      <p:grpSp>
        <p:nvGrpSpPr>
          <p:cNvPr id="15" name="Grup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nettore dirit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dirit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>
          <a:xfrm>
            <a:off x="0" y="2609336"/>
            <a:ext cx="4692874" cy="1906682"/>
          </a:xfrm>
        </p:spPr>
        <p:txBody>
          <a:bodyPr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  <a:t>IL COMANDANTE E IL BACINO</a:t>
            </a:r>
            <a:b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</a:b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  <a:t>Come entrare, restare e uscire senza perdere il comando (e la libertà)</a:t>
            </a:r>
            <a:br>
              <a:rPr lang="it-IT" sz="1800" dirty="0">
                <a:latin typeface="+mn-lt"/>
                <a:ea typeface="+mn-ea"/>
                <a:cs typeface="+mn-cs"/>
              </a:rPr>
            </a:br>
            <a:br>
              <a:rPr lang="it-IT" sz="1800" dirty="0">
                <a:latin typeface="+mn-lt"/>
                <a:ea typeface="+mn-ea"/>
                <a:cs typeface="+mn-cs"/>
              </a:rPr>
            </a:br>
            <a:endParaRPr lang="it-IT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>
          <a:xfrm>
            <a:off x="121237" y="4860700"/>
            <a:ext cx="4571637" cy="782110"/>
          </a:xfrm>
        </p:spPr>
        <p:txBody>
          <a:bodyPr rtlCol="0">
            <a:normAutofit fontScale="85000" lnSpcReduction="10000"/>
          </a:bodyPr>
          <a:lstStyle/>
          <a:p>
            <a:pPr marL="228600" indent="-2286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Guida operativa al rischio cantieristico</a:t>
            </a:r>
            <a:b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</a:b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Rif. SMM-PREVA-1062 Titolo VII | PSBM001A </a:t>
            </a:r>
            <a:r>
              <a:rPr lang="it-IT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 Taranto | NAV-G-001</a:t>
            </a:r>
          </a:p>
        </p:txBody>
      </p:sp>
      <p:pic>
        <p:nvPicPr>
          <p:cNvPr id="4" name="Segnaposto immagine 3" descr="Libro aperto su un tavolo, scaffali sfuocati con libri sullo sfondo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100ACC4-BFCD-CF99-8532-C27DB2C5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84" y="1310655"/>
            <a:ext cx="7435516" cy="42366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3EBD60-56AA-C9B5-B586-FA9C7FC43CEB}"/>
              </a:ext>
            </a:extLst>
          </p:cNvPr>
          <p:cNvSpPr txBox="1"/>
          <p:nvPr/>
        </p:nvSpPr>
        <p:spPr>
          <a:xfrm>
            <a:off x="7922573" y="5924939"/>
            <a:ext cx="4217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Arsenale Militare Marittimo Taranto</a:t>
            </a:r>
          </a:p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Capo Nucleo Attrezzature </a:t>
            </a:r>
          </a:p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F.T. Domenico PROTA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2A81FF4-56CE-C992-F8DD-B2EA998A3B85}"/>
              </a:ext>
            </a:extLst>
          </p:cNvPr>
          <p:cNvSpPr/>
          <p:nvPr/>
        </p:nvSpPr>
        <p:spPr>
          <a:xfrm>
            <a:off x="2734626" y="247390"/>
            <a:ext cx="50245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9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Marina Militare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081F566-69F5-87BF-BB5F-BC51B5628B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19" y="374907"/>
            <a:ext cx="1167110" cy="149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E8A4BB-EEFD-CF38-CFAD-F82D5655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Copertina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0E2527-47D1-8E74-95CB-FFD077210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5659" y="1813022"/>
            <a:ext cx="9980682" cy="1364603"/>
          </a:xfrm>
        </p:spPr>
        <p:txBody>
          <a:bodyPr>
            <a:normAutofit/>
          </a:bodyPr>
          <a:lstStyle/>
          <a:p>
            <a:pPr marR="0" lvl="0" algn="just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Gestione del Rischio Cantieristico e Responsabilità di Bordo</a:t>
            </a:r>
          </a:p>
          <a:p>
            <a:pPr marR="0" lvl="0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Guida operativa per l'ingresso, la permanenza e l'uscita dal Bacino di  Carenaggio</a:t>
            </a:r>
          </a:p>
          <a:p>
            <a:pPr marR="0" lvl="0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Rif: SMM-PREVA-1062 (Titolo VII) | PSBM001A </a:t>
            </a:r>
            <a:r>
              <a:rPr lang="it-IT" sz="1800" b="0" i="0" u="none" strike="noStrike" kern="100" baseline="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 Taranto | NAV-G-001</a:t>
            </a:r>
          </a:p>
        </p:txBody>
      </p:sp>
    </p:spTree>
    <p:extLst>
      <p:ext uri="{BB962C8B-B14F-4D97-AF65-F5344CB8AC3E}">
        <p14:creationId xmlns:p14="http://schemas.microsoft.com/office/powerpoint/2010/main" val="55470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F8FBC0-4FD6-93FD-0E8D-A4E2AA24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Obiettivi Formativi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612F67-8027-DECB-B694-9B2BF3ED5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82" y="2122715"/>
            <a:ext cx="9982200" cy="230932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Saper gestire la timeline di ingresso in bacino (T-60 → T-0)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Conoscere la rubrica telefonica e i ruoli dell'Arsenale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Delimitare il confine tra Alta Vigilanza e Ingerenza di fatto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Proteggersi legalmente in caso di infortunio di personale esterno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Zero teoria, solo operatività.</a:t>
            </a:r>
          </a:p>
        </p:txBody>
      </p:sp>
    </p:spTree>
    <p:extLst>
      <p:ext uri="{BB962C8B-B14F-4D97-AF65-F5344CB8AC3E}">
        <p14:creationId xmlns:p14="http://schemas.microsoft.com/office/powerpoint/2010/main" val="223941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477ED-1792-0A1C-2043-FD7F6C68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Agenda del Corso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FDBFDA-91DC-73D1-18C2-7A2EE738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2041071"/>
            <a:ext cx="7059387" cy="277585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1: Quadro Cogente e Responsabilità (20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1-bis: Quadro Normativo Dettagliato (15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2: La Timeline e l'Ingresso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3: In Bacino: Rubrica, Ruoli e Consegne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4: Cantiere Vivo e Interferenze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5: Emergenze, Uscita e Q&amp;A (10 min)</a:t>
            </a:r>
          </a:p>
        </p:txBody>
      </p:sp>
    </p:spTree>
    <p:extLst>
      <p:ext uri="{BB962C8B-B14F-4D97-AF65-F5344CB8AC3E}">
        <p14:creationId xmlns:p14="http://schemas.microsoft.com/office/powerpoint/2010/main" val="216127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124DA4-6264-0BCC-ECFA-BAB13AD8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Le Fonti Normative "Salva-Vita"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02366F-CDB7-617E-719A-440C3F265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82" y="1973424"/>
            <a:ext cx="9982200" cy="2346649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272/1999: Norme specifiche cantieristica navale portuale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SMM-PREVA-1062 Ed.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Gen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2024 (Titolo VII): Istruzioni operative Marina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PSBM001A: Procedura locale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Taranto (Bacini BRIN/FERRATI)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NAV-G-001 (Art. 37-43): Regole d'ingaggio nave-bacino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Queste 4 fonti sono la tua assicurazione sulla vita.</a:t>
            </a:r>
          </a:p>
        </p:txBody>
      </p:sp>
    </p:spTree>
    <p:extLst>
      <p:ext uri="{BB962C8B-B14F-4D97-AF65-F5344CB8AC3E}">
        <p14:creationId xmlns:p14="http://schemas.microsoft.com/office/powerpoint/2010/main" val="392379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056A26-EC6C-0561-975F-3DAA16F6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Ruolo del Comandante (Art. 113 SMM-PREVA-1062)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67B0EC-A2DD-5AB3-AE99-B31FBE46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31865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NON dirige i lavori, NON dà ordini agli operai privati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Esercita l'ALTA VIGILANZA sul rispetto delle norme di sicurezza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Verifica che le ditte mitigano le interferenze con il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Fornisce informazioni sui rischi specifici (DVR, RTVR)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REGOLA D'ORO: Se intervieni operativamente, diventi co-responsabile.</a:t>
            </a:r>
          </a:p>
        </p:txBody>
      </p:sp>
    </p:spTree>
    <p:extLst>
      <p:ext uri="{BB962C8B-B14F-4D97-AF65-F5344CB8AC3E}">
        <p14:creationId xmlns:p14="http://schemas.microsoft.com/office/powerpoint/2010/main" val="356918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81EB92-CC34-EAD2-454D-C9BF770F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Confine Giuridico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B81EEC-FADB-C456-2066-21BD8F497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ALTA VIGILANZA (Dovere): Designare Preposti, fornire DVR, interrompere solo per grave pericolo (Art. 113 c.8)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INGERENZA (Errore): Dire all'operaio "come" fare, spostare attrezzature, dare ordini diretti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Vigila, non sostituire. Il confine è la delega formale.</a:t>
            </a:r>
          </a:p>
        </p:txBody>
      </p:sp>
    </p:spTree>
    <p:extLst>
      <p:ext uri="{BB962C8B-B14F-4D97-AF65-F5344CB8AC3E}">
        <p14:creationId xmlns:p14="http://schemas.microsoft.com/office/powerpoint/2010/main" val="215711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33476-9612-D4EF-F175-BB03E3B4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Catena di Comando delle Ditte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22190F5-A1D8-32FE-525E-7680EA07B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365310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Le ditte rispondono all'IMPRESA CAPO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COMMessa</a:t>
            </a:r>
            <a:endParaRPr lang="it-IT" sz="1800" kern="100" dirty="0">
              <a:solidFill>
                <a:srgbClr val="0F4761"/>
              </a:solidFill>
              <a:latin typeface="Sitka Text Semibold" pitchFamily="2" charset="0"/>
            </a:endParaRP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referente è l'R.T.L. (Responsabile Tecnico dei Lavori)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si interfaccia con RTL/Preposto, MAI con l'operaio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 l'impresa sbaglia → responsabile è il RTL/Datore di lavoro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Mai dare ordini diretti: chiama il RTL.</a:t>
            </a:r>
          </a:p>
        </p:txBody>
      </p:sp>
    </p:spTree>
    <p:extLst>
      <p:ext uri="{BB962C8B-B14F-4D97-AF65-F5344CB8AC3E}">
        <p14:creationId xmlns:p14="http://schemas.microsoft.com/office/powerpoint/2010/main" val="229391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92CD8E-BA07-6D79-ED39-C0C9DC2A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 Documenti del Comandante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96919E-57D2-373A-8892-39F079B4F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880118"/>
            <a:ext cx="9982200" cy="2113384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DVR (Documento Valutazione Rischi): la bibbia del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endParaRPr lang="it-IT" sz="1800" kern="100" dirty="0">
              <a:solidFill>
                <a:srgbClr val="0F4761"/>
              </a:solidFill>
              <a:latin typeface="Sitka Text Semibold" pitchFamily="2" charset="0"/>
            </a:endParaRP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RTVR (Relazione Tecnica Valutazione Rischi): viaggia con la nave, descrive rischi strutturali e confinati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FORNISCE questi documenti alle ditte per POS/DUVRI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Senza RTVR aggiornata, le ditte lavorano "alla cieca".</a:t>
            </a:r>
          </a:p>
        </p:txBody>
      </p:sp>
    </p:spTree>
    <p:extLst>
      <p:ext uri="{BB962C8B-B14F-4D97-AF65-F5344CB8AC3E}">
        <p14:creationId xmlns:p14="http://schemas.microsoft.com/office/powerpoint/2010/main" val="65385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88F41C-2254-05FB-50C3-F3EEFCAD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Scenario 1: Singola Ditta non Interferente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E6CBEE-944A-1BFD-D7EA-2B9128BA2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 a bordo opera una singola impresa o più imprese non interferenti, il coordinamento spetta al Comando di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fornisce informazioni dettagliate sui rischi specifici della nave per la stesura del DUVRI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redige un verbale di coordinamento della sicurezza prima dell'intervento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Singola ditta = Coordinamento diretto in Plancia.</a:t>
            </a:r>
          </a:p>
        </p:txBody>
      </p:sp>
    </p:spTree>
    <p:extLst>
      <p:ext uri="{BB962C8B-B14F-4D97-AF65-F5344CB8AC3E}">
        <p14:creationId xmlns:p14="http://schemas.microsoft.com/office/powerpoint/2010/main" val="2723148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B94800-C368-F208-6938-D904980A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Scenario 2: Lavori Complessi e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E204C4-2DFD-1055-84CB-EC0D8500F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caso di sosta lavori o lavorazioni interferenti, l'Ente responsabile individua un'Impresa Capo Commessa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L'Impresa nomina un Responsabile Tecnico dei Lavori (RTL) a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L'RTL coordina le interferenze e verifica il rispetto del Documento di Sicurezza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Più ditte = l'RTL è il tuo interlocutore unico.</a:t>
            </a:r>
          </a:p>
        </p:txBody>
      </p:sp>
    </p:spTree>
    <p:extLst>
      <p:ext uri="{BB962C8B-B14F-4D97-AF65-F5344CB8AC3E}">
        <p14:creationId xmlns:p14="http://schemas.microsoft.com/office/powerpoint/2010/main" val="3091603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F5C6AC-6516-7EFC-0B3B-AA873C94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Triangolo Normativo: Quale Norma Si Applica a Bordo?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7633AB-D97A-6B3A-F659-4627243C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523931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Art. 26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81/08: DUVRI o Documento Informativo (1 ditta o interferenze minime)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Titolo IV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81/08: CSE e PSC (cantieri civili a terra, non a bordo nave)</a:t>
            </a:r>
          </a:p>
          <a:p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272/1999 + Art. 116 SMM-PREVA-1062: RTL e Documento di Sicurezza (lavori a bordo nave, bacino, sosta lavori)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norma civile (81/08) viene "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navalizzata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 dal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per le unità navali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bordo nave,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prevale sempre sul Titolo IV del TUSL.</a:t>
            </a:r>
          </a:p>
        </p:txBody>
      </p:sp>
    </p:spTree>
    <p:extLst>
      <p:ext uri="{BB962C8B-B14F-4D97-AF65-F5344CB8AC3E}">
        <p14:creationId xmlns:p14="http://schemas.microsoft.com/office/powerpoint/2010/main" val="88231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C62147-ACB2-5EEB-14AB-36017805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DUVRI vs Documento Informativo: Le Differenze Chiave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866FF1-0892-0F08-6152-2EF942C65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DUVRI (Art. 26 comma 3 TUSL): valuta i rischi DA INTERFERENZA tra più ditte o tra ditte e bordo. Obbligatorio quando ci sono sovrapposizioni operative.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Documento Informativo (Art. 26 comma 3-bis TUSL): sostituisce il DUVRI quando i lavori durano meno di 2 giorni-uomo OPPURE quando non ci sono rischi di interferenza significativi.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Entrambi devono essere firmati prima dell'inizio lavori e allegati al contratto.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Meno di 2 giorni e nessuna interferenza = Documento Informativo. Altrimenti = DUVRI obbligatorio.</a:t>
            </a:r>
          </a:p>
        </p:txBody>
      </p:sp>
    </p:spTree>
    <p:extLst>
      <p:ext uri="{BB962C8B-B14F-4D97-AF65-F5344CB8AC3E}">
        <p14:creationId xmlns:p14="http://schemas.microsoft.com/office/powerpoint/2010/main" val="337777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8F4ABB-ACD9-BFE9-075D-F1828CD7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Quando è Obbligatorio il DUVRI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E6BE15-7F9C-1261-AED5-B6F4314E3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1: Presenza di più imprese esecutrici che operano contemporaneamente o in sequenza nello stesso ambiente di lavoro.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2: Interferenza tra le attività delle ditte esterne e le attività del personale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3: Lavori che introducono nuovi rischi nell'ambiente di lavoro (polveri, rumore, sostanze chimiche).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DUVRI deve essere redatto dalla Stazione Appaltante prima dell'inizio lavori.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Più ditte + stesso spazio = DUVRI obbligatorio. Punto.</a:t>
            </a:r>
          </a:p>
        </p:txBody>
      </p:sp>
    </p:spTree>
    <p:extLst>
      <p:ext uri="{BB962C8B-B14F-4D97-AF65-F5344CB8AC3E}">
        <p14:creationId xmlns:p14="http://schemas.microsoft.com/office/powerpoint/2010/main" val="4134232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5D21F-21F9-041B-CEBE-3688E427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Quando Basta il Documento Informativo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00341D-ED81-E971-14C4-26FEFEB51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Durata inferiore a 2 giorni-uomo: lavori estemporanei e rapidi (es. riparazione lampada, sostituzione filtro).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Nessuna interferenza: la ditta lavora in area isolata, senza sovrapposizione con altre ditte o con il personale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Mera fornitura: consegna materiali senza posa in opera o installazione.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Servizi intellettuali: consulenze, perizie, ispezioni visive senza attività operative.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Meno di 2 giorni e zero interferenze = Documento Informativo sufficiente.</a:t>
            </a:r>
          </a:p>
        </p:txBody>
      </p:sp>
    </p:spTree>
    <p:extLst>
      <p:ext uri="{BB962C8B-B14F-4D97-AF65-F5344CB8AC3E}">
        <p14:creationId xmlns:p14="http://schemas.microsoft.com/office/powerpoint/2010/main" val="1170884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75F038-8B7B-9F5D-6DEE-214CBDFC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Titolo IV </a:t>
            </a:r>
            <a:r>
              <a:rPr lang="it-IT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D.Lgs.</a:t>
            </a:r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81/08: Quando Scatta il CSE e il PSC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6D8C34-E622-3FF1-4388-3F8C0FD8D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applica quando: allestimento di un cantiere temporaneo o mobile (es. ponteggi esterni, lavori edili strutturali, scavi).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CSE Obbligatorio: Coordinatore per la Sicurezza in fase di Esecuzione, nominato dal Committente.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PSC Obbligatorio: Piano di Sicurezza e Coordinamento, redatto dal CSP/CSE prima dell'inizio lavori.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NOTA CRITICA: A bordo nave, il Titolo IV SI APPLICA SOLO se il cantiere è ALLESTITO A TERRA o in area esterna alla nave.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Cantiere a terra = Titolo IV con CSE e PSC. A bordo nave =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272/99.</a:t>
            </a:r>
          </a:p>
        </p:txBody>
      </p:sp>
    </p:spTree>
    <p:extLst>
      <p:ext uri="{BB962C8B-B14F-4D97-AF65-F5344CB8AC3E}">
        <p14:creationId xmlns:p14="http://schemas.microsoft.com/office/powerpoint/2010/main" val="2743280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59464F-60A7-65AE-32FF-4404F1DD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D.Lgs.</a:t>
            </a:r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272/1999: La Norma Speciale per le Navi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676651-45BD-4DBD-EA5E-E9F18F44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Ambito di applicazione: operazioni di manutenzione, riparazione e trasformazione delle NAVI in ambito portuale.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Sostituisce il Titolo IV: per i lavori A BORDO delle unità navali, il 272/99 prevale sul Titolo IV del TUSL.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Figura chiave: non CSE ma RTL (Responsabile Tecnico dei Lavori) dell'Impresa Capo Commessa.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Documento: non PSC ma Documento di Sicurezza (Art. 116 SMM-PREVA-1062).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Lavori a </a:t>
            </a:r>
            <a:r>
              <a:rPr lang="it-IT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bordo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nave =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con RTL e Documento di Sicurezza.</a:t>
            </a:r>
          </a:p>
        </p:txBody>
      </p:sp>
    </p:spTree>
    <p:extLst>
      <p:ext uri="{BB962C8B-B14F-4D97-AF65-F5344CB8AC3E}">
        <p14:creationId xmlns:p14="http://schemas.microsoft.com/office/powerpoint/2010/main" val="389214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01213-381C-2B5D-1F04-DCF6ABC1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Tabella Comparativa: Titolo IV vs D.Lgs. 272/1999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49ECEC-0CE5-5FEF-1A3F-4508868B1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Ambito: Titolo IV = Cantieri temporanei a terra | 272/99 = Manutenzione/riparazione NAVI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Figura Coordinamento: Titolo IV = CSE | 272/99 = RTL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Documento: Titolo IV = PSC | 272/99 = Documento di Sicurezza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Nomina: Titolo IV = Dal Committente | 272/99 = Dall'Impresa Capo Commessa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Applicazione a Bordo: Titolo IV = NO (solo se cantiere a terra) | 272/99 = SI (prevale sempre)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A bordo nave, il 272/99 sostituisce il Titolo IV. CSE diventa RTL, PSC diventa Documento di Sicurezza.</a:t>
            </a:r>
          </a:p>
        </p:txBody>
      </p:sp>
    </p:spTree>
    <p:extLst>
      <p:ext uri="{BB962C8B-B14F-4D97-AF65-F5344CB8AC3E}">
        <p14:creationId xmlns:p14="http://schemas.microsoft.com/office/powerpoint/2010/main" val="3374252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B614D-B3D4-0948-5453-CA6D615F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Chi Redige Cosa: La Matrice Decisionale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1A48F-657D-7E29-2F32-D7DD12C97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&lt; 2 giorni, nessuna interferenza → Documento Informativo (a cura della Ditta)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&gt; 2 giorni O con interferenze → DUVRI (a cura del Committente/Stazione Appaltante)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Cantiere a terra (ponteggi, edili) → PSC (a cura del CSP/CSE nominato dal Committente)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a bordo nave (sosta lavori, bacino) → Documento di Sicurezza (a cura dell'RTL dell'Impresa Capo Commessa)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 regola è: a bordo nave = Documento di Sicurezza con RTL. A terra = Titolo IV con CSE.</a:t>
            </a:r>
          </a:p>
        </p:txBody>
      </p:sp>
    </p:spTree>
    <p:extLst>
      <p:ext uri="{BB962C8B-B14F-4D97-AF65-F5344CB8AC3E}">
        <p14:creationId xmlns:p14="http://schemas.microsoft.com/office/powerpoint/2010/main" val="4031803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F5919-06C9-097A-4981-B2CECEB6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Documento di Sicurezza (Art. 116): Contenuti Obbligatori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7DEA70-7BA3-6DF1-ABAC-A6D0E9933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Cronoprogramma: fasi di lavoro, durata, numero operatori per fase.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Analisi Rischi Interferenziali: rischi che nascono dalla sovrapposizione delle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Misure di Prevenzione: DPI specifici, procedure operative, dispositivi di protezione collettiva.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Gestione Emergenze: piano di evacuazione, primo soccorso, antincendio coordinato con il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Firme: deve essere controfirmato da TUTTI i datori di lavoro delle ditte che operano a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Senza Documento di Sicurezza firmato da tutte le ditte = STOP immediato ai lavori.</a:t>
            </a:r>
          </a:p>
        </p:txBody>
      </p:sp>
    </p:spTree>
    <p:extLst>
      <p:ext uri="{BB962C8B-B14F-4D97-AF65-F5344CB8AC3E}">
        <p14:creationId xmlns:p14="http://schemas.microsoft.com/office/powerpoint/2010/main" val="1274550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B0B35-DD92-BDC8-67A4-6CE5506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Errori Comuni da Evitare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5CD79E-D0F4-E1DB-D2B1-D464654DD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1: Pensare che il DUVRI sostituisca il POS della ditta. NO: il POS è interno alla ditta, il DUVRI valuta le interferenze.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2: Applicare il Titolo IV (CSE/PSC) ai lavori a bordo nave. NO: a bordo si applica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3: Far redigere il Documento di Sicurezza al Comando di Bordo. NO: lo redige l'RTL dell'Impresa Capo Commessa.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4: Iniziare i lavori senza aver firmato il DUVRI/Documento Informativo. NO: è illegale.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Documentazione incompleta o errata = Responsabilità penale del Comandante.</a:t>
            </a:r>
          </a:p>
        </p:txBody>
      </p:sp>
    </p:spTree>
    <p:extLst>
      <p:ext uri="{BB962C8B-B14F-4D97-AF65-F5344CB8AC3E}">
        <p14:creationId xmlns:p14="http://schemas.microsoft.com/office/powerpoint/2010/main" val="1185572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C29E5-7A2F-CB78-574B-1CA08F9D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T-60 Giorni: La Richiesta Ufficiale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741358-A4C5-8E98-FE1B-2C3C21BF1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L'Ufficio di Programma inoltra la richiesta di ingresso al Nucleo Bacini almeno 2 mesi prima.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Sezione Bacini valuta tempi, risorse e materiali necessari per il piano di posa.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Viene definita e stimata la data presunta di ingresso in bacino.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tempismo è la prima barriera di sicurezza.</a:t>
            </a:r>
          </a:p>
        </p:txBody>
      </p:sp>
    </p:spTree>
    <p:extLst>
      <p:ext uri="{BB962C8B-B14F-4D97-AF65-F5344CB8AC3E}">
        <p14:creationId xmlns:p14="http://schemas.microsoft.com/office/powerpoint/2010/main" val="1955137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49173C-A55B-6963-CCB0-D7CFE2DC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T-30 Giorni: Il Piano di Posa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12EDDB-8407-1629-0448-0FA52E43A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Fornire i disegni del piano nominale delle taccate (viste laterali, pianta, sezioni) al Nucleo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Segnalare ogni anomalia strutturale ed eventuali sporgenze fisse sotto la chiglia.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Sulla base dei disegni l'Arsenale elabora la messa a secco e comunica la data esatta.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4.2 e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L'omissione di sporgenze distrugge le taccate.</a:t>
            </a:r>
          </a:p>
        </p:txBody>
      </p:sp>
    </p:spTree>
    <p:extLst>
      <p:ext uri="{BB962C8B-B14F-4D97-AF65-F5344CB8AC3E}">
        <p14:creationId xmlns:p14="http://schemas.microsoft.com/office/powerpoint/2010/main" val="3911666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CBA202-14D2-FD96-AF1C-0D82C60A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T-15 Giorni: Valutazione Assetti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97A6EA-243F-134F-EDDD-FBDE8BD7B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Direttore di Macchina (o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Piattaforma) deve concordare l'assetto preventivo con il Nucleo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L'obiettivo vitale è regolare la nave per rendere minima la rotazione in fase di appoggio.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Informare su esatta posizione carichi liquidi e mobili rimasti a bordo.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4.3 e 5.1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Un buon assetto previene crolli e cedimenti.</a:t>
            </a:r>
          </a:p>
        </p:txBody>
      </p:sp>
    </p:spTree>
    <p:extLst>
      <p:ext uri="{BB962C8B-B14F-4D97-AF65-F5344CB8AC3E}">
        <p14:creationId xmlns:p14="http://schemas.microsoft.com/office/powerpoint/2010/main" val="178611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01BD-989C-850B-755F-D7E8D141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T-7 Giorni: Riunione Propedeutica Obbligatoria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4CAB16-E45E-2D27-1339-310810E09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tiene una settimana prima della manovra con Ufficio Programma, Bordo, Sez. Bacini e MARISTANAV.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Vengono definiti ruoli, comandate e logistica per l'apertura del ponte e tonneggi.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Possibilità di un ulteriore incontro di dettaglio (T-2 o T-1) prima della manovra.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Azione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: Presenziare o delegare Ufficiale con potere decisionale.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T-7 non devono esserci più "non lo so".</a:t>
            </a:r>
          </a:p>
        </p:txBody>
      </p:sp>
    </p:spTree>
    <p:extLst>
      <p:ext uri="{BB962C8B-B14F-4D97-AF65-F5344CB8AC3E}">
        <p14:creationId xmlns:p14="http://schemas.microsoft.com/office/powerpoint/2010/main" val="2811312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76D547-2A46-F27F-2A87-C854B0D5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Lo Sbarco Pesi (NAV-G-001)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35671F4-7BEA-9E2E-C305-74A808D37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Sbarco obbligatorio delle munizioni e dei materiali esplosivi.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Sbarco dei combustibili (secondo limiti stabiliti).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Rizzaggio stringente di tutti i materiali mobili sui ponti (es. trincarini).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Nave leggera e vuota, bacino sicuro.</a:t>
            </a:r>
          </a:p>
        </p:txBody>
      </p:sp>
    </p:spTree>
    <p:extLst>
      <p:ext uri="{BB962C8B-B14F-4D97-AF65-F5344CB8AC3E}">
        <p14:creationId xmlns:p14="http://schemas.microsoft.com/office/powerpoint/2010/main" val="282708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7AD8AB-A9E1-FA8E-053E-610DBCDD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Sentine e Portelleria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52BCBA-D558-B49A-AD03-05C5A95E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Effettuare il prosciugamento totale di tutte le sentine di bordo prima dell'ingresso.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Sigillare e chiudere tutta la portelleria esterna fino all'avvenuta messa a secco.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Evitare categoricamente che travasi accidentali alterino il bilanciamento.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4.3 e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Sigilla la nave contro ogni allagamento o sbilanciamento accidentale.</a:t>
            </a:r>
          </a:p>
        </p:txBody>
      </p:sp>
    </p:spTree>
    <p:extLst>
      <p:ext uri="{BB962C8B-B14F-4D97-AF65-F5344CB8AC3E}">
        <p14:creationId xmlns:p14="http://schemas.microsoft.com/office/powerpoint/2010/main" val="1656940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9D4500-ADC8-04F6-62A8-591136802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Certificazione Gas-Free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CF753B-0FAA-2483-80BB-34BD96B1F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Eseguire pulizia e gas-free dei depositi nafta prima dell'ingresso.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Procedura vitale qualora si debbano eseguire lavori con fiamme libere in prossimità.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assenza, è vietata qualsiasi autorizzazione per operazioni "a caldo".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Nessun certificato Gas-Free = Nessuna fiamma libera autorizzata.</a:t>
            </a:r>
          </a:p>
        </p:txBody>
      </p:sp>
    </p:spTree>
    <p:extLst>
      <p:ext uri="{BB962C8B-B14F-4D97-AF65-F5344CB8AC3E}">
        <p14:creationId xmlns:p14="http://schemas.microsoft.com/office/powerpoint/2010/main" val="1075739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42B59D-E40E-02C0-FC0C-75638C64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Gestione Mezzi di Supporto Esterni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F6570B-C9D5-EDE6-9C10-4AB8C3AD2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gestisce direttamente la messaggistica per i rimorchiatori e mezzi di supporto MARISTANAV.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Richiedere la comandata di terra necessaria per i tonneggi da banchina.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 rimorchiatore supererà mai l'imboccatura del bacino.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4.2 e 4.4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 forza motrice esterna si ferma alla porta del bacino.</a:t>
            </a:r>
          </a:p>
        </p:txBody>
      </p:sp>
    </p:spTree>
    <p:extLst>
      <p:ext uri="{BB962C8B-B14F-4D97-AF65-F5344CB8AC3E}">
        <p14:creationId xmlns:p14="http://schemas.microsoft.com/office/powerpoint/2010/main" val="3129959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EAD6E-160F-5B17-FD86-C09861A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Check-List Operativa (PSBM001A.A01)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BB7ACB-4521-9E4D-FF0C-5E9A386A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L'ingresso è vincolato alla Check-List di 27 Step ufficiali dell'Arsenale.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Include l'approntamento e i test su pompe, argani e pulizia platea prima di aprire.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Bordo spunta i passi autorizzativi (assetto, portelleria) insieme al Capo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Allegato 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Usa la Check-List: è il tuo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logbook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legale in caso di incidenti.</a:t>
            </a:r>
          </a:p>
        </p:txBody>
      </p:sp>
    </p:spTree>
    <p:extLst>
      <p:ext uri="{BB962C8B-B14F-4D97-AF65-F5344CB8AC3E}">
        <p14:creationId xmlns:p14="http://schemas.microsoft.com/office/powerpoint/2010/main" val="3786306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7CA37F-5F24-9B55-E11A-D8495644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Verifica Infrastrutturale del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F6E39A-33C1-C7A9-4CC5-C12050CC6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Prima di autorizzare l'ingresso, l'Arsenale verifica le pompe antincendio e di prosciugamento.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Ispezione della platea per garantire assenza di ingombri.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accerta indirettamente che il sito sia recettivo e sicuro.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Allegato 1, Step 7-8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Non forzare l'ingresso se l'impianto a terra ha deficienze.</a:t>
            </a:r>
          </a:p>
        </p:txBody>
      </p:sp>
    </p:spTree>
    <p:extLst>
      <p:ext uri="{BB962C8B-B14F-4D97-AF65-F5344CB8AC3E}">
        <p14:creationId xmlns:p14="http://schemas.microsoft.com/office/powerpoint/2010/main" val="256445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FF27AF-E153-98E8-A90F-3AEEE3A5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Briefing di Sicurezza per l'Equipaggio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D249EB-48BF-C723-74C8-5052D4ED9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Definire chiaramente i ruoli di manovra a bordo e comunicazioni.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Distribuire correttamente i DPI: elmetto, scarpe antinfortunistiche, alta visibilità.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Garantire uso di guanti contro rischi meccanici per la gestione dei cavi.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4.4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Nessuno sul ponte senza DPI completi durante l'ingresso.</a:t>
            </a:r>
          </a:p>
        </p:txBody>
      </p:sp>
    </p:spTree>
    <p:extLst>
      <p:ext uri="{BB962C8B-B14F-4D97-AF65-F5344CB8AC3E}">
        <p14:creationId xmlns:p14="http://schemas.microsoft.com/office/powerpoint/2010/main" val="2793755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82EAE-1988-AD30-7B87-2502BCD1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Comunicazioni durante l'Avvicinamento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999C4D-7EA4-24E0-D448-E920D89C3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Stabilire un canale VHF prioritario per coordinarsi con il personale del Nucleo Bacini.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Mantenere il silenzio radio sulle reti di manovra non essenziali.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Qualsiasi anomalia va comunicata all'istante bloccando l'allineamento.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1 e Par. 5.2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Unico canale, ordini inequivocabili.</a:t>
            </a:r>
          </a:p>
        </p:txBody>
      </p:sp>
    </p:spTree>
    <p:extLst>
      <p:ext uri="{BB962C8B-B14F-4D97-AF65-F5344CB8AC3E}">
        <p14:creationId xmlns:p14="http://schemas.microsoft.com/office/powerpoint/2010/main" val="272855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AC193F-D748-A1F7-7F24-220A957D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Imboccatura: Vietate le Eliche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6ABDD4-CDFE-BB4F-F00B-12F710496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Imboccata la porta, è severamente vietato fare uso delle eliche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L'avanzamento avviene unicamente lavorando con i tonneggi e gli argani.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Comandante ordina il tiro sui cavi, senza ausilio di mezzi esterni.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4.4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Spento l'asse, inizia la trazione manuale.</a:t>
            </a:r>
          </a:p>
        </p:txBody>
      </p:sp>
    </p:spTree>
    <p:extLst>
      <p:ext uri="{BB962C8B-B14F-4D97-AF65-F5344CB8AC3E}">
        <p14:creationId xmlns:p14="http://schemas.microsoft.com/office/powerpoint/2010/main" val="385958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D7C99-9265-48AC-6EA3-2E964798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A: Comando in Galleggiamento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CC2917-3278-EDAE-929F-38ACF62EA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Finché la nave è in galleggiamento sui propri cavi, Comando e Controllo restano del Comandante.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responsabilità civile e penale per impatti e danni è a carico del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L'unità si posiziona seguendo i traguardi ottici posti a terra dal Nucleo Bacini.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Se l'acqua la sostiene, sei tu che decidi.</a:t>
            </a:r>
          </a:p>
        </p:txBody>
      </p:sp>
    </p:spTree>
    <p:extLst>
      <p:ext uri="{BB962C8B-B14F-4D97-AF65-F5344CB8AC3E}">
        <p14:creationId xmlns:p14="http://schemas.microsoft.com/office/powerpoint/2010/main" val="3167692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F804F8-5900-4DCD-659E-D0DB43A8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B: Predisposizione Centratura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6631D1-60CD-F760-3842-5B968E496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Stop al prosciugamento a circa 2 metri dal piano di posa.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L'Arsenale installa i paranchi di centratura sugli argani a terra.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L'equipaggio collega l'altro lato dei paranchi alle bitte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 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1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I paranchi sono la linea di demarcazione delle responsabilità.</a:t>
            </a:r>
          </a:p>
        </p:txBody>
      </p:sp>
    </p:spTree>
    <p:extLst>
      <p:ext uri="{BB962C8B-B14F-4D97-AF65-F5344CB8AC3E}">
        <p14:creationId xmlns:p14="http://schemas.microsoft.com/office/powerpoint/2010/main" val="2265115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374381-601E-C6AC-EDB0-8369A25C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C: Il Passaggio di Comando (MOMENTO CRITICO)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839839-E4C2-9987-A124-79F5737D3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Momento cruciale: il Capo Nucleo chiama il Comandante via VHF.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Dichiara formalmente il passaggio della Responsabilità, Comando e Controllo all'Arsenale.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Da questo istante in poi, ogni ordine per la messa a secco è dell'Arsenale.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Pretendi chiarezza assoluta via radio. Questo istante vale un processo.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passaggio di comando avviene via VHF. Registralo.</a:t>
            </a:r>
          </a:p>
        </p:txBody>
      </p:sp>
    </p:spTree>
    <p:extLst>
      <p:ext uri="{BB962C8B-B14F-4D97-AF65-F5344CB8AC3E}">
        <p14:creationId xmlns:p14="http://schemas.microsoft.com/office/powerpoint/2010/main" val="3345082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6C9984-EDDF-1066-7536-C318A55B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Discesa e Ispezione Palombari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1537D4-F04C-4341-07E8-BF841E343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nave viene posta in condizione di black-out elettrico.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Nucleo SDAI o palombari si immerge per l'ispezione della centratura, paglietto e gargame.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Ripresa del prosciugamento fino all'incaglio strutturale (appoggio e schiacciamento).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bordo nessuno si muove finché l'appoggio non è definitivo.</a:t>
            </a:r>
          </a:p>
        </p:txBody>
      </p:sp>
    </p:spTree>
    <p:extLst>
      <p:ext uri="{BB962C8B-B14F-4D97-AF65-F5344CB8AC3E}">
        <p14:creationId xmlns:p14="http://schemas.microsoft.com/office/powerpoint/2010/main" val="4080203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0B8AC-8140-6A52-E121-0C8D6A18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Vietato Spostare Pesi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E0680B-941F-3707-7211-DF1D6BE00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 la nave a secco, è vietato svuotare/riempire casse, zavorre o caldaie.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Qualsiasi spostamento pesi non concordato compromette l'equilibrio trasversale della nave.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Autorizzazioni in deroga solo dopo approvazione scritta della Direzione Arsenale.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nave è in bilico. Una cassa vuotata può ribaltarla.</a:t>
            </a:r>
          </a:p>
        </p:txBody>
      </p:sp>
    </p:spTree>
    <p:extLst>
      <p:ext uri="{BB962C8B-B14F-4D97-AF65-F5344CB8AC3E}">
        <p14:creationId xmlns:p14="http://schemas.microsoft.com/office/powerpoint/2010/main" val="797081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9ED40C-6546-DB75-7D2C-4061A0D3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Messa a Terra dello Scafo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328D48-2FFD-4622-274B-41B130A51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accerta immediatamente il collegamento di messa a terra.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cavo, fornito dall'Arsenale, deve avere un solido contatto metallico tra lo scafo e il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Essenziale per autorizzare le ditte all'inizio delle saldature e per evitare folgorazioni.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Niente massa a terra = Nessun cavo elettrico sotto tensione.</a:t>
            </a:r>
          </a:p>
        </p:txBody>
      </p:sp>
    </p:spTree>
    <p:extLst>
      <p:ext uri="{BB962C8B-B14F-4D97-AF65-F5344CB8AC3E}">
        <p14:creationId xmlns:p14="http://schemas.microsoft.com/office/powerpoint/2010/main" val="4037968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090F00-8193-D55A-89DD-0F4A10AA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Installazione delle Passerelle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1782BF-C066-1C12-5E83-2F00FB081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Le passerelle vanno assicurate con robuste legature di cavo a bordo e a terra.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Fissare cartello con divieto: no affollamento, stazionamento, transito a passo cadenzato.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Obbligo per il personale in transito di mantenersi a un metro di distanza.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Le passerelle sono vie di transito, mai zone di sosta.</a:t>
            </a:r>
          </a:p>
        </p:txBody>
      </p:sp>
    </p:spTree>
    <p:extLst>
      <p:ext uri="{BB962C8B-B14F-4D97-AF65-F5344CB8AC3E}">
        <p14:creationId xmlns:p14="http://schemas.microsoft.com/office/powerpoint/2010/main" val="2107900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956A91-3344-BCD4-1576-E752A515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Ripristino Servizi Vitali di Bordo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FE1908-05AB-AC03-65D8-6EE46855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Passaggio dei cavi di alimentazione di terra e fine del black-out.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Collegamento utenze antincendio e circuito acqua dolce.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Messa in rete dei sistemi di segnalazione e illuminazione essenziali.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All. 1, Step 24-25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Ridare "energia" alla nave con le cautele del caso.</a:t>
            </a:r>
          </a:p>
        </p:txBody>
      </p:sp>
    </p:spTree>
    <p:extLst>
      <p:ext uri="{BB962C8B-B14F-4D97-AF65-F5344CB8AC3E}">
        <p14:creationId xmlns:p14="http://schemas.microsoft.com/office/powerpoint/2010/main" val="3410135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3FB369-01CE-0570-A5EA-1DE57698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Servizio di Sentinella (Bacino)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95D59B-F7B5-8C71-3961-316DA058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Stabilire un servizio di sentinella di bordo rivolto verso la porta del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Impedire stazionamenti di curiosi o depositi di cantiere sopra di essa.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Prevenire assolutamente manomissioni volontarie/involontarie alle valvole.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porta del bacino è una barriera vitale: blindala.</a:t>
            </a:r>
          </a:p>
        </p:txBody>
      </p:sp>
    </p:spTree>
    <p:extLst>
      <p:ext uri="{BB962C8B-B14F-4D97-AF65-F5344CB8AC3E}">
        <p14:creationId xmlns:p14="http://schemas.microsoft.com/office/powerpoint/2010/main" val="2459033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4DC29-E4BC-F73A-25FB-2E3A518F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Manovra di Uscita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9B2989-FA7D-573A-42B0-8F13F2C4E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Controllare che casse, assetti e portellerie siano nello stato previsto per galleggiare.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Assicurarsi del termine di tutti i lavori che interessavano l'opera viva.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responsabilità, il Comando e Controllo tornano alla Nave nel momento in cui va in galleggiamento.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L'acqua che sale restituisce il comando.</a:t>
            </a:r>
          </a:p>
        </p:txBody>
      </p:sp>
    </p:spTree>
    <p:extLst>
      <p:ext uri="{BB962C8B-B14F-4D97-AF65-F5344CB8AC3E}">
        <p14:creationId xmlns:p14="http://schemas.microsoft.com/office/powerpoint/2010/main" val="409993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ADBF0-D9A4-7C63-2BF8-1DEFA4D8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Verifica Sbandamento in Uscita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8033E4-779E-DA5C-E3FF-F25566767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Attenzione estrema alla fase in cui la nave si stacca dalle taccate.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Controllare assetto trasversale e longitudinale immediato.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Comunicare su rete VHF e iniziare uscita solo con motori spenti.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 e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Se la nave pende, ferma tutto e richiama il prosciugamento.</a:t>
            </a:r>
          </a:p>
        </p:txBody>
      </p:sp>
    </p:spTree>
    <p:extLst>
      <p:ext uri="{BB962C8B-B14F-4D97-AF65-F5344CB8AC3E}">
        <p14:creationId xmlns:p14="http://schemas.microsoft.com/office/powerpoint/2010/main" val="3199706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40566-4556-A1C6-0DD0-ECC721BE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Verbale di Passaggio Consegne (PSBM001A.A02)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DD9F50-B431-E5C3-BBD4-3161EC0E9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formale tra Bacino e Unità redatto prima dell'avvio lavorazioni.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Delega poteri e formalizza uso impianti (Antincendio, Elettrico).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Viene controfirmato da Comandante, Capo Bacini, Ditte ed Ufficio Programma.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È la tua "Dichiarazione di Indipendenza" contrattuale nel bacino.</a:t>
            </a:r>
          </a:p>
        </p:txBody>
      </p:sp>
    </p:spTree>
    <p:extLst>
      <p:ext uri="{BB962C8B-B14F-4D97-AF65-F5344CB8AC3E}">
        <p14:creationId xmlns:p14="http://schemas.microsoft.com/office/powerpoint/2010/main" val="2209377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B7D-EEB6-D289-1E18-AF449AC4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Cessione della Rete Antincendio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4CB025-B25A-D4A0-A692-B8A862298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L'impianto fisso A.I. del bacino viene formalmente ceduto all'uso del personale di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personale SAP deve essere addestrato dall'Arsenale e indossare cuffie antirumore.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Annotare giornalmente su registro le ore di funzionamento delle pompe e le pressioni erogate (Atm).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5.4.3 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L'impianto è a terra, ma ad azionarlo in emergenza sarai tu.</a:t>
            </a:r>
          </a:p>
        </p:txBody>
      </p:sp>
    </p:spTree>
    <p:extLst>
      <p:ext uri="{BB962C8B-B14F-4D97-AF65-F5344CB8AC3E}">
        <p14:creationId xmlns:p14="http://schemas.microsoft.com/office/powerpoint/2010/main" val="3894406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11EE7A-F2BD-40F9-2906-993DFFB4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Barriera Acque di Processo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57A652-EFA0-1A5C-C7AA-76DF51E1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Comando Bordo vigila sul posizionamento della barriera ecologica nella platea.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Separa i pozzetti di prosciugamento dall'area in cui si producono acque di lavorazione (cantiere).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Evita denunce ambientali per contaminazione mare.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4.6.1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platea non è un tombino industriale.</a:t>
            </a:r>
          </a:p>
        </p:txBody>
      </p:sp>
    </p:spTree>
    <p:extLst>
      <p:ext uri="{BB962C8B-B14F-4D97-AF65-F5344CB8AC3E}">
        <p14:creationId xmlns:p14="http://schemas.microsoft.com/office/powerpoint/2010/main" val="21680898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CFED3-2F0D-3C36-9A12-1AF378CB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Smaltimento Rifiuti di Cantiere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E9DF40-49D6-3428-928E-D12A94B74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Responsabilità in capo a Ufficio Programma e Comando supervisionare 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 residui delle sabbiature, pitturazioni e vernici non devono accumularsi.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Applicazione severa del divieto di abbandono rifiuti in platea o banchina.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5.4.2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Un cantiere sporco è un cantiere pericoloso e illegale.</a:t>
            </a:r>
          </a:p>
        </p:txBody>
      </p:sp>
    </p:spTree>
    <p:extLst>
      <p:ext uri="{BB962C8B-B14F-4D97-AF65-F5344CB8AC3E}">
        <p14:creationId xmlns:p14="http://schemas.microsoft.com/office/powerpoint/2010/main" val="6474924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875A1-96C2-5A44-7C1A-FB5F0E98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Sicurezza nell'Apertura Spazi Confinati (Art. 111)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649AF4-139F-D85D-4B5F-404018DC3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Sentine, doppifondi e cisterne: l'accesso di ditte o equipaggio è severamente regolato.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Bonifica preventiva e Gas-Free con attestazione LEL e O2.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Organizzazione all'esterno di personale per recupero e ventilazione forzata continua.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Art. 111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Spazio confinato = Aria viziata = Pericolo di morte.</a:t>
            </a:r>
          </a:p>
        </p:txBody>
      </p:sp>
    </p:spTree>
    <p:extLst>
      <p:ext uri="{BB962C8B-B14F-4D97-AF65-F5344CB8AC3E}">
        <p14:creationId xmlns:p14="http://schemas.microsoft.com/office/powerpoint/2010/main" val="2033107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C5566D-0769-28C5-362E-55EEF1B2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Preposti Nave per l'Alta Vigilanza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A56C2A-F149-65D2-3F42-A020CCB2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nomina incaricati ("rappresentanti") per scortare e vigilare i civili a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Svolgono ruolo ispettivo senza mai dire "come" fare un lavoro.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Segnalano all'RTL delle ditte eventuali abusi o mancanza DPI riscontrati a bordo.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113, </a:t>
            </a:r>
            <a:r>
              <a:rPr lang="en-US" sz="1800" kern="100" dirty="0" err="1">
                <a:solidFill>
                  <a:srgbClr val="0F4761"/>
                </a:solidFill>
                <a:latin typeface="Sitka Text Semibold" pitchFamily="2" charset="0"/>
              </a:rPr>
              <a:t>commi</a:t>
            </a:r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5-7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Scegli bene i tuoi occhi. Formati, attenti e muti.</a:t>
            </a:r>
          </a:p>
        </p:txBody>
      </p:sp>
    </p:spTree>
    <p:extLst>
      <p:ext uri="{BB962C8B-B14F-4D97-AF65-F5344CB8AC3E}">
        <p14:creationId xmlns:p14="http://schemas.microsoft.com/office/powerpoint/2010/main" val="16805636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6B556-0362-DE7C-5B28-3C31FA9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Lavorazioni Elettriche (Permessi di Lavoro)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412A48-8DB1-C6D4-6473-4B70FA80A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 intervento a bordo senza che il quadro principale sia stato bloccato.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Fissare cartelli monitori "VIETATO MANOVRARE - PERICOLO – LAVORI IN CORSO".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Per i lavori in tensione o Alta Tensione, il personale deve avere abilitazione PES/PAV/IMAT.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111 c.4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Isola, metti a terra, metti il lucchetto.</a:t>
            </a:r>
          </a:p>
        </p:txBody>
      </p:sp>
    </p:spTree>
    <p:extLst>
      <p:ext uri="{BB962C8B-B14F-4D97-AF65-F5344CB8AC3E}">
        <p14:creationId xmlns:p14="http://schemas.microsoft.com/office/powerpoint/2010/main" val="4256603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F3C1C2-B8C5-0C8F-B5E8-C193FAE4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Fornitura Attrezzature Militari ai Civili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629E6E-BB4F-3068-3384-25D83B086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Prestarle è permesso tramite "consegna formale", ma con i registri di collaudo in regola.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L'attrezzo deve essere marcato CE o conforme ad Allegato V del TUSL.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L'onere della formazione per l'uso in sicurezza ricade sul datore di lavoro civile.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107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 presti una gru senza collaudo, l'incidente sarà tuo.</a:t>
            </a:r>
          </a:p>
        </p:txBody>
      </p:sp>
    </p:spTree>
    <p:extLst>
      <p:ext uri="{BB962C8B-B14F-4D97-AF65-F5344CB8AC3E}">
        <p14:creationId xmlns:p14="http://schemas.microsoft.com/office/powerpoint/2010/main" val="4256143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25D77A-76C4-619F-A80D-4E3C8F6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Dispositivi di Protezione Individuale (DPI)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5E251F-2322-3881-058C-EEF73C7C4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Equipaggio e ditte condividono gli stessi obblighi in materia di DPI nei locali operativi.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assicura la distribuzione di tappi/cuffie per il rumore delle lavorazioni pesanti in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Tolleranza zero verso operatori sprovvisti di elmetto protettivo.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cantiere si vede da fuori: niente DPI, si torna a casa.</a:t>
            </a:r>
          </a:p>
        </p:txBody>
      </p:sp>
    </p:spTree>
    <p:extLst>
      <p:ext uri="{BB962C8B-B14F-4D97-AF65-F5344CB8AC3E}">
        <p14:creationId xmlns:p14="http://schemas.microsoft.com/office/powerpoint/2010/main" val="2431169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F5715A-01F0-FF17-0D80-34133AD7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Utilizzo Macchinari Nuovi o di Sostituzione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5F5F9F-DD8A-EEFF-471E-C11425B31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 cambio di apparecchiature, verifica i manuali CE, d'uso e la dichiarazione conformità.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Aggiorna immediatamente le procedure di emergenza di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Qualifica l'equipaggio sui nuovi rischi introdotti dalle nuove tecnologie (varianti di configurazione).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Mai autorizzare l'uso prima del collaudo finale.</a:t>
            </a:r>
          </a:p>
        </p:txBody>
      </p:sp>
    </p:spTree>
    <p:extLst>
      <p:ext uri="{BB962C8B-B14F-4D97-AF65-F5344CB8AC3E}">
        <p14:creationId xmlns:p14="http://schemas.microsoft.com/office/powerpoint/2010/main" val="3772939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52F0B-40D5-B943-465A-8293BBDD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Sicurezza e Fattori Umani (Fatigue Management)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902D4E-1B72-1A46-0D6E-246B0108C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sorveglianza in cantiere e il rumore aumentano drasticamente la fatica operativa.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Valuta la rotazione dei turni di guardia in platea o di preposto.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Lo stress è il primo fattore di incidenti fatali ("slip/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mistake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III-2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stanchezza cancella le regole. Ruota i tuoi uomini.</a:t>
            </a:r>
          </a:p>
        </p:txBody>
      </p:sp>
    </p:spTree>
    <p:extLst>
      <p:ext uri="{BB962C8B-B14F-4D97-AF65-F5344CB8AC3E}">
        <p14:creationId xmlns:p14="http://schemas.microsoft.com/office/powerpoint/2010/main" val="4199953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612522-747C-5438-370D-8BAF2073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Giornate della Sicurezza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5B77DC-C59D-A232-0B04-4EA48057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Promosse dall'RTL durante le soste prolungate con presenza delle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Servono a riallineare equipaggio e operai sui rischi specifici del cantiere (incendi, DPI).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Aumentano il coordinamento umano tra personale militare e civile.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116 c.9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Prevenire costa meno che gestire un lutto a bordo.</a:t>
            </a:r>
          </a:p>
        </p:txBody>
      </p:sp>
    </p:spTree>
    <p:extLst>
      <p:ext uri="{BB962C8B-B14F-4D97-AF65-F5344CB8AC3E}">
        <p14:creationId xmlns:p14="http://schemas.microsoft.com/office/powerpoint/2010/main" val="1770019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90F05-C020-98ED-C9F6-5084C081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Isolamento di Aree della Nave (Art. 118)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55C21B-8E17-C656-4993-19556DEB2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Per interventi invasivi (es. amianto), il Comando non può gestire incendi/allagamenti nell'area.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Viene redatto un verbale di consegna: la custodia passa all'Impresa.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L'Impresa attiva un servizio dedicato di "guardia fuochi" nell'area.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Area consegnata = Accesso negato all'equipaggio.</a:t>
            </a:r>
          </a:p>
        </p:txBody>
      </p:sp>
    </p:spTree>
    <p:extLst>
      <p:ext uri="{BB962C8B-B14F-4D97-AF65-F5344CB8AC3E}">
        <p14:creationId xmlns:p14="http://schemas.microsoft.com/office/powerpoint/2010/main" val="282366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BBB93E-34CE-6D37-BE39-834066A6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Supporto Operativo della Nave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F9AA11-F278-315A-E779-B7BCF1453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bordo concorre alla predisposizione del Piano di Emergenza antincendio.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L'equipaggio mantiene in sicurezza gli impianti non interessati dai lavori.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Comando controlla gli accessi e verifica l'uso dei DPI per salire a bordo.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Art. 116, comma 10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nave è tua, anche quando è un cantiere.</a:t>
            </a:r>
          </a:p>
        </p:txBody>
      </p:sp>
    </p:spTree>
    <p:extLst>
      <p:ext uri="{BB962C8B-B14F-4D97-AF65-F5344CB8AC3E}">
        <p14:creationId xmlns:p14="http://schemas.microsoft.com/office/powerpoint/2010/main" val="14183121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51E146-88C3-82DB-74DB-F83E35FF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Rubrica Telefonica delle Emergenze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C6185D-90FF-7053-4624-D60DB856D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Guardia Bacini (H24): 22916 (Emergenze, Notte/Festivi)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Capo Nucleo Bacini in Muratura: 23762 (Orario lav. - Problemi operativi)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Sezione Reti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: 22064 (Guasti alimentazione elettrica)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Sezione Sanitaria: 22841 (Orario lav. - Infortuni. Fuori orario → 118)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Stampa questa slide e tienila in plancia.</a:t>
            </a:r>
          </a:p>
        </p:txBody>
      </p:sp>
    </p:spTree>
    <p:extLst>
      <p:ext uri="{BB962C8B-B14F-4D97-AF65-F5344CB8AC3E}">
        <p14:creationId xmlns:p14="http://schemas.microsoft.com/office/powerpoint/2010/main" val="21486434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A5177-C6BF-87E6-D940-E5076E0E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Emergenza Incendio (Livello Base e 3)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8446C2-D053-9A92-8335-33F84DD92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Principio d'incendio domabile con la rete bacino: intervengono SAP Bordo e/o RTL ditta.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Allarme Livello 3: Chiama Vigili del Fuoco, evacua la nave ai Punti di Raccolta e attendi ordini.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Togli alimentazione elettrica dalla colonnina.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Usa l'estintore subito o fuggi senza voltarti.</a:t>
            </a:r>
          </a:p>
        </p:txBody>
      </p:sp>
    </p:spTree>
    <p:extLst>
      <p:ext uri="{BB962C8B-B14F-4D97-AF65-F5344CB8AC3E}">
        <p14:creationId xmlns:p14="http://schemas.microsoft.com/office/powerpoint/2010/main" val="41247123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4B397-5DEB-DE61-969C-A63DE871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Emergenza Allagamento (Platea o Scafo)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F0F266-6B0D-E3B5-E285-514F7995A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Vietato lo scarico di sostanze, in caso di rottura circuiti di bordo, allarmare la Guardia Bacini (22916).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Sezione Bacini attiva le pompe per la raccolta delle acque di processo.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 il livello minaccia di superare i vasi, sospendere i lavori elettrici.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L'acqua sul fondo si infiltra nell'energia, stacca i quadri.</a:t>
            </a:r>
          </a:p>
        </p:txBody>
      </p:sp>
    </p:spTree>
    <p:extLst>
      <p:ext uri="{BB962C8B-B14F-4D97-AF65-F5344CB8AC3E}">
        <p14:creationId xmlns:p14="http://schemas.microsoft.com/office/powerpoint/2010/main" val="41804812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249E63-8B8F-EAE4-2204-019B107A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Gestione di Infortunio e Malore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1FC013-564E-5493-ADBD-D6336D26D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orario servizio: Chiamare il presidio Sanitario M.M. (22841).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trasporto fuori dall'Unità attraverso la passerella è organizzato dall'equipaggio.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Segnalare l'incidente per l'attivazione burocratica (TUSL, Art. 56) entro 48h o 24h per prognosi gravi.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2 e SMM-PREVA-1062 Art. 56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Porta la vittima all'ambulanza, poi denuncia in forma scritta.</a:t>
            </a:r>
          </a:p>
        </p:txBody>
      </p:sp>
    </p:spTree>
    <p:extLst>
      <p:ext uri="{BB962C8B-B14F-4D97-AF65-F5344CB8AC3E}">
        <p14:creationId xmlns:p14="http://schemas.microsoft.com/office/powerpoint/2010/main" val="33404606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DFB656-07E1-CB13-7F70-E85076E3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Evacuazione dal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B4063B-3475-BA2A-20E7-7AD8E09F2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segnale acustico di evacuazione in cantiere va riconosciuto distintamente rispetto a sirene operative.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Non usare i trincarini o l'interno nave, diramare in massa verso le passerelle seguendo gli scalandroni.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Punto di Raccolta N. 11: ZONA FERRATI per la conta finale (Ditte e Personale M.M.).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Fuori dalla nave ordinati. Il passo cadenzato rompe la passerella.</a:t>
            </a:r>
          </a:p>
        </p:txBody>
      </p:sp>
    </p:spTree>
    <p:extLst>
      <p:ext uri="{BB962C8B-B14F-4D97-AF65-F5344CB8AC3E}">
        <p14:creationId xmlns:p14="http://schemas.microsoft.com/office/powerpoint/2010/main" val="23281025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71A8E-85D6-D1FE-A97F-2796D94F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Interruzione di Corrente (Black-Out)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418757-C8AB-FAE9-28CB-E46F15A64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Assicurarsi del subentro rapido dei gruppi elettrogeni in dotazione all'infrastruttura dell'edificio adiacente.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Allontanare gli operatori dagli ambienti chiusi: senza areazione artificiale il gas-free è nullo.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Contattare Reparto Manutenzione / Reti MM per riscontro cause (22064).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Buio = Stop operazioni a caldo.</a:t>
            </a:r>
          </a:p>
        </p:txBody>
      </p:sp>
    </p:spTree>
    <p:extLst>
      <p:ext uri="{BB962C8B-B14F-4D97-AF65-F5344CB8AC3E}">
        <p14:creationId xmlns:p14="http://schemas.microsoft.com/office/powerpoint/2010/main" val="9233345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B173D-5F34-96E1-A9BD-6DC15AA4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Sostanze Pericolose Sversate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64E7B4-6CC0-BD98-0A1C-A155998E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Isolamento immediato, fermare la sorgente, confinare lo spandimento (Kit anti-sversamento carrellato).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Richiedere supporto chimico per bonifica. Vietato il lavaggio con lance per non intaccare i pozzetti della platea.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Dotare i marinai di DPI ad alta protezione e allontanare i non addetti.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kit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antisversamento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ti salva dal disastro chimico.</a:t>
            </a:r>
          </a:p>
        </p:txBody>
      </p:sp>
    </p:spTree>
    <p:extLst>
      <p:ext uri="{BB962C8B-B14F-4D97-AF65-F5344CB8AC3E}">
        <p14:creationId xmlns:p14="http://schemas.microsoft.com/office/powerpoint/2010/main" val="37603514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2F1D7-914A-CCF5-FA08-DE48FAB5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Cessazione Temporanea dei Lavori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E6C5AA-7E60-3E74-AA97-076873BF3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responsabile lavori civile (RTL) o il Comando bloccano tutto se manca luce, aerazione o requisiti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Segnalazione ufficiale all'Ente Tecnico (Ufficio Programma / Direzione Arsenale) delle difformità.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Ripresa dei lavori solo previo ripristino delle condizioni ottimali previste nel DUVRI o Documento di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113 e 116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Chiudere i cantieri oggi per non piangere i morti domani.</a:t>
            </a:r>
          </a:p>
        </p:txBody>
      </p:sp>
    </p:spTree>
    <p:extLst>
      <p:ext uri="{BB962C8B-B14F-4D97-AF65-F5344CB8AC3E}">
        <p14:creationId xmlns:p14="http://schemas.microsoft.com/office/powerpoint/2010/main" val="4185937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FF0E4-D855-D2A9-5302-D9FF2FEC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Riconsegna di Aree e Materiali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ADDB26-8809-C272-1155-42D9503E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Ripristino formale delle Aree di Bordo precedentemente "consegnate" in isolamento.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Esigere la certificazione conclusiva che asseveri rimozione depositi, cavi volanti e materiali residui.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Tutte le aperture verso l'esterno nave dovranno tornare sigillate per preparare l'uscita.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Rivuoi la tua nave pulita e a chiusura stagna.</a:t>
            </a:r>
          </a:p>
        </p:txBody>
      </p:sp>
    </p:spTree>
    <p:extLst>
      <p:ext uri="{BB962C8B-B14F-4D97-AF65-F5344CB8AC3E}">
        <p14:creationId xmlns:p14="http://schemas.microsoft.com/office/powerpoint/2010/main" val="4287233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4F4456-1210-9EDA-8A4C-045395B4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Debriefing e "Lezioni Apprese" (PDCA)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0C961-037E-C3FC-F450-98D42CD8F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 sosta ultimata e incidenti chiusi, riunire i capi reparto per stilare varianti mitigative applicabili in futuro.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Modificare e registrare varianti interne delle circolari (aggiornamento procedure operative) per il DVR.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Aggiornamento del Documento di Sicurezza e del DVR per far recepire la "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lessons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learned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52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Non ripetere il rischio della precedente sosta.</a:t>
            </a:r>
          </a:p>
        </p:txBody>
      </p:sp>
    </p:spTree>
    <p:extLst>
      <p:ext uri="{BB962C8B-B14F-4D97-AF65-F5344CB8AC3E}">
        <p14:creationId xmlns:p14="http://schemas.microsoft.com/office/powerpoint/2010/main" val="11903809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D212A8-32FF-1E9B-059D-A6CB9927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Momento Topico: Ripresa del Comando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263F1-11CB-94F9-F131-F19983352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Con l'apertura delle saracinesche, l'acqua fa perdere aderenza alle taccate. L'attenzione ai rumori strutturali è massima.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Riacquisto del Comando e Controllo del Comandante non appena "La Nave va in galleggiamento".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Procedura inversa all'ingresso: Tonneggi, ordine radio incondizionato e niente eliche in darsena.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Quando galleggia, lo strumento operativo è tornato in mare, ed è solo tuo.</a:t>
            </a:r>
          </a:p>
        </p:txBody>
      </p:sp>
    </p:spTree>
    <p:extLst>
      <p:ext uri="{BB962C8B-B14F-4D97-AF65-F5344CB8AC3E}">
        <p14:creationId xmlns:p14="http://schemas.microsoft.com/office/powerpoint/2010/main" val="2394779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43AC9-202C-DE36-6681-2F666941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Considerazioni Finali e Q&amp;A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2E0BA1-93BC-83DD-9326-503827436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Mai interferire attivamente con un cantiere. Esigi sempre la redazione del DUVRI/Doc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L'Appoggio sulle taccate si negozia, ma lo decide 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logistica, il posizionamento DPI e la prontezza antincendio di bordo non vanno mai in disarmo.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Normative di Riferimento 1062 &amp; PSBM001A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Gestire i rischi in bacino ti qualifica come Comandante completo. Formazione terminata.</a:t>
            </a:r>
          </a:p>
        </p:txBody>
      </p:sp>
    </p:spTree>
    <p:extLst>
      <p:ext uri="{BB962C8B-B14F-4D97-AF65-F5344CB8AC3E}">
        <p14:creationId xmlns:p14="http://schemas.microsoft.com/office/powerpoint/2010/main" val="1289768340"/>
      </p:ext>
    </p:extLst>
  </p:cSld>
  <p:clrMapOvr>
    <a:masterClrMapping/>
  </p:clrMapOvr>
</p:sld>
</file>

<file path=ppt/theme/theme1.xml><?xml version="1.0" encoding="utf-8"?>
<a:theme xmlns:a="http://schemas.openxmlformats.org/drawingml/2006/main" name="Documentazione accademica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1012_TF03431380_Win32" id="{4F6297B8-F229-4CEF-BE0D-46CC0FCEAF49}" vid="{30485835-814C-479C-B2DF-621E8B98DC5F}"/>
    </a:ext>
  </a:extLst>
</a:theme>
</file>

<file path=ppt/theme/theme2.xml><?xml version="1.0" encoding="utf-8"?>
<a:theme xmlns:a="http://schemas.openxmlformats.org/drawingml/2006/main" name="Tema di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accademica, schema con righe verticali e nastro (widescreen)</Template>
  <TotalTime>124</TotalTime>
  <Words>5266</Words>
  <Application>Microsoft Office PowerPoint</Application>
  <PresentationFormat>Widescreen</PresentationFormat>
  <Paragraphs>424</Paragraphs>
  <Slides>71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8" baseType="lpstr">
      <vt:lpstr>Arial</vt:lpstr>
      <vt:lpstr>Euphemia</vt:lpstr>
      <vt:lpstr>Plantagenet Cherokee</vt:lpstr>
      <vt:lpstr>Sitka Text Semibold</vt:lpstr>
      <vt:lpstr>Times New Roman</vt:lpstr>
      <vt:lpstr>Wingdings</vt:lpstr>
      <vt:lpstr>Documentazione accademica 16x9</vt:lpstr>
      <vt:lpstr>IL COMANDANTE E IL BACINO Come entrare, restare e uscire senza perdere il comando (e la libertà)  </vt:lpstr>
      <vt:lpstr>Copertina</vt:lpstr>
      <vt:lpstr>Obiettivi Formativi</vt:lpstr>
      <vt:lpstr>Agenda del Corso</vt:lpstr>
      <vt:lpstr>Le Fonti Normative "Salva-Vita"</vt:lpstr>
      <vt:lpstr>Il Ruolo del Comandante (Art. 113 SMM-PREVA-1062)</vt:lpstr>
      <vt:lpstr>Il Confine Giuridico</vt:lpstr>
      <vt:lpstr>La Catena di Comando delle Ditte</vt:lpstr>
      <vt:lpstr>I Documenti del Comandante</vt:lpstr>
      <vt:lpstr>Scenario 1: Singola Ditta non Interferente</vt:lpstr>
      <vt:lpstr>Scenario 2: Lavori Complessi e Bacino</vt:lpstr>
      <vt:lpstr>Il Triangolo Normativo: Quale Norma Si Applica a Bordo?</vt:lpstr>
      <vt:lpstr>DUVRI vs Documento Informativo: Le Differenze Chiave</vt:lpstr>
      <vt:lpstr>Quando è Obbligatorio il DUVRI</vt:lpstr>
      <vt:lpstr>Quando Basta il Documento Informativo</vt:lpstr>
      <vt:lpstr>Titolo IV D.Lgs. 81/08: Quando Scatta il CSE e il PSC</vt:lpstr>
      <vt:lpstr>D.Lgs. 272/1999: La Norma Speciale per le Navi</vt:lpstr>
      <vt:lpstr>Tabella Comparativa: Titolo IV vs D.Lgs. 272/1999</vt:lpstr>
      <vt:lpstr>Chi Redige Cosa: La Matrice Decisionale</vt:lpstr>
      <vt:lpstr>Il Documento di Sicurezza (Art. 116): Contenuti Obbligatori</vt:lpstr>
      <vt:lpstr>Errori Comuni da Evitare</vt:lpstr>
      <vt:lpstr>T-60 Giorni: La Richiesta Ufficiale</vt:lpstr>
      <vt:lpstr>T-30 Giorni: Il Piano di Posa</vt:lpstr>
      <vt:lpstr>T-15 Giorni: Valutazione Assetti</vt:lpstr>
      <vt:lpstr>T-7 Giorni: Riunione Propedeutica Obbligatoria</vt:lpstr>
      <vt:lpstr>Operazioni Preliminari: Lo Sbarco Pesi (NAV-G-001)</vt:lpstr>
      <vt:lpstr>Operazioni Preliminari: Sentine e Portelleria</vt:lpstr>
      <vt:lpstr>Operazioni Preliminari: Certificazione Gas-Free</vt:lpstr>
      <vt:lpstr>Gestione Mezzi di Supporto Esterni</vt:lpstr>
      <vt:lpstr>La Check-List Operativa (PSBM001A.A01)</vt:lpstr>
      <vt:lpstr>Verifica Infrastrutturale del Bacino</vt:lpstr>
      <vt:lpstr>Briefing di Sicurezza per l'Equipaggio</vt:lpstr>
      <vt:lpstr>Comunicazioni durante l'Avvicinamento</vt:lpstr>
      <vt:lpstr>Imboccatura: Vietate le Eliche</vt:lpstr>
      <vt:lpstr>Fase A: Comando in Galleggiamento</vt:lpstr>
      <vt:lpstr>Fase B: Predisposizione Centratura</vt:lpstr>
      <vt:lpstr>Fase C: Il Passaggio di Comando (MOMENTO CRITICO)</vt:lpstr>
      <vt:lpstr>Discesa e Ispezione Palombari</vt:lpstr>
      <vt:lpstr>Vietato Spostare Pesi in Bacino</vt:lpstr>
      <vt:lpstr>Messa a Terra dello Scafo</vt:lpstr>
      <vt:lpstr>Installazione delle Passerelle</vt:lpstr>
      <vt:lpstr>Ripristino Servizi Vitali di Bordo</vt:lpstr>
      <vt:lpstr>Il Servizio di Sentinella (Bacino)</vt:lpstr>
      <vt:lpstr>La Manovra di Uscita</vt:lpstr>
      <vt:lpstr>Verifica Sbandamento in Uscita</vt:lpstr>
      <vt:lpstr>Il Verbale di Passaggio Consegne (PSBM001A.A02)</vt:lpstr>
      <vt:lpstr>Cessione della Rete Antincendio</vt:lpstr>
      <vt:lpstr>Barriera Acque di Processo</vt:lpstr>
      <vt:lpstr>Smaltimento Rifiuti di Cantiere</vt:lpstr>
      <vt:lpstr>Sicurezza nell'Apertura Spazi Confinati (Art. 111)</vt:lpstr>
      <vt:lpstr>Preposti Nave per l'Alta Vigilanza</vt:lpstr>
      <vt:lpstr>Lavorazioni Elettriche (Permessi di Lavoro)</vt:lpstr>
      <vt:lpstr>Fornitura Attrezzature Militari ai Civili</vt:lpstr>
      <vt:lpstr>Dispositivi di Protezione Individuale (DPI)</vt:lpstr>
      <vt:lpstr>Utilizzo Macchinari Nuovi o di Sostituzione</vt:lpstr>
      <vt:lpstr>Sicurezza e Fattori Umani (Fatigue Management)</vt:lpstr>
      <vt:lpstr>Giornate della Sicurezza in Bacino</vt:lpstr>
      <vt:lpstr>Isolamento di Aree della Nave (Art. 118)</vt:lpstr>
      <vt:lpstr>Supporto Operativo della Nave</vt:lpstr>
      <vt:lpstr>La Rubrica Telefonica delle Emergenze</vt:lpstr>
      <vt:lpstr>Emergenza Incendio (Livello Base e 3)</vt:lpstr>
      <vt:lpstr>Emergenza Allagamento (Platea o Scafo)</vt:lpstr>
      <vt:lpstr>Gestione di Infortunio e Malore</vt:lpstr>
      <vt:lpstr>Evacuazione dal Bacino</vt:lpstr>
      <vt:lpstr>Interruzione di Corrente (Black-Out)</vt:lpstr>
      <vt:lpstr>Sostanze Pericolose Sversate in Bacino</vt:lpstr>
      <vt:lpstr>Cessazione Temporanea dei Lavori</vt:lpstr>
      <vt:lpstr>Riconsegna di Aree e Materiali</vt:lpstr>
      <vt:lpstr>Debriefing e "Lezioni Apprese" (PDCA)</vt:lpstr>
      <vt:lpstr>Il Momento Topico: Ripresa del Comando</vt:lpstr>
      <vt:lpstr>Considerazioni Finali e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DELL-LATITUDE</dc:creator>
  <cp:lastModifiedBy>DELL-LATITUDE</cp:lastModifiedBy>
  <cp:revision>117</cp:revision>
  <dcterms:created xsi:type="dcterms:W3CDTF">2026-06-24T09:24:35Z</dcterms:created>
  <dcterms:modified xsi:type="dcterms:W3CDTF">2026-06-24T18:42:14Z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