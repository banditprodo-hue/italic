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6"/>
  </p:notesMasterIdLst>
  <p:handoutMasterIdLst>
    <p:handoutMasterId r:id="rId77"/>
  </p:handoutMasterIdLst>
  <p:sldIdLst>
    <p:sldId id="256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67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290" r:id="rId28"/>
    <p:sldId id="291" r:id="rId29"/>
    <p:sldId id="292" r:id="rId30"/>
    <p:sldId id="293" r:id="rId31"/>
    <p:sldId id="294" r:id="rId32"/>
    <p:sldId id="295" r:id="rId33"/>
    <p:sldId id="296" r:id="rId34"/>
    <p:sldId id="297" r:id="rId35"/>
    <p:sldId id="298" r:id="rId36"/>
    <p:sldId id="299" r:id="rId37"/>
    <p:sldId id="300" r:id="rId38"/>
    <p:sldId id="301" r:id="rId39"/>
    <p:sldId id="302" r:id="rId40"/>
    <p:sldId id="303" r:id="rId41"/>
    <p:sldId id="304" r:id="rId42"/>
    <p:sldId id="305" r:id="rId43"/>
    <p:sldId id="306" r:id="rId44"/>
    <p:sldId id="307" r:id="rId45"/>
    <p:sldId id="308" r:id="rId46"/>
    <p:sldId id="309" r:id="rId47"/>
    <p:sldId id="310" r:id="rId48"/>
    <p:sldId id="311" r:id="rId49"/>
    <p:sldId id="312" r:id="rId50"/>
    <p:sldId id="313" r:id="rId51"/>
    <p:sldId id="314" r:id="rId52"/>
    <p:sldId id="315" r:id="rId53"/>
    <p:sldId id="316" r:id="rId54"/>
    <p:sldId id="317" r:id="rId55"/>
    <p:sldId id="318" r:id="rId56"/>
    <p:sldId id="319" r:id="rId57"/>
    <p:sldId id="320" r:id="rId58"/>
    <p:sldId id="321" r:id="rId59"/>
    <p:sldId id="322" r:id="rId60"/>
    <p:sldId id="323" r:id="rId61"/>
    <p:sldId id="324" r:id="rId62"/>
    <p:sldId id="325" r:id="rId63"/>
    <p:sldId id="326" r:id="rId64"/>
    <p:sldId id="327" r:id="rId65"/>
    <p:sldId id="328" r:id="rId66"/>
    <p:sldId id="329" r:id="rId67"/>
    <p:sldId id="330" r:id="rId68"/>
    <p:sldId id="331" r:id="rId69"/>
    <p:sldId id="332" r:id="rId70"/>
    <p:sldId id="333" r:id="rId71"/>
    <p:sldId id="334" r:id="rId72"/>
    <p:sldId id="335" r:id="rId73"/>
    <p:sldId id="336" r:id="rId74"/>
    <p:sldId id="337" r:id="rId75"/>
  </p:sldIdLst>
  <p:sldSz cx="12192000" cy="6858000"/>
  <p:notesSz cx="6858000" cy="9144000"/>
  <p:defaultTextStyle>
    <a:defPPr rtl="0"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03" d="100"/>
          <a:sy n="103" d="100"/>
        </p:scale>
        <p:origin x="91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9" d="100"/>
          <a:sy n="99" d="100"/>
        </p:scale>
        <p:origin x="357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DA1D08E-8A9F-4B54-A5DC-B52D110753BE}" type="datetime1">
              <a:rPr lang="it-IT" smtClean="0"/>
              <a:t>24/06/2026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6834459-7356-44BF-850D-8B30C4FB3B6B}" type="slidenum">
              <a:rPr lang="it-IT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690165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it-IT" noProof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1E1426A-FEA2-4562-8B81-624F47BF2E70}" type="datetime1">
              <a:rPr lang="it-IT" noProof="0" smtClean="0"/>
              <a:t>24/06/2026</a:t>
            </a:fld>
            <a:endParaRPr lang="it-IT" noProof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it-IT" noProof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A3C37BE-C303-496D-B5CD-85F2937540FC}" type="slidenum">
              <a:rPr lang="it-IT" noProof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35084220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RIFERIMENTI DELLA SLIDE: SMM-PREVA-1062 Titolo VII | PSBM001A Marinarsen Taranto | NAV-G-001.</a:t>
            </a:r>
          </a:p>
          <a:p>
            <a:pPr rtl="0"/>
            <a:r>
              <a:rPr lang="it-IT" dirty="0"/>
              <a:t>SMM-PREVA-1062 (Ed. Gen 2024) e' la pubblicazione della Marina Militare in materia di prevenzione e protezione; il Titolo VII disciplina nello specifico le attivita' di manutenzione/riparazione a bordo e in bacino.</a:t>
            </a:r>
          </a:p>
          <a:p>
            <a:pPr rtl="0"/>
            <a:r>
              <a:rPr lang="it-IT" dirty="0"/>
              <a:t>PSBM001A e' la procedura locale di Marinarsen Taranto per la gestione dei bacini (BRIN/FERRATI). NAV-G-001 contiene le regole d'ingaggio nave-bacino.</a:t>
            </a:r>
          </a:p>
          <a:p>
            <a:pPr rtl="0"/>
            <a:r>
              <a:rPr lang="it-IT" dirty="0"/>
              <a:t>Messaggio di apertura: il Comandante mantiene il comando e la propria tutela giuridica solo se conosce e applica queste fonti. Sono la cornice di tutta la lezione.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RIFERIMENTI: SMM-PREVA-1062 (Titolo VII) | PSBM001A | NAV-G-001.</a:t>
            </a:r>
          </a:p>
          <a:p>
            <a:pPr rtl="0"/>
            <a:r>
              <a:rPr lang="it-IT" dirty="0"/>
              <a:t>Slide di copertina/contesto: la guida copre le tre fasi del rischio cantieristico in bacino - ingresso, permanenza e uscita dal bacino di carenaggio.</a:t>
            </a:r>
          </a:p>
          <a:p>
            <a:pPr rtl="0"/>
            <a:r>
              <a:rPr lang="it-IT" dirty="0"/>
              <a:t>Sottolineare che la responsabilita' di bordo non si sospende durante la sosta lavori: cambia natura (da operativa a vigilanza), ma resta in capo al Comandante.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Slide di obiettivi formativi: non cita articoli puntuali, ma anticipa i temi giuridici della lezione.</a:t>
            </a:r>
          </a:p>
          <a:p>
            <a:pPr rtl="0"/>
            <a:r>
              <a:rPr lang="it-IT" dirty="0"/>
              <a:t>Il confine tra Alta Vigilanza e Ingerenza richiama l'art. 113 SMM-PREVA-1062 (ruolo di vigilanza del Comando) e l'art. 26 D.Lgs. 81/2008 (cooperazione e coordinamento).</a:t>
            </a:r>
          </a:p>
          <a:p>
            <a:pPr rtl="0"/>
            <a:r>
              <a:rPr lang="it-IT" dirty="0"/>
              <a:t>La tutela legale in caso di infortunio di personale esterno si fonda sulla corretta tenuta dei documenti (DVR, RTVR, DUVRI/Documento di Sicurezza) e sulla tracciabilita' delle decisioni.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Slide di agenda. Il Modulo 1 e 1-bis sono dedicati al quadro cogente: D.Lgs. 81/2008 (TUSL), D.Lgs. 272/1999, Titolo IV TUSL e SMM-PREVA-1062.</a:t>
            </a:r>
          </a:p>
          <a:p>
            <a:pPr rtl="0"/>
            <a:r>
              <a:rPr lang="it-IT" dirty="0"/>
              <a:t>Indicare i tempi e ricordare che i moduli normativi (1 e 1-bis) sono il fondamento su cui si appoggiano le procedure operative dei moduli successivi.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RIFERIMENTI: D.Lgs. 272/1999; SMM-PREVA-1062 (Titolo VII); PSBM001A; NAV-G-001 (Art. 37-43).</a:t>
            </a:r>
          </a:p>
          <a:p>
            <a:pPr rtl="0"/>
            <a:r>
              <a:rPr lang="it-IT" dirty="0"/>
              <a:t>D.Lgs. 272/1999: norme di sicurezza specifiche per il lavoro portuale e per la manutenzione/riparazione/trasformazione delle navi. E' la 'lex specialis' che adatta il TUSL al mondo navale.</a:t>
            </a:r>
          </a:p>
          <a:p>
            <a:pPr rtl="0"/>
            <a:r>
              <a:rPr lang="it-IT" dirty="0"/>
              <a:t>SMM-PREVA-1062 Ed. Gen 2024: istruzioni operative interne della Marina; il Titolo VII regola i lavori a bordo e in bacino.</a:t>
            </a:r>
          </a:p>
          <a:p>
            <a:pPr rtl="0"/>
            <a:r>
              <a:rPr lang="it-IT" dirty="0"/>
              <a:t>PSBM001A: procedura locale di Marinarsen Taranto per i bacini BRIN e FERRATI. NAV-G-001 art. 37-43: regole d'ingaggio del rapporto nave-bacino.</a:t>
            </a:r>
          </a:p>
          <a:p>
            <a:pPr rtl="0"/>
            <a:r>
              <a:rPr lang="it-IT" dirty="0"/>
              <a:t>Concetto chiave: queste quattro fonti, integrate tra loro, costituiscono la base di legittimita' di ogni decisione del Comandante.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RIFERIMENTO: Art. 113 SMM-PREVA-1062 (Alta Vigilanza del Comando).</a:t>
            </a:r>
          </a:p>
          <a:p>
            <a:pPr rtl="0"/>
            <a:r>
              <a:rPr lang="it-IT" dirty="0"/>
              <a:t>L'art. 113 attribuisce al Comandante un dovere di ALTA VIGILANZA: verifica del rispetto delle norme, non direzione dei lavori. Non da' ordini agli operai delle ditte private.</a:t>
            </a:r>
          </a:p>
          <a:p>
            <a:pPr rtl="0"/>
            <a:r>
              <a:rPr lang="it-IT" dirty="0"/>
              <a:t>Il Comando fornisce le informazioni sui rischi specifici dell'unita' (DVR, RTVR) e vigila sulla mitigazione delle interferenze, in coerenza con l'art. 26 D.Lgs. 81/2008.</a:t>
            </a:r>
          </a:p>
          <a:p>
            <a:pPr rtl="0"/>
            <a:r>
              <a:rPr lang="it-IT" dirty="0"/>
              <a:t>REGOLA D'ORO: l'intervento operativo diretto fa scattare la co-responsabilita'. Vigilare si', sostituirsi no.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RIFERIMENTO: Art. 113, comma 8, SMM-PREVA-1062.</a:t>
            </a:r>
          </a:p>
          <a:p>
            <a:pPr rtl="0"/>
            <a:r>
              <a:rPr lang="it-IT" dirty="0"/>
              <a:t>ALTA VIGILANZA (dovere): designare i Preposti di bordo, fornire il DVR/RTVR, e potere di interrompere i lavori SOLO in caso di grave e imminente pericolo (art. 113 c.8).</a:t>
            </a:r>
          </a:p>
          <a:p>
            <a:pPr rtl="0"/>
            <a:r>
              <a:rPr lang="it-IT" dirty="0"/>
              <a:t>INGERENZA (errore da evitare): dire all'operaio COME eseguire il lavoro, spostare attrezzature, impartire ordini diretti. L'ingerenza sposta la responsabilita' sul Comando.</a:t>
            </a:r>
          </a:p>
          <a:p>
            <a:pPr rtl="0"/>
            <a:r>
              <a:rPr lang="it-IT" dirty="0"/>
              <a:t>Il discrimine giuridico e' la delega formale: chi ha la delega dirige e risponde; il Comando vigila.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RIFERIMENTO: catena di responsabilita' ex D.Lgs. 81/2008 e art. 116 SMM-PREVA-1062.</a:t>
            </a:r>
          </a:p>
          <a:p>
            <a:pPr rtl="0"/>
            <a:r>
              <a:rPr lang="it-IT" dirty="0"/>
              <a:t>Le ditte rispondono all'Impresa Capo Commessa; il referente unico verso il bordo e' l'R.T.L. (Responsabile Tecnico dei Lavori).</a:t>
            </a:r>
          </a:p>
          <a:p>
            <a:pPr rtl="0"/>
            <a:r>
              <a:rPr lang="it-IT" dirty="0"/>
              <a:t>Il Comandante dialoga sempre con RTL/Preposto, mai con il singolo operaio: cosi' la responsabilita' datoriale resta in capo all'impresa (RTL/datore di lavoro).</a:t>
            </a:r>
          </a:p>
          <a:p>
            <a:pPr rtl="0"/>
            <a:r>
              <a:rPr lang="it-IT" dirty="0"/>
              <a:t>Operativamente: in caso di non conformita', si chiama il RTL, non si corregge l'operaio.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RIFERIMENTO: obblighi informativi ex art. 26 D.Lgs. 81/2008 e Titolo VII SMM-PREVA-1062.</a:t>
            </a:r>
          </a:p>
          <a:p>
            <a:pPr rtl="0"/>
            <a:r>
              <a:rPr lang="it-IT" dirty="0"/>
              <a:t>DVR (Documento di Valutazione dei Rischi): documento cardine del datore di lavoro/Comando. RTVR (Relazione Tecnica di Valutazione dei Rischi): viaggia con la nave e descrive rischi strutturali e degli spazi confinati.</a:t>
            </a:r>
          </a:p>
          <a:p>
            <a:pPr rtl="0"/>
            <a:r>
              <a:rPr lang="it-IT" dirty="0"/>
              <a:t>Il Comando FORNISCE questi documenti alle ditte affinche' possano redigere POS e DUVRI. Senza RTVR aggiornata le ditte operano senza il quadro reale dei rischi.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RIFERIMENTO: Art. 26, comma 3-bis, D.Lgs. 81/2008 (Documento Informativo) e logica del DUVRI.</a:t>
            </a:r>
          </a:p>
          <a:p>
            <a:pPr rtl="0"/>
            <a:r>
              <a:rPr lang="it-IT" dirty="0"/>
              <a:t>Scenario di singola ditta o piu' ditte NON interferenti: il coordinamento spetta al Comando di Bordo, che fornisce le informazioni sui rischi specifici per la stesura del DUVRI/Documento Informativo.</a:t>
            </a:r>
          </a:p>
          <a:p>
            <a:pPr rtl="0"/>
            <a:r>
              <a:rPr lang="it-IT" dirty="0"/>
              <a:t>Si formalizza un verbale di coordinamento prima dell'intervento. Singola ditta = coordinamento diretto gestito dal Comando.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RIFERIMENTO: D.Lgs. 272/1999 e art. 116 SMM-PREVA-1062 (lavori complessi/interferenti).</a:t>
            </a:r>
          </a:p>
          <a:p>
            <a:pPr rtl="0"/>
            <a:r>
              <a:rPr lang="it-IT" dirty="0"/>
              <a:t>Per sosta lavori o lavorazioni interferenti, l'Ente responsabile individua l'Impresa Capo Commessa, che nomina il Responsabile Tecnico dei Lavori (RTL) a bordo.</a:t>
            </a:r>
          </a:p>
          <a:p>
            <a:pPr rtl="0"/>
            <a:r>
              <a:rPr lang="it-IT" dirty="0"/>
              <a:t>L'RTL coordina le interferenze e verifica il rispetto del Documento di Sicurezza. Con piu' ditte, l'RTL diventa l'interlocutore unico del Comando.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RIFERIMENTI: Art. 26 D.Lgs. 81/2008; Titolo IV D.Lgs. 81/2008; D.Lgs. 272/1999; Art. 116 SMM-PREVA-1062.</a:t>
            </a:r>
          </a:p>
          <a:p>
            <a:pPr rtl="0"/>
            <a:r>
              <a:rPr lang="it-IT" dirty="0"/>
              <a:t>Art. 26 TUSL: DUVRI o Documento Informativo per appalti con interferenze minime/una ditta. Titolo IV TUSL: CSE e PSC per i cantieri edili temporanei o mobili a terra (non a bordo nave).</a:t>
            </a:r>
          </a:p>
          <a:p>
            <a:pPr rtl="0"/>
            <a:r>
              <a:rPr lang="it-IT" dirty="0"/>
              <a:t>Per i lavori a bordo nave, sosta lavori e bacino si applicano il D.Lgs. 272/1999 e l'art. 116 SMM-PREVA-1062: RTL e Documento di Sicurezza.</a:t>
            </a:r>
          </a:p>
          <a:p>
            <a:pPr rtl="0"/>
            <a:r>
              <a:rPr lang="it-IT" dirty="0"/>
              <a:t>Principio chiave: la norma civile (81/08) viene 'navalizzata' dal 272/99 per le unita' navali. A bordo nave il 272/99 prevale sul Titolo IV.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RIFERIMENTO: Art. 26, comma 3 (DUVRI) e comma 3-bis (Documento Informativo) D.Lgs. 81/2008.</a:t>
            </a:r>
          </a:p>
          <a:p>
            <a:pPr rtl="0"/>
            <a:r>
              <a:rPr lang="it-IT" dirty="0"/>
              <a:t>DUVRI (art. 26 c.3): valuta i rischi DA INTERFERENZA tra piu' ditte o tra ditte e bordo; obbligatorio in caso di sovrapposizioni operative.</a:t>
            </a:r>
          </a:p>
          <a:p>
            <a:pPr rtl="0"/>
            <a:r>
              <a:rPr lang="it-IT" dirty="0"/>
              <a:t>Documento Informativo (art. 26 c.3-bis): sostituisce il DUVRI quando i lavori durano meno di 2 giorni-uomo OPPURE non vi sono rischi interferenziali significativi.</a:t>
            </a:r>
          </a:p>
          <a:p>
            <a:pPr rtl="0"/>
            <a:r>
              <a:rPr lang="it-IT" dirty="0"/>
              <a:t>Entrambi vanno firmati prima dell'inizio lavori e allegati al contratto. Regola pratica: &lt; 2 giorni e nessuna interferenza = Documento Informativo; altrimenti DUVRI.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RIFERIMENTO: Art. 26, comma 3, D.Lgs. 81/2008 (obbligo di DUVRI).</a:t>
            </a:r>
          </a:p>
          <a:p>
            <a:pPr rtl="0"/>
            <a:r>
              <a:rPr lang="it-IT" dirty="0"/>
              <a:t>Il DUVRI e' obbligatorio in tre casi tipici: piu' imprese esecutrici nello stesso ambiente (contemporanee o in sequenza); interferenza tra ditte esterne e personale di bordo; introduzione di nuovi rischi (polveri, rumore, sostanze chimiche).</a:t>
            </a:r>
          </a:p>
          <a:p>
            <a:pPr rtl="0"/>
            <a:r>
              <a:rPr lang="it-IT" dirty="0"/>
              <a:t>Il DUVRI e' redatto dalla Stazione Appaltante prima dell'inizio lavori. Piu' ditte nello stesso spazio = DUVRI sempre obbligatorio.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RIFERIMENTO: Art. 26, comma 3-bis, D.Lgs. 81/2008 (casi di esonero dal DUVRI).</a:t>
            </a:r>
          </a:p>
          <a:p>
            <a:pPr rtl="0"/>
            <a:r>
              <a:rPr lang="it-IT" dirty="0"/>
              <a:t>Il Documento Informativo basta quando: durata &lt; 2 giorni-uomo (lavori estemporanei); nessuna interferenza (area isolata); mera fornitura senza posa in opera; servizi intellettuali (consulenze, perizie, ispezioni visive).</a:t>
            </a:r>
          </a:p>
          <a:p>
            <a:pPr rtl="0"/>
            <a:r>
              <a:rPr lang="it-IT" dirty="0"/>
              <a:t>Concetto: l'esonero dal DUVRI riguarda solo il rischio interferenziale; restano fermi gli obblighi propri di ogni datore di lavoro.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RIFERIMENTO: Titolo IV D.Lgs. 81/2008 (cantieri temporanei o mobili) - artt. 89 e seguenti.</a:t>
            </a:r>
          </a:p>
          <a:p>
            <a:pPr rtl="0"/>
            <a:r>
              <a:rPr lang="it-IT" dirty="0"/>
              <a:t>Il Titolo IV si applica all'allestimento di un cantiere temporaneo o mobile: ponteggi esterni, lavori edili strutturali, scavi.</a:t>
            </a:r>
          </a:p>
          <a:p>
            <a:pPr rtl="0"/>
            <a:r>
              <a:rPr lang="it-IT" dirty="0"/>
              <a:t>Comporta la nomina del CSE (Coordinatore per l'Esecuzione) da parte del Committente e la redazione del PSC (Piano di Sicurezza e Coordinamento) da parte del CSP/CSE prima dell'inizio lavori.</a:t>
            </a:r>
          </a:p>
          <a:p>
            <a:pPr rtl="0"/>
            <a:r>
              <a:rPr lang="it-IT" dirty="0"/>
              <a:t>NOTA CRITICA: a bordo nave il Titolo IV si applica solo se il cantiere e' allestito a terra o in area esterna alla nave. A bordo vale il D.Lgs. 272/1999.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RIFERIMENTO: D.Lgs. 272/1999 (norma speciale per le navi) e art. 116 SMM-PREVA-1062.</a:t>
            </a:r>
          </a:p>
          <a:p>
            <a:pPr rtl="0"/>
            <a:r>
              <a:rPr lang="it-IT" dirty="0"/>
              <a:t>Ambito: manutenzione, riparazione e trasformazione delle NAVI in ambito portuale. Per i lavori a bordo il 272/99 prevale sul Titolo IV del TUSL.</a:t>
            </a:r>
          </a:p>
          <a:p>
            <a:pPr rtl="0"/>
            <a:r>
              <a:rPr lang="it-IT" dirty="0"/>
              <a:t>Figura chiave: non il CSE ma l'RTL dell'Impresa Capo Commessa. Documento: non il PSC ma il Documento di Sicurezza (art. 116 SMM-PREVA-1062).</a:t>
            </a:r>
          </a:p>
          <a:p>
            <a:pPr rtl="0"/>
            <a:r>
              <a:rPr lang="it-IT" dirty="0"/>
              <a:t>Sintesi: lavori a bordo nave = D.Lgs. 272/99 con RTL e Documento di Sicurezza.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RIFERIMENTO: confronto Titolo IV D.Lgs. 81/2008 vs D.Lgs. 272/1999.</a:t>
            </a:r>
          </a:p>
          <a:p>
            <a:pPr rtl="0"/>
            <a:r>
              <a:rPr lang="it-IT" dirty="0"/>
              <a:t>Ambito: Titolo IV = cantieri temporanei a terra; 272/99 = manutenzione/riparazione navi. Figura: CSE vs RTL. Documento: PSC vs Documento di Sicurezza.</a:t>
            </a:r>
          </a:p>
          <a:p>
            <a:pPr rtl="0"/>
            <a:r>
              <a:rPr lang="it-IT" dirty="0"/>
              <a:t>Nomina: il CSE e' nominato dal Committente; l'RTL dall'Impresa Capo Commessa. A bordo nave il Titolo IV non si applica (salvo cantiere a terra), il 272/99 prevale sempre.</a:t>
            </a:r>
          </a:p>
          <a:p>
            <a:pPr rtl="0"/>
            <a:r>
              <a:rPr lang="it-IT" dirty="0"/>
              <a:t>Da ricordare la corrispondenza: a bordo CSE diventa RTL e PSC diventa Documento di Sicurezza.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RIFERIMENTO: matrice tra art. 26 TUSL, Titolo IV TUSL e D.Lgs. 272/1999.</a:t>
            </a:r>
          </a:p>
          <a:p>
            <a:pPr rtl="0"/>
            <a:r>
              <a:rPr lang="it-IT" dirty="0"/>
              <a:t>Lavori &lt; 2 giorni e nessuna interferenza -&gt; Documento Informativo (a cura della Ditta). Lavori &gt; 2 giorni o con interferenze -&gt; DUVRI (a cura del Committente/Stazione Appaltante).</a:t>
            </a:r>
          </a:p>
          <a:p>
            <a:pPr rtl="0"/>
            <a:r>
              <a:rPr lang="it-IT" dirty="0"/>
              <a:t>Cantiere a terra (ponteggi, edili) -&gt; PSC (CSP/CSE nominato dal Committente). Lavori a bordo nave (sosta lavori, bacino) -&gt; Documento di Sicurezza (RTL dell'Impresa Capo Commessa).</a:t>
            </a:r>
          </a:p>
          <a:p>
            <a:pPr rtl="0"/>
            <a:r>
              <a:rPr lang="it-IT" dirty="0"/>
              <a:t>Regola mnemonica: a bordo nave = Documento di Sicurezza con RTL; a terra = Titolo IV con CSE.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RIFERIMENTO: Art. 116 SMM-PREVA-1062 (contenuti del Documento di Sicurezza).</a:t>
            </a:r>
          </a:p>
          <a:p>
            <a:pPr rtl="0"/>
            <a:r>
              <a:rPr lang="it-IT" dirty="0"/>
              <a:t>Contenuti obbligatori: cronoprogramma (fasi, durata, numero operatori per fase); analisi dei rischi interferenziali; misure di prevenzione (DPI, procedure, protezioni collettive); gestione delle emergenze (evacuazione, primo soccorso, antincendio coordinato col bordo).</a:t>
            </a:r>
          </a:p>
          <a:p>
            <a:pPr rtl="0"/>
            <a:r>
              <a:rPr lang="it-IT" dirty="0"/>
              <a:t>Firme: il documento va controfirmato da TUTTI i datori di lavoro delle ditte operanti a bordo. Senza Documento di Sicurezza firmato da tutte le ditte = stop immediato ai lavori.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RIFERIMENTO: errori ricorrenti nell'applicazione di art. 26 TUSL, Titolo IV e D.Lgs. 272/1999.</a:t>
            </a:r>
          </a:p>
          <a:p>
            <a:pPr rtl="0"/>
            <a:r>
              <a:rPr lang="it-IT" dirty="0"/>
              <a:t>Errore 1: confondere DUVRI e POS (il POS e' interno alla ditta; il DUVRI valuta le interferenze). Errore 2: applicare il Titolo IV (CSE/PSC) ai lavori a bordo nave (a bordo vale il 272/99).</a:t>
            </a:r>
          </a:p>
          <a:p>
            <a:pPr rtl="0"/>
            <a:r>
              <a:rPr lang="it-IT" dirty="0"/>
              <a:t>Errore 3: far redigere il Documento di Sicurezza al Comando (spetta all'RTL dell'Impresa Capo Commessa). Errore 4: iniziare i lavori senza DUVRI/Documento Informativo firmato (illegale).</a:t>
            </a:r>
          </a:p>
          <a:p>
            <a:pPr rtl="0"/>
            <a:r>
              <a:rPr lang="it-IT" dirty="0"/>
              <a:t>Conseguenza: documentazione incompleta o errata espone il Comandante a responsabilita' penale.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RIFERIMENTO: PSBM001A, Par. 4.1.</a:t>
            </a:r>
          </a:p>
          <a:p>
            <a:pPr rtl="0"/>
            <a:r>
              <a:rPr lang="it-IT" dirty="0"/>
              <a:t>T-60 giorni: l'Ufficio di Programma inoltra la richiesta di ingresso al Nucleo Bacini almeno due mesi prima. La Sezione Bacini valuta tempi, risorse e materiali per il piano di posa.</a:t>
            </a:r>
          </a:p>
          <a:p>
            <a:pPr rtl="0"/>
            <a:r>
              <a:rPr lang="it-IT" dirty="0"/>
              <a:t>Si definisce la data presunta di ingresso. Il tempismo della richiesta e' la prima barriera di sicurezza del processo.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RIFERIMENTO: PSBM001A, Par. 4.2 e 4.3.</a:t>
            </a:r>
          </a:p>
          <a:p>
            <a:pPr rtl="0"/>
            <a:r>
              <a:rPr lang="it-IT" dirty="0"/>
              <a:t>T-30 giorni: fornire al Nucleo Bacini i disegni del piano nominale delle taccate (viste laterali, pianta, sezioni) e segnalare anomalie strutturali e sporgenze fisse sotto la chiglia.</a:t>
            </a:r>
          </a:p>
          <a:p>
            <a:pPr rtl="0"/>
            <a:r>
              <a:rPr lang="it-IT" dirty="0"/>
              <a:t>Sulla base dei disegni l'Arsenale elabora la messa a secco e comunica la data esatta. L'omissione di sporgenze puo' distruggere le taccate.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RIFERIMENTO: PSBM001A, Par. 4.3 e 5.1.</a:t>
            </a:r>
          </a:p>
          <a:p>
            <a:pPr rtl="0"/>
            <a:r>
              <a:rPr lang="it-IT" dirty="0"/>
              <a:t>T-15 giorni: il Direttore di Macchina (o C.te Piattaforma) concorda l'assetto preventivo con il Nucleo Bacini. Obiettivo: minimizzare la rotazione in fase di appoggio.</a:t>
            </a:r>
          </a:p>
          <a:p>
            <a:pPr rtl="0"/>
            <a:r>
              <a:rPr lang="it-IT" dirty="0"/>
              <a:t>Comunicare l'esatta posizione dei carichi liquidi e mobili rimasti a bordo. Un buon assetto previene crolli e cedimenti.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RIFERIMENTO: PSBM001A (riunione propedeutica obbligatoria).</a:t>
            </a:r>
          </a:p>
          <a:p>
            <a:pPr rtl="0"/>
            <a:r>
              <a:rPr lang="it-IT" dirty="0"/>
              <a:t>T-7 giorni: riunione con Ufficio Programma, Bordo, Sezione Bacini e MARISTANAV per definire ruoli, comandate e logistica (apertura ponte, tonneggi). Possibile incontro di dettaglio a T-2/T-1.</a:t>
            </a:r>
          </a:p>
          <a:p>
            <a:pPr rtl="0"/>
            <a:r>
              <a:rPr lang="it-IT" dirty="0"/>
              <a:t>Azione del Comandante: presenziare o delegare un Ufficiale con potere decisionale. A T-7 non devono piu' esistere incertezze.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RIFERIMENTO: NAV-G-001 e PSBM001A, Par. 4.3 (sbarco pesi).</a:t>
            </a:r>
          </a:p>
          <a:p>
            <a:pPr rtl="0"/>
            <a:r>
              <a:rPr lang="it-IT" dirty="0"/>
              <a:t>Operazioni preliminari: sbarco obbligatorio di munizioni ed esplosivi; sbarco dei combustibili entro i limiti stabiliti; rizzaggio stringente dei materiali mobili sui ponti (es. trincarini).</a:t>
            </a:r>
          </a:p>
          <a:p>
            <a:pPr rtl="0"/>
            <a:r>
              <a:rPr lang="it-IT" dirty="0"/>
              <a:t>Principio: nave piu' leggera e vuota = bacino piu' sicuro e assetto piu' controllabile.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RIFERIMENTO: PSBM001A, Par. 4.3 e 4.5 (sentine e portelleria).</a:t>
            </a:r>
          </a:p>
          <a:p>
            <a:pPr rtl="0"/>
            <a:r>
              <a:rPr lang="it-IT" dirty="0"/>
              <a:t>Prosciugamento totale di tutte le sentine prima dell'ingresso; sigillatura e chiusura della portelleria esterna fino alla messa a secco.</a:t>
            </a:r>
          </a:p>
          <a:p>
            <a:pPr rtl="0"/>
            <a:r>
              <a:rPr lang="it-IT" dirty="0"/>
              <a:t>Evitare travasi accidentali che alterino il bilanciamento. La nave va sigillata contro allagamenti o sbilanciamenti accidentali.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RIFERIMENTO: PSBM001A, Par. 4.3 (certificazione Gas-Free).</a:t>
            </a:r>
          </a:p>
          <a:p>
            <a:pPr rtl="0"/>
            <a:r>
              <a:rPr lang="it-IT" dirty="0"/>
              <a:t>Pulizia e gas-free dei depositi nafta prima dell'ingresso: procedura vitale se sono previsti lavori con fiamme libere nelle vicinanze.</a:t>
            </a:r>
          </a:p>
          <a:p>
            <a:pPr rtl="0"/>
            <a:r>
              <a:rPr lang="it-IT" dirty="0"/>
              <a:t>In assenza di certificato, e' vietata ogni autorizzazione a operazioni 'a caldo'. Nessun Gas-Free = nessuna fiamma libera autorizzata.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RIFERIMENTO: PSBM001A, Par. 4.2 e 4.4 (mezzi di supporto esterni).</a:t>
            </a:r>
          </a:p>
          <a:p>
            <a:pPr rtl="0"/>
            <a:r>
              <a:rPr lang="it-IT" dirty="0"/>
              <a:t>Il Comando gestisce la messaggistica per i rimorchiatori e i mezzi MARISTANAV e richiede la comandata di terra per i tonneggi da banchina.</a:t>
            </a:r>
          </a:p>
          <a:p>
            <a:pPr rtl="0"/>
            <a:r>
              <a:rPr lang="it-IT" dirty="0"/>
              <a:t>Nessun rimorchiatore supera l'imboccatura del bacino: la forza motrice esterna si ferma alla porta del bacino.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RIFERIMENTO: PSBM001A, Allegato 1 (Check-List operativa PSBM001A.A01).</a:t>
            </a:r>
          </a:p>
          <a:p>
            <a:pPr rtl="0"/>
            <a:r>
              <a:rPr lang="it-IT" dirty="0"/>
              <a:t>L'ingresso e' vincolato alla check-list di 27 step ufficiali, che include l'approntamento e i test su pompe, argani e pulizia platea.</a:t>
            </a:r>
          </a:p>
          <a:p>
            <a:pPr rtl="0"/>
            <a:r>
              <a:rPr lang="it-IT" dirty="0"/>
              <a:t>Il Comando Bordo spunta i passi autorizzativi (assetto, portelleria) insieme al Capo Bacini. La check-list e' il logbook legale in caso di incidente.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RIFERIMENTO: PSBM001A, Allegato 1, Step 7-8 (verifica infrastrutturale).</a:t>
            </a:r>
          </a:p>
          <a:p>
            <a:pPr rtl="0"/>
            <a:r>
              <a:rPr lang="it-IT" dirty="0"/>
              <a:t>Prima di autorizzare l'ingresso l'Arsenale verifica pompe antincendio e di prosciugamento e ispeziona la platea per assenza di ingombri.</a:t>
            </a:r>
          </a:p>
          <a:p>
            <a:pPr rtl="0"/>
            <a:r>
              <a:rPr lang="it-IT" dirty="0"/>
              <a:t>Il Comandante accerta indirettamente che il sito sia recettivo e sicuro: non forzare l'ingresso se l'impianto a terra ha deficienze.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RIFERIMENTO: PSBM001A, Par. 4.4 (briefing di sicurezza equipaggio).</a:t>
            </a:r>
          </a:p>
          <a:p>
            <a:pPr rtl="0"/>
            <a:r>
              <a:rPr lang="it-IT" dirty="0"/>
              <a:t>Definire ruoli di manovra e comunicazioni; distribuire i DPI (elmetto, scarpe antinfortunistiche, alta visibilita'); garantire guanti contro i rischi meccanici nella gestione dei cavi.</a:t>
            </a:r>
          </a:p>
          <a:p>
            <a:pPr rtl="0"/>
            <a:r>
              <a:rPr lang="it-IT" dirty="0"/>
              <a:t>Nessuno sul ponte senza DPI completi durante l'ingresso. Collega al quadro DPI ex Titolo III TUSL.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RIFERIMENTO: PSBM001A, Allegato 1 e Par. 5.2 (comunicazioni in avvicinamento).</a:t>
            </a:r>
          </a:p>
          <a:p>
            <a:pPr rtl="0"/>
            <a:r>
              <a:rPr lang="it-IT" dirty="0"/>
              <a:t>Stabilire un canale VHF prioritario con il Nucleo Bacini; mantenere il silenzio radio sulle reti non essenziali; comunicare ogni anomalia all'istante bloccando l'allineamento.</a:t>
            </a:r>
          </a:p>
          <a:p>
            <a:pPr rtl="0"/>
            <a:r>
              <a:rPr lang="it-IT" dirty="0"/>
              <a:t>Principio: un unico canale, ordini inequivocabili.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RIFERIMENTO: PSBM001A, Par. 4.4 (imboccatura).</a:t>
            </a:r>
          </a:p>
          <a:p>
            <a:pPr rtl="0"/>
            <a:r>
              <a:rPr lang="it-IT" dirty="0"/>
              <a:t>Imboccata la porta, e' severamente vietato l'uso delle eliche di bordo: l'avanzamento avviene solo con tonneggi e argani.</a:t>
            </a:r>
          </a:p>
          <a:p>
            <a:pPr rtl="0"/>
            <a:r>
              <a:rPr lang="it-IT" dirty="0"/>
              <a:t>Il Comandante ordina il tiro sui cavi senza ausilio di mezzi esterni. Spento l'asse, inizia la trazione manuale.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RIFERIMENTO: PSBM001A, Par. 5.3 (Fase A - comando in galleggiamento).</a:t>
            </a:r>
          </a:p>
          <a:p>
            <a:pPr rtl="0"/>
            <a:r>
              <a:rPr lang="it-IT" dirty="0"/>
              <a:t>Finche' la nave galleggia sui propri cavi, Comando e Controllo restano del Comandante e la responsabilita' civile e penale per impatti e danni e' del bordo.</a:t>
            </a:r>
          </a:p>
          <a:p>
            <a:pPr rtl="0"/>
            <a:r>
              <a:rPr lang="it-IT" dirty="0"/>
              <a:t>L'unita' si posiziona seguendo i traguardi ottici a terra del Nucleo Bacini. Finche' l'acqua sostiene la nave, decide il Comandante.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RIFERIMENTO: PSBM001A, Par. 5.3 e Allegato 1 (Fase B - centratura).</a:t>
            </a:r>
          </a:p>
          <a:p>
            <a:pPr rtl="0"/>
            <a:r>
              <a:rPr lang="it-IT" dirty="0"/>
              <a:t>Stop al prosciugamento a circa 2 metri dal piano di posa; l'Arsenale installa i paranchi di centratura sugli argani a terra; l'equipaggio collega l'altro lato alle bitte di bordo.</a:t>
            </a:r>
          </a:p>
          <a:p>
            <a:pPr rtl="0"/>
            <a:r>
              <a:rPr lang="it-IT" dirty="0"/>
              <a:t>I paranchi rappresentano la linea di demarcazione delle responsabilita' tra nave e Arsenale.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RIFERIMENTO: PSBM001A, Par. 5.3 (Fase C - passaggio di comando, MOMENTO CRITICO).</a:t>
            </a:r>
          </a:p>
          <a:p>
            <a:pPr rtl="0"/>
            <a:r>
              <a:rPr lang="it-IT" dirty="0"/>
              <a:t>Il Capo Nucleo chiama il Comandante via VHF e dichiara formalmente il passaggio di Responsabilita', Comando e Controllo all'Arsenale.</a:t>
            </a:r>
          </a:p>
          <a:p>
            <a:pPr rtl="0"/>
            <a:r>
              <a:rPr lang="it-IT" dirty="0"/>
              <a:t>Da quell'istante ogni ordine per la messa a secco e' dell'Arsenale. Pretendere chiarezza assoluta via radio e REGISTRARE il momento: vale come prova in un eventuale processo.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RIFERIMENTO: PSBM001A, Allegato 1 (discesa e ispezione palombari).</a:t>
            </a:r>
          </a:p>
          <a:p>
            <a:pPr rtl="0"/>
            <a:r>
              <a:rPr lang="it-IT" dirty="0"/>
              <a:t>La nave viene posta in black-out elettrico; il Nucleo SDAI/palombari ispeziona centratura, paglietto e gargame; si riprende il prosciugamento fino all'incaglio strutturale.</a:t>
            </a:r>
          </a:p>
          <a:p>
            <a:pPr rtl="0"/>
            <a:r>
              <a:rPr lang="it-IT" dirty="0"/>
              <a:t>A bordo nessuno si muove finche' l'appoggio non e' definitivo.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RIFERIMENTO: PSBM001A, Par. 4.5 (divieto di spostare pesi in bacino).</a:t>
            </a:r>
          </a:p>
          <a:p>
            <a:pPr rtl="0"/>
            <a:r>
              <a:rPr lang="it-IT" dirty="0"/>
              <a:t>Con nave a secco e' vietato svuotare/riempire casse, zavorre o caldaie: ogni spostamento non concordato compromette l'equilibrio trasversale.</a:t>
            </a:r>
          </a:p>
          <a:p>
            <a:pPr rtl="0"/>
            <a:r>
              <a:rPr lang="it-IT" dirty="0"/>
              <a:t>Eventuali deroghe solo con approvazione scritta della Direzione Arsenale. La nave e' in equilibrio precario: una cassa vuotata puo' ribaltarla.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RIFERIMENTO: PSBM001A, Par. 4.5 (messa a terra dello scafo).</a:t>
            </a:r>
          </a:p>
          <a:p>
            <a:pPr rtl="0"/>
            <a:r>
              <a:rPr lang="it-IT" dirty="0"/>
              <a:t>Il Comandante accerta subito il collegamento di messa a terra: il cavo fornito dall'Arsenale deve avere solido contatto metallico tra scafo e bacino.</a:t>
            </a:r>
          </a:p>
          <a:p>
            <a:pPr rtl="0"/>
            <a:r>
              <a:rPr lang="it-IT" dirty="0"/>
              <a:t>Essenziale per autorizzare le saldature delle ditte e per evitare folgorazioni. Niente massa a terra = nessun cavo elettrico sotto tensione.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RIFERIMENTO: PSBM001A, Par. 4.5 (passerelle).</a:t>
            </a:r>
          </a:p>
          <a:p>
            <a:pPr rtl="0"/>
            <a:r>
              <a:rPr lang="it-IT" dirty="0"/>
              <a:t>Le passerelle vanno assicurate con robuste legature a bordo e a terra; cartello di divieto di affollamento/stazionamento/transito a passo cadenzato; obbligo di mantenere un metro di distanza.</a:t>
            </a:r>
          </a:p>
          <a:p>
            <a:pPr rtl="0"/>
            <a:r>
              <a:rPr lang="it-IT" dirty="0"/>
              <a:t>Le passerelle sono vie di transito, mai zone di sosta (rischio di sovraccarico e oscillazioni).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RIFERIMENTO: PSBM001A, Allegato 1, Step 24-25 (servizi vitali di bordo).</a:t>
            </a:r>
          </a:p>
          <a:p>
            <a:pPr rtl="0"/>
            <a:r>
              <a:rPr lang="it-IT" dirty="0"/>
              <a:t>Passaggio dei cavi di alimentazione di terra e fine del black-out; collegamento utenze antincendio e circuito acqua dolce; messa in rete di segnalazione e illuminazione essenziali.</a:t>
            </a:r>
          </a:p>
          <a:p>
            <a:pPr rtl="0"/>
            <a:r>
              <a:rPr lang="it-IT" dirty="0"/>
              <a:t>Ridare energia alla nave con le dovute cautele (sequenza e verifiche).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RIFERIMENTO: PSBM001A, Par. 4.5 (servizio di sentinella).</a:t>
            </a:r>
          </a:p>
          <a:p>
            <a:pPr rtl="0"/>
            <a:r>
              <a:rPr lang="it-IT" dirty="0"/>
              <a:t>Stabilire un servizio di sentinella rivolto verso la porta del bacino; impedire stazionamenti di curiosi e depositi di cantiere sulla porta; prevenire manomissioni alle valvole.</a:t>
            </a:r>
          </a:p>
          <a:p>
            <a:pPr rtl="0"/>
            <a:r>
              <a:rPr lang="it-IT" dirty="0"/>
              <a:t>La porta del bacino e' una barriera vitale: va presidiata.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RIFERIMENTO: PSBM001A, Par. 5.3 (manovra di uscita).</a:t>
            </a:r>
          </a:p>
          <a:p>
            <a:pPr rtl="0"/>
            <a:r>
              <a:rPr lang="it-IT" dirty="0"/>
              <a:t>Verificare che casse, assetti e portellerie siano nello stato previsto per galleggiare; accertare il termine dei lavori sull'opera viva.</a:t>
            </a:r>
          </a:p>
          <a:p>
            <a:pPr rtl="0"/>
            <a:r>
              <a:rPr lang="it-IT" dirty="0"/>
              <a:t>Responsabilita', Comando e Controllo tornano alla Nave nel momento del galleggiamento. L'acqua che sale restituisce il comando.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RIFERIMENTO: PSBM001A, Par. 4.5 e 5.3 (verifica sbandamento in uscita).</a:t>
            </a:r>
          </a:p>
          <a:p>
            <a:pPr rtl="0"/>
            <a:r>
              <a:rPr lang="it-IT" dirty="0"/>
              <a:t>Massima attenzione quando la nave si stacca dalle taccate: controllo immediato dell'assetto trasversale e longitudinale; comunicazione su VHF; uscita solo a motori spenti.</a:t>
            </a:r>
          </a:p>
          <a:p>
            <a:pPr rtl="0"/>
            <a:r>
              <a:rPr lang="it-IT" dirty="0"/>
              <a:t>Se la nave pende, fermare tutto e richiamare il prosciugamento.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RIFERIMENTO: PSBM001A, Par. 4.6 (Verbale di Passaggio Consegne PSBM001A.A02).</a:t>
            </a:r>
          </a:p>
          <a:p>
            <a:pPr rtl="0"/>
            <a:r>
              <a:rPr lang="it-IT" dirty="0"/>
              <a:t>Modulo formale tra Bacino e Unita', redatto prima dell'avvio dei lavori: delega i poteri e formalizza l'uso degli impianti (antincendio, elettrico).</a:t>
            </a:r>
          </a:p>
          <a:p>
            <a:pPr rtl="0"/>
            <a:r>
              <a:rPr lang="it-IT" dirty="0"/>
              <a:t>Controfirmato da Comandante, Capo Bacini, Ditte e Ufficio Programma. E' la 'dichiarazione' contrattuale che definisce ruoli e responsabilita' nel bacino.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RIFERIMENTO: PSBM001A, Par. 5.4.3 e Allegato 2 (cessione rete antincendio).</a:t>
            </a:r>
          </a:p>
          <a:p>
            <a:pPr rtl="0"/>
            <a:r>
              <a:rPr lang="it-IT" dirty="0"/>
              <a:t>L'impianto fisso A.I. del bacino e' ceduto formalmente all'uso del personale di bordo; il personale SAP va addestrato dall'Arsenale e deve indossare cuffie antirumore.</a:t>
            </a:r>
          </a:p>
          <a:p>
            <a:pPr rtl="0"/>
            <a:r>
              <a:rPr lang="it-IT" dirty="0"/>
              <a:t>Annotare giornalmente su registro le ore di funzionamento delle pompe e le pressioni (Atm). L'impianto e' a terra, ma in emergenza lo aziona il bordo.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RIFERIMENTO: PSBM001A, Par. 4.6.1 (barriera acque di processo).</a:t>
            </a:r>
          </a:p>
          <a:p>
            <a:pPr rtl="0"/>
            <a:r>
              <a:rPr lang="it-IT" dirty="0"/>
              <a:t>Il Comando vigila sul posizionamento della barriera ecologica nella platea, che separa i pozzetti di prosciugamento dalle aree di lavorazione.</a:t>
            </a:r>
          </a:p>
          <a:p>
            <a:pPr rtl="0"/>
            <a:r>
              <a:rPr lang="it-IT" dirty="0"/>
              <a:t>Evita denunce ambientali per contaminazione del mare. La platea non e' un tombino industriale.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RIFERIMENTO: PSBM001A, Par. 5.4.2 (smaltimento rifiuti di cantiere).</a:t>
            </a:r>
          </a:p>
          <a:p>
            <a:pPr rtl="0"/>
            <a:r>
              <a:rPr lang="it-IT" dirty="0"/>
              <a:t>Responsabilita' di Ufficio Programma e Comando nel supervisionare le ditte: i residui di sabbiature, pitturazioni e vernici non devono accumularsi.</a:t>
            </a:r>
          </a:p>
          <a:p>
            <a:pPr rtl="0"/>
            <a:r>
              <a:rPr lang="it-IT" dirty="0"/>
              <a:t>Applicazione severa del divieto di abbandono rifiuti in platea/banchina. Un cantiere sporco e' pericoloso e illegale.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RIFERIMENTO: Art. 111 SMM-PREVA-1062 (spazi confinati).</a:t>
            </a:r>
          </a:p>
          <a:p>
            <a:pPr rtl="0"/>
            <a:r>
              <a:rPr lang="it-IT" dirty="0"/>
              <a:t>Sentine, doppifondi e cisterne: l'accesso di ditte/equipaggio e' severamente regolato. Bonifica preventiva e Gas-Free con attestazione di LEL e O2.</a:t>
            </a:r>
          </a:p>
          <a:p>
            <a:pPr rtl="0"/>
            <a:r>
              <a:rPr lang="it-IT" dirty="0"/>
              <a:t>Personale all'esterno per recupero e ventilazione forzata continua. Spazio confinato = atmosfera potenzialmente mortale (richiama anche DPR 177/2011).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RIFERIMENTO: Art. 113, commi 5-7, SMM-PREVA-1062 (Preposti nave per l'Alta Vigilanza).</a:t>
            </a:r>
          </a:p>
          <a:p>
            <a:pPr rtl="0"/>
            <a:r>
              <a:rPr lang="it-IT" dirty="0"/>
              <a:t>Il Comandante nomina incaricati/rappresentanti per scortare e vigilare i civili a bordo; svolgono un ruolo ispettivo senza mai dire 'come' eseguire un lavoro.</a:t>
            </a:r>
          </a:p>
          <a:p>
            <a:pPr rtl="0"/>
            <a:r>
              <a:rPr lang="it-IT" dirty="0"/>
              <a:t>Segnalano all'RTL eventuali abusi o mancanza di DPI. Scegliere Preposti formati, attenti e che non si ingeriscano (vigilanza, non direzione).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RIFERIMENTO: Art. 111, comma 4, SMM-PREVA-1062 (lavorazioni elettriche e permessi di lavoro).</a:t>
            </a:r>
          </a:p>
          <a:p>
            <a:pPr rtl="0"/>
            <a:r>
              <a:rPr lang="it-IT" dirty="0"/>
              <a:t>Nessun intervento senza blocco del quadro principale (LOTO); cartelli monitori 'VIETATO MANOVRARE - LAVORI IN CORSO'; per lavori in tensione/AT serve abilitazione PES/PAV/IMAT (CEI 11-27).</a:t>
            </a:r>
          </a:p>
          <a:p>
            <a:pPr rtl="0"/>
            <a:r>
              <a:rPr lang="it-IT" dirty="0"/>
              <a:t>Sequenza: isolare, mettere a terra, apporre il lucchetto.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RIFERIMENTO: Art. 107 SMM-PREVA-1062 (fornitura attrezzature ai civili).</a:t>
            </a:r>
          </a:p>
          <a:p>
            <a:pPr rtl="0"/>
            <a:r>
              <a:rPr lang="it-IT" dirty="0"/>
              <a:t>Il prestito di attrezzature militari ai civili e' ammesso tramite consegna formale e con registri di collaudo in regola; l'attrezzo deve essere marcato CE o conforme all'Allegato V del TUSL.</a:t>
            </a:r>
          </a:p>
          <a:p>
            <a:pPr rtl="0"/>
            <a:r>
              <a:rPr lang="it-IT" dirty="0"/>
              <a:t>L'onere della formazione per l'uso in sicurezza ricade sul datore di lavoro civile. Prestare una gru senza collaudo significa accollarsi l'incidente.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RIFERIMENTO: Art. 108 SMM-PREVA-1062 (DPI).</a:t>
            </a:r>
          </a:p>
          <a:p>
            <a:pPr rtl="0"/>
            <a:r>
              <a:rPr lang="it-IT" dirty="0"/>
              <a:t>Equipaggio e ditte condividono gli stessi obblighi sui DPI nei locali operativi; il Comando assicura la distribuzione di tappi/cuffie contro il rumore delle lavorazioni pesanti.</a:t>
            </a:r>
          </a:p>
          <a:p>
            <a:pPr rtl="0"/>
            <a:r>
              <a:rPr lang="it-IT" dirty="0"/>
              <a:t>Tolleranza zero verso chi e' sprovvisto di elmetto. Collega al Titolo III, Capo II del D.Lgs. 81/2008.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RIFERIMENTO: Art. 106 SMM-PREVA-1062 (macchinari nuovi o di sostituzione).</a:t>
            </a:r>
          </a:p>
          <a:p>
            <a:pPr rtl="0"/>
            <a:r>
              <a:rPr lang="it-IT" dirty="0"/>
              <a:t>Al cambio di apparecchiature verificare manuali CE, libretti d'uso e dichiarazione di conformita'; aggiornare subito le procedure di emergenza; qualificare l'equipaggio sui nuovi rischi.</a:t>
            </a:r>
          </a:p>
          <a:p>
            <a:pPr rtl="0"/>
            <a:r>
              <a:rPr lang="it-IT" dirty="0"/>
              <a:t>Mai autorizzare l'uso prima del collaudo finale.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RIFERIMENTO: Allegato III-2 SMM-PREVA-1062 (fattori umani / fatigue management).</a:t>
            </a:r>
          </a:p>
          <a:p>
            <a:pPr rtl="0"/>
            <a:r>
              <a:rPr lang="it-IT" dirty="0"/>
              <a:t>Sorveglianza in cantiere e rumore aumentano la fatica operativa; valutare la rotazione dei turni di guardia in platea o di preposto.</a:t>
            </a:r>
          </a:p>
          <a:p>
            <a:pPr rtl="0"/>
            <a:r>
              <a:rPr lang="it-IT" dirty="0"/>
              <a:t>Lo stress e la stanchezza sono tra le prime cause di errori fatali (slip/mistake). Ruotare il personale per mantenere alta l'attenzione.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RIFERIMENTO: Art. 116, comma 9, SMM-PREVA-1062 (Giornate della Sicurezza).</a:t>
            </a:r>
          </a:p>
          <a:p>
            <a:pPr rtl="0"/>
            <a:r>
              <a:rPr lang="it-IT" dirty="0"/>
              <a:t>Promosse dall'RTL durante le soste prolungate con presenza delle ditte; servono a riallineare equipaggio e operai sui rischi specifici (incendi, DPI) e ad aumentare il coordinamento militare-civile.</a:t>
            </a:r>
          </a:p>
          <a:p>
            <a:pPr rtl="0"/>
            <a:r>
              <a:rPr lang="it-IT" dirty="0"/>
              <a:t>Prevenire costa meno che gestire un incidente grave.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RIFERIMENTO: Art. 118 SMM-PREVA-1062 (isolamento di aree della nave).</a:t>
            </a:r>
          </a:p>
          <a:p>
            <a:pPr rtl="0"/>
            <a:r>
              <a:rPr lang="it-IT" dirty="0"/>
              <a:t>Per interventi invasivi (es. amianto) il Comando non gestisce incendi/allagamenti nell'area; si redige un verbale di consegna e la custodia passa all'Impresa, che attiva un servizio dedicato di guardia fuochi.</a:t>
            </a:r>
          </a:p>
          <a:p>
            <a:pPr rtl="0"/>
            <a:r>
              <a:rPr lang="it-IT" dirty="0"/>
              <a:t>Area consegnata = accesso negato all'equipaggio (responsabilita' in capo all'impresa).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RIFERIMENTO: Art. 116, comma 10, SMM-PREVA-1062 (supporto operativo della nave).</a:t>
            </a:r>
          </a:p>
          <a:p>
            <a:pPr rtl="0"/>
            <a:r>
              <a:rPr lang="it-IT" dirty="0"/>
              <a:t>Il bordo concorre al Piano di Emergenza antincendio; l'equipaggio mantiene in sicurezza gli impianti non interessati dai lavori; il Comando controlla gli accessi e l'uso dei DPI.</a:t>
            </a:r>
          </a:p>
          <a:p>
            <a:pPr rtl="0"/>
            <a:r>
              <a:rPr lang="it-IT" dirty="0"/>
              <a:t>La nave resta sotto la responsabilita' del Comando anche quando e' un cantiere.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RIFERIMENTO: PSBM001A (rubrica delle emergenze) - numeri interni Marinarsen.</a:t>
            </a:r>
          </a:p>
          <a:p>
            <a:pPr rtl="0"/>
            <a:r>
              <a:rPr lang="it-IT" dirty="0"/>
              <a:t>Guardia Bacini H24: 22916 (emergenze, notte/festivi). Capo Nucleo Bacini in Muratura: 23762 (orario lavorativo, problemi operativi).</a:t>
            </a:r>
          </a:p>
          <a:p>
            <a:pPr rtl="0"/>
            <a:r>
              <a:rPr lang="it-IT" dirty="0"/>
              <a:t>Sezione Reti Marinarsen: 22064 (guasti elettrici). Sezione Sanitaria: 22841 (infortuni in orario; fuori orario 118). Stampare la slide e tenerla in plancia.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RIFERIMENTO: Allegato VI-1 SMM-PREVA-1062 (emergenza incendio).</a:t>
            </a:r>
          </a:p>
          <a:p>
            <a:pPr rtl="0"/>
            <a:r>
              <a:rPr lang="it-IT" dirty="0"/>
              <a:t>Principio d'incendio domabile con la rete bacino: intervengono SAP Bordo e/o RTL ditta. Allarme Livello 3: chiamare i Vigili del Fuoco, evacuare ai Punti di Raccolta, attendere ordini.</a:t>
            </a:r>
          </a:p>
          <a:p>
            <a:pPr rtl="0"/>
            <a:r>
              <a:rPr lang="it-IT" dirty="0"/>
              <a:t>Togliere alimentazione elettrica dalla colonnina. Decisione immediata: estinguere subito o evacuare.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RIFERIMENTO: PSBM001A, Allegato 2 (emergenza allagamento).</a:t>
            </a:r>
          </a:p>
          <a:p>
            <a:pPr rtl="0"/>
            <a:r>
              <a:rPr lang="it-IT" dirty="0"/>
              <a:t>Vietato lo scarico di sostanze; in caso di rottura circuiti di bordo, allarmare la Guardia Bacini (22916); la Sezione Bacini attiva le pompe per le acque di processo.</a:t>
            </a:r>
          </a:p>
          <a:p>
            <a:pPr rtl="0"/>
            <a:r>
              <a:rPr lang="it-IT" dirty="0"/>
              <a:t>Se il livello minaccia di superare i vasi, sospendere i lavori elettrici. L'acqua sul fondo raggiunge l'energia: staccare i quadri.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RIFERIMENTO: PSBM001A, Allegato 2 e Art. 56 SMM-PREVA-1062 (infortunio/malore; obblighi di denuncia).</a:t>
            </a:r>
          </a:p>
          <a:p>
            <a:pPr rtl="0"/>
            <a:r>
              <a:rPr lang="it-IT" dirty="0"/>
              <a:t>In orario di servizio chiamare il presidio Sanitario M.M. (22841); il trasporto via passerella e' organizzato dall'equipaggio.</a:t>
            </a:r>
          </a:p>
          <a:p>
            <a:pPr rtl="0"/>
            <a:r>
              <a:rPr lang="it-IT" dirty="0"/>
              <a:t>Segnalare l'incidente per l'attivazione burocratica (richiamo all'art. 56 e agli obblighi del TUSL) entro 48h, o 24h per prognosi gravi. Prima la vittima, poi la denuncia scritta.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RIFERIMENTO: PSBM001A, Allegato 2 (evacuazione dal bacino).</a:t>
            </a:r>
          </a:p>
          <a:p>
            <a:pPr rtl="0"/>
            <a:r>
              <a:rPr lang="it-IT" dirty="0"/>
              <a:t>Il segnale acustico di evacuazione va distinto dalle sirene operative; non usare trincarini o interni nave; dirigersi verso le passerelle seguendo gli scalandroni.</a:t>
            </a:r>
          </a:p>
          <a:p>
            <a:pPr rtl="0"/>
            <a:r>
              <a:rPr lang="it-IT" dirty="0"/>
              <a:t>Punto di Raccolta N. 11 ZONA FERRATI per la conta finale (ditte e personale M.M.). Uscire ordinati: il passo cadenzato puo' rompere la passerella.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RIFERIMENTO: Allegato VI-1 SMM-PREVA-1062 (black-out).</a:t>
            </a:r>
          </a:p>
          <a:p>
            <a:pPr rtl="0"/>
            <a:r>
              <a:rPr lang="it-IT" dirty="0"/>
              <a:t>Assicurarsi del subentro rapido dei gruppi elettrogeni dell'edificio adiacente; allontanare gli operatori dagli ambienti chiusi (senza areazione artificiale il gas-free decade); contattare Reparto Manutenzione/Reti MM (22064).</a:t>
            </a:r>
          </a:p>
          <a:p>
            <a:pPr rtl="0"/>
            <a:r>
              <a:rPr lang="it-IT" dirty="0"/>
              <a:t>Buio = stop alle operazioni a caldo.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RIFERIMENTO: Allegato VI-1 SMM-PREVA-1062 (sversamento sostanze pericolose).</a:t>
            </a:r>
          </a:p>
          <a:p>
            <a:pPr rtl="0"/>
            <a:r>
              <a:rPr lang="it-IT" dirty="0"/>
              <a:t>Isolamento immediato, fermare la sorgente, confinare lo spandimento con il kit anti-sversamento carrellato; richiedere supporto chimico; vietato il lavaggio con lance per non intaccare i pozzetti della platea.</a:t>
            </a:r>
          </a:p>
          <a:p>
            <a:pPr rtl="0"/>
            <a:r>
              <a:rPr lang="it-IT" dirty="0"/>
              <a:t>Dotare i marinai di DPI ad alta protezione e allontanare i non addetti. Il kit antisversamento previene il disastro chimico-ambientale.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RIFERIMENTO: Artt. 113 e 116 SMM-PREVA-1062 (cessazione temporanea dei lavori).</a:t>
            </a:r>
          </a:p>
          <a:p>
            <a:pPr rtl="0"/>
            <a:r>
              <a:rPr lang="it-IT" dirty="0"/>
              <a:t>L'RTL o il Comando bloccano tutto se mancano luce, aerazione o requisiti di sicurezza; segnalazione ufficiale all'Ente Tecnico (Ufficio Programma/Direzione Arsenale) delle difformita'.</a:t>
            </a:r>
          </a:p>
          <a:p>
            <a:pPr rtl="0"/>
            <a:r>
              <a:rPr lang="it-IT" dirty="0"/>
              <a:t>Ripresa solo dopo ripristino delle condizioni previste nel DUVRI o nel Documento di Sicurezza. Chiudere il cantiere oggi per evitare il dramma domani.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RIFERIMENTO: Art. 118 SMM-PREVA-1062 (riconsegna aree e materiali).</a:t>
            </a:r>
          </a:p>
          <a:p>
            <a:pPr rtl="0"/>
            <a:r>
              <a:rPr lang="it-IT" dirty="0"/>
              <a:t>Ripristino formale delle aree di bordo consegnate in isolamento; esigere certificazione conclusiva di rimozione di depositi, cavi volanti e residui; sigillatura delle aperture verso l'esterno per preparare l'uscita.</a:t>
            </a:r>
          </a:p>
          <a:p>
            <a:pPr rtl="0"/>
            <a:r>
              <a:rPr lang="it-IT" dirty="0"/>
              <a:t>La nave va riconsegnata pulita e a chiusura stagna.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RIFERIMENTO: Art. 52 SMM-PREVA-1062 (debriefing, lezioni apprese, PDCA).</a:t>
            </a:r>
          </a:p>
          <a:p>
            <a:pPr rtl="0"/>
            <a:r>
              <a:rPr lang="it-IT" dirty="0"/>
              <a:t>A sosta ultimata, riunire i capi reparto per stilare varianti mitigative future; modificare e registrare le varianti delle circolari (procedure operative) nel DVR; aggiornare Documento di Sicurezza e DVR con le lessons learned.</a:t>
            </a:r>
          </a:p>
          <a:p>
            <a:pPr rtl="0"/>
            <a:r>
              <a:rPr lang="it-IT" dirty="0"/>
              <a:t>Logica del miglioramento continuo (Plan-Do-Check-Act): non ripetere il rischio della sosta precedente.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RIFERIMENTO: PSBM001A, Par. 5.3 (ripresa del comando).</a:t>
            </a:r>
          </a:p>
          <a:p>
            <a:pPr rtl="0"/>
            <a:r>
              <a:rPr lang="it-IT" dirty="0"/>
              <a:t>Con l'apertura delle saracinesche l'acqua fa perdere aderenza alle taccate: massima attenzione ai rumori strutturali; il Comando e Controllo tornano al Comandante non appena la nave galleggia.</a:t>
            </a:r>
          </a:p>
          <a:p>
            <a:pPr rtl="0"/>
            <a:r>
              <a:rPr lang="it-IT" dirty="0"/>
              <a:t>Procedura inversa all'ingresso: tonneggi, ordine radio incondizionato, niente eliche in darsena.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 dirty="0"/>
              <a:t>RIFERIMENTI DI SINTESI: D.Lgs. 81/2008 (DUVRI), D.Lgs. 272/1999 e art. 116 SMM-PREVA-1062 (Documento di Sicurezza), art. 113 (Alta Vigilanza).</a:t>
            </a:r>
          </a:p>
          <a:p>
            <a:pPr rtl="0"/>
            <a:r>
              <a:rPr lang="it-IT" dirty="0"/>
              <a:t>Messaggi finali: mai interferire attivamente con il cantiere; esigere sempre DUVRI/Documento di Sicurezza; l'appoggio sulle taccate si negozia ma lo decide l'Arsenale.</a:t>
            </a:r>
          </a:p>
          <a:p>
            <a:pPr rtl="0"/>
            <a:r>
              <a:rPr lang="it-IT" dirty="0"/>
              <a:t>Logistica, posizionamento DPI e prontezza antincendio di bordo non vanno mai trascurati. Gestire correttamente i rischi in bacino qualifica il Comandante. Spazio per Q&amp;A.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pic>
        <p:nvPicPr>
          <p:cNvPr id="11" name="Immagine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rtlCol="0" anchor="ctr">
            <a:normAutofit/>
          </a:bodyPr>
          <a:lstStyle>
            <a:lvl1pPr algn="l">
              <a:defRPr sz="4400" cap="all" baseline="0"/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it-IT" noProof="0"/>
              <a:t>Fare clic per modificare lo stile del sottotitolo dello schema</a:t>
            </a:r>
          </a:p>
        </p:txBody>
      </p:sp>
      <p:sp>
        <p:nvSpPr>
          <p:cNvPr id="7" name="Rettangolo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pPr rtl="0"/>
            <a:fld id="{57357D53-8FB3-4E65-898F-CE944B0347C8}" type="datetime1">
              <a:rPr lang="it-IT" noProof="0" smtClean="0"/>
              <a:t>24/06/2026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pPr rtl="0"/>
            <a:fld id="{0FF54DE5-C571-48E8-A5BC-B369434E2F44}" type="slidenum">
              <a:rPr lang="it-IT" noProof="0" smtClean="0"/>
              <a:pPr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65975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A02612B-950C-4B69-B3CC-A899FF39363D}" type="datetime1">
              <a:rPr lang="it-IT" noProof="0" smtClean="0"/>
              <a:t>24/06/2026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it-IT" noProof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titolo con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rtlCol="0" anchor="ctr">
            <a:normAutofit/>
          </a:bodyPr>
          <a:lstStyle>
            <a:lvl1pPr algn="l">
              <a:defRPr sz="4400" cap="all" baseline="0"/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it-IT" noProof="0"/>
              <a:t>Fare clic per modificare lo stile del sottotitolo dello schema</a:t>
            </a:r>
          </a:p>
        </p:txBody>
      </p:sp>
      <p:sp>
        <p:nvSpPr>
          <p:cNvPr id="11" name="Segnaposto immagine 10" descr="Segnaposto vuoto per aggiungere un'immagine. Fare clic sul segnaposto e selezionare l'immagine che si vuole aggiungere.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it-IT" noProof="0"/>
              <a:t>Fare clic sull'icona per inserire un'immagine</a:t>
            </a:r>
          </a:p>
        </p:txBody>
      </p:sp>
      <p:sp>
        <p:nvSpPr>
          <p:cNvPr id="8" name="Rettangolo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grpSp>
        <p:nvGrpSpPr>
          <p:cNvPr id="14" name="Gruppo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Connettore diritto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ttore diritto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Immagine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grpSp>
        <p:nvGrpSpPr>
          <p:cNvPr id="13" name="Gruppo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Connettore diritto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ttore diritto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ttangolo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673943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o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uppo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Connettore diritto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Connettore diritto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ttangolo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it-IT" noProof="0"/>
            </a:p>
          </p:txBody>
        </p:sp>
        <p:grpSp>
          <p:nvGrpSpPr>
            <p:cNvPr id="11" name="Gruppo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Connettore diritto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Connettore diritto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Immagine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rtlCol="0"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 rtlCol="0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3F6C6B6-6359-4C94-ABF9-C406F36C33CA}" type="datetime1">
              <a:rPr lang="it-IT" noProof="0" smtClean="0"/>
              <a:t>24/06/2026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it-IT" noProof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60267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0E5DF46-A41A-4BE5-9396-C6E7ECBE5CF6}" type="datetime1">
              <a:rPr lang="it-IT" noProof="0" smtClean="0"/>
              <a:t>24/06/2026</a:t>
            </a:fld>
            <a:endParaRPr lang="it-IT" noProof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it-IT" noProof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52779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2"/>
          </a:xfrm>
        </p:spPr>
        <p:txBody>
          <a:bodyPr rtlCol="0"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 rtlCol="0"/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2"/>
          </a:xfrm>
        </p:spPr>
        <p:txBody>
          <a:bodyPr rtlCol="0"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 rtlCol="0"/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BD6F3B3-053B-47CE-B08C-DE0DB4B8B5D8}" type="datetime1">
              <a:rPr lang="it-IT" noProof="0" smtClean="0"/>
              <a:t>24/06/2026</a:t>
            </a:fld>
            <a:endParaRPr lang="it-IT" noProof="0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it-IT" noProof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97101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B019651-76A1-4332-BBF9-B85C4D198B2F}" type="datetime1">
              <a:rPr lang="it-IT" noProof="0" smtClean="0"/>
              <a:t>24/06/2026</a:t>
            </a:fld>
            <a:endParaRPr lang="it-IT" noProof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it-IT" noProof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75811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5C01DF8-12BB-40A3-9942-F3CAFDB4905A}" type="datetime1">
              <a:rPr lang="it-IT" noProof="0" smtClean="0"/>
              <a:t>24/06/2026</a:t>
            </a:fld>
            <a:endParaRPr lang="it-IT" noProof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it-IT" noProof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0241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 rtlCol="0"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545025F-F07F-4E77-AE38-5F985DA144BA}" type="datetime1">
              <a:rPr lang="it-IT" noProof="0" smtClean="0"/>
              <a:t>24/06/2026</a:t>
            </a:fld>
            <a:endParaRPr lang="it-IT" noProof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it-IT" noProof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76976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 rtlCol="0"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3" name="Segnaposto immagine 2" descr="Segnaposto vuoto per aggiungere un'immagine. Fare clic sul segnaposto e selezionare l'immagine che si vuole aggiungere.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 rtlCol="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it-IT" noProof="0"/>
              <a:t>Fare clic sull'icona per inserire un'immagine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E95BFD7-91A4-478D-8FD9-9CEB30EEA1D7}" type="datetime1">
              <a:rPr lang="it-IT" noProof="0" smtClean="0"/>
              <a:t>24/06/2026</a:t>
            </a:fld>
            <a:endParaRPr lang="it-IT" noProof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it-IT" noProof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76963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  <a:endParaRPr lang="it-IT" noProof="0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D521F72-A3A7-4E18-B26E-DF4DCD533BA2}" type="datetime1">
              <a:rPr lang="it-IT" noProof="0" smtClean="0"/>
              <a:t>24/06/2026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it-IT" noProof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01207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 rtlCol="0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 rtlCol="0"/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  <a:endParaRPr lang="it-IT" noProof="0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1083475-3B2C-4257-97FB-E5566CB3FAF8}" type="datetime1">
              <a:rPr lang="it-IT" noProof="0" smtClean="0"/>
              <a:t>24/06/2026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it-IT" noProof="0"/>
              <a:t>‹N›</a:t>
            </a:fld>
            <a:endParaRPr lang="it-IT" noProof="0"/>
          </a:p>
        </p:txBody>
      </p:sp>
      <p:grpSp>
        <p:nvGrpSpPr>
          <p:cNvPr id="7" name="Gruppo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Connettore diritto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ttore diritto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592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olo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C5DB32F-1ED2-FCAB-A2C7-71D07EB48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EC8938F-9E79-9591-9EEF-2FF908F3ED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D34CADF-5D4F-1A5D-3B5A-DF3A4F072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74A13-4815-4010-B719-7D16B2B9F3A1}" type="datetimeFigureOut">
              <a:rPr lang="it-IT" smtClean="0"/>
              <a:t>24/06/2026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B432953-A6B9-6D44-5F15-264978F95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281BF5A-E90C-088E-896F-78100FFD4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9BEA1-B17C-4638-B0EF-84F48484E1E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41783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pPr rtl="0"/>
            <a:r>
              <a:rPr lang="it-IT" noProof="0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  <a:p>
            <a:pPr lvl="5" rtl="0"/>
            <a:r>
              <a:rPr lang="it-IT" noProof="0"/>
              <a:t>Sesto livello</a:t>
            </a:r>
          </a:p>
          <a:p>
            <a:pPr lvl="6" rtl="0"/>
            <a:r>
              <a:rPr lang="it-IT" noProof="0"/>
              <a:t>Settimo livello</a:t>
            </a:r>
          </a:p>
          <a:p>
            <a:pPr lvl="7" rtl="0"/>
            <a:r>
              <a:rPr lang="it-IT" noProof="0"/>
              <a:t>Ottavo livello</a:t>
            </a:r>
          </a:p>
          <a:p>
            <a:pPr lvl="8" rtl="0"/>
            <a:r>
              <a:rPr lang="it-IT" noProof="0"/>
              <a:t>Nono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rtl="0"/>
            <a:fld id="{0120D766-8702-4376-BA25-6EE9DAAC971C}" type="datetime1">
              <a:rPr lang="it-IT" noProof="0" smtClean="0"/>
              <a:t>24/06/2026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rtl="0"/>
            <a:fld id="{0FF54DE5-C571-48E8-A5BC-B369434E2F44}" type="slidenum">
              <a:rPr lang="it-IT" noProof="0" smtClean="0"/>
              <a:pPr/>
              <a:t>‹N›</a:t>
            </a:fld>
            <a:endParaRPr lang="it-IT" noProof="0"/>
          </a:p>
        </p:txBody>
      </p:sp>
      <p:grpSp>
        <p:nvGrpSpPr>
          <p:cNvPr id="15" name="Gruppo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Connettore diritto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ttore diritto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4625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5"/>
          <p:cNvSpPr>
            <a:spLocks noGrp="1"/>
          </p:cNvSpPr>
          <p:nvPr>
            <p:ph type="ctrTitle"/>
          </p:nvPr>
        </p:nvSpPr>
        <p:spPr>
          <a:xfrm>
            <a:off x="0" y="2609336"/>
            <a:ext cx="4692874" cy="1906682"/>
          </a:xfrm>
        </p:spPr>
        <p:txBody>
          <a:bodyPr rtlCol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  <a:ea typeface="+mn-ea"/>
                <a:cs typeface="+mn-cs"/>
              </a:rPr>
              <a:t>IL COMANDANTE E IL BACINO</a:t>
            </a:r>
            <a:br>
              <a:rPr lang="it-IT" sz="1800" kern="100" dirty="0">
                <a:solidFill>
                  <a:srgbClr val="0F4761"/>
                </a:solidFill>
                <a:latin typeface="Sitka Text Semibold" pitchFamily="2" charset="0"/>
                <a:ea typeface="+mn-ea"/>
                <a:cs typeface="+mn-cs"/>
              </a:rPr>
            </a:br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  <a:ea typeface="+mn-ea"/>
                <a:cs typeface="+mn-cs"/>
              </a:rPr>
              <a:t>Come entrare, restare e uscire senza perdere il comando (e la libertà)</a:t>
            </a:r>
            <a:br>
              <a:rPr lang="it-IT" sz="1800" dirty="0">
                <a:latin typeface="+mn-lt"/>
                <a:ea typeface="+mn-ea"/>
                <a:cs typeface="+mn-cs"/>
              </a:rPr>
            </a:br>
            <a:br>
              <a:rPr lang="it-IT" sz="1800" dirty="0">
                <a:latin typeface="+mn-lt"/>
                <a:ea typeface="+mn-ea"/>
                <a:cs typeface="+mn-cs"/>
              </a:rPr>
            </a:br>
            <a:endParaRPr lang="it-IT" sz="1800" dirty="0">
              <a:latin typeface="+mn-lt"/>
              <a:ea typeface="+mn-ea"/>
              <a:cs typeface="+mn-cs"/>
            </a:endParaRPr>
          </a:p>
        </p:txBody>
      </p:sp>
      <p:sp>
        <p:nvSpPr>
          <p:cNvPr id="7" name="Sottotitolo 6"/>
          <p:cNvSpPr>
            <a:spLocks noGrp="1"/>
          </p:cNvSpPr>
          <p:nvPr>
            <p:ph type="subTitle" idx="1"/>
          </p:nvPr>
        </p:nvSpPr>
        <p:spPr>
          <a:xfrm>
            <a:off x="121237" y="4860700"/>
            <a:ext cx="4571637" cy="782110"/>
          </a:xfrm>
        </p:spPr>
        <p:txBody>
          <a:bodyPr rtlCol="0">
            <a:normAutofit fontScale="85000" lnSpcReduction="10000"/>
          </a:bodyPr>
          <a:lstStyle/>
          <a:p>
            <a:pPr marL="228600" indent="-2286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it-IT" kern="100" dirty="0">
                <a:solidFill>
                  <a:srgbClr val="0F4761"/>
                </a:solidFill>
                <a:latin typeface="Sitka Text Semibold" pitchFamily="2" charset="0"/>
              </a:rPr>
              <a:t>Guida operativa al rischio cantieristico</a:t>
            </a:r>
            <a:br>
              <a:rPr lang="it-IT" kern="100" dirty="0">
                <a:solidFill>
                  <a:srgbClr val="0F4761"/>
                </a:solidFill>
                <a:latin typeface="Sitka Text Semibold" pitchFamily="2" charset="0"/>
              </a:rPr>
            </a:br>
            <a:r>
              <a:rPr lang="it-IT" kern="100" dirty="0">
                <a:solidFill>
                  <a:srgbClr val="0F4761"/>
                </a:solidFill>
                <a:latin typeface="Sitka Text Semibold" pitchFamily="2" charset="0"/>
              </a:rPr>
              <a:t>Rif. SMM-PREVA-1062 Titolo VII | PSBM001A </a:t>
            </a:r>
            <a:r>
              <a:rPr lang="it-IT" kern="100" dirty="0" err="1">
                <a:solidFill>
                  <a:srgbClr val="0F4761"/>
                </a:solidFill>
                <a:latin typeface="Sitka Text Semibold" pitchFamily="2" charset="0"/>
              </a:rPr>
              <a:t>Marinarsen</a:t>
            </a:r>
            <a:r>
              <a:rPr lang="it-IT" kern="100" dirty="0">
                <a:solidFill>
                  <a:srgbClr val="0F4761"/>
                </a:solidFill>
                <a:latin typeface="Sitka Text Semibold" pitchFamily="2" charset="0"/>
              </a:rPr>
              <a:t> Taranto | NAV-G-001</a:t>
            </a:r>
          </a:p>
        </p:txBody>
      </p:sp>
      <p:pic>
        <p:nvPicPr>
          <p:cNvPr id="4" name="Segnaposto immagine 3" descr="Libro aperto su un tavolo, scaffali sfuocati con libri sullo sfondo"/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0" r="8890"/>
          <a:stretch>
            <a:fillRect/>
          </a:stretch>
        </p:blipFill>
        <p:spPr/>
      </p:pic>
      <p:pic>
        <p:nvPicPr>
          <p:cNvPr id="2" name="Immagine 1">
            <a:extLst>
              <a:ext uri="{FF2B5EF4-FFF2-40B4-BE49-F238E27FC236}">
                <a16:creationId xmlns:a16="http://schemas.microsoft.com/office/drawing/2014/main" id="{6100ACC4-BFCD-CF99-8532-C27DB2C592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6484" y="1310655"/>
            <a:ext cx="7435516" cy="4236689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5E3EBD60-56AA-C9B5-B586-FA9C7FC43CEB}"/>
              </a:ext>
            </a:extLst>
          </p:cNvPr>
          <p:cNvSpPr txBox="1"/>
          <p:nvPr/>
        </p:nvSpPr>
        <p:spPr>
          <a:xfrm>
            <a:off x="7922573" y="5924939"/>
            <a:ext cx="42174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b="1" dirty="0">
                <a:solidFill>
                  <a:schemeClr val="bg2">
                    <a:lumMod val="90000"/>
                  </a:schemeClr>
                </a:solidFill>
              </a:rPr>
              <a:t>Arsenale Militare Marittimo Taranto</a:t>
            </a:r>
          </a:p>
          <a:p>
            <a:pPr algn="ctr"/>
            <a:r>
              <a:rPr lang="it-IT" sz="1600" b="1" dirty="0">
                <a:solidFill>
                  <a:schemeClr val="bg2">
                    <a:lumMod val="90000"/>
                  </a:schemeClr>
                </a:solidFill>
              </a:rPr>
              <a:t>Capo Nucleo Attrezzature </a:t>
            </a:r>
          </a:p>
          <a:p>
            <a:pPr algn="ctr"/>
            <a:r>
              <a:rPr lang="it-IT" sz="1600" b="1" dirty="0">
                <a:solidFill>
                  <a:schemeClr val="bg2">
                    <a:lumMod val="90000"/>
                  </a:schemeClr>
                </a:solidFill>
              </a:rPr>
              <a:t>F.T. Domenico PROTA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C2A81FF4-56CE-C992-F8DD-B2EA998A3B85}"/>
              </a:ext>
            </a:extLst>
          </p:cNvPr>
          <p:cNvSpPr/>
          <p:nvPr/>
        </p:nvSpPr>
        <p:spPr>
          <a:xfrm>
            <a:off x="2734626" y="247390"/>
            <a:ext cx="502458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2">
                    <a:lumMod val="9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Marina Militare 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C081F566-69F5-87BF-BB5F-BC51B5628BD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6819" y="374907"/>
            <a:ext cx="1167110" cy="1493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1339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4E8A4BB-EEFD-CF38-CFAD-F82D5655A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Copertina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10E2527-47D1-8E74-95CB-FFD077210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5659" y="1813022"/>
            <a:ext cx="9980682" cy="1364603"/>
          </a:xfrm>
        </p:spPr>
        <p:txBody>
          <a:bodyPr>
            <a:normAutofit/>
          </a:bodyPr>
          <a:lstStyle/>
          <a:p>
            <a:pPr marR="0" lvl="0" algn="just" rtl="0"/>
            <a:r>
              <a:rPr lang="it-IT" sz="1800" b="0" i="0" u="none" strike="noStrike" kern="100" baseline="0" dirty="0">
                <a:solidFill>
                  <a:srgbClr val="0F4761"/>
                </a:solidFill>
                <a:latin typeface="Sitka Text Semibold" pitchFamily="2" charset="0"/>
              </a:rPr>
              <a:t>Gestione del Rischio Cantieristico e Responsabilità di Bordo</a:t>
            </a:r>
          </a:p>
          <a:p>
            <a:pPr marR="0" lvl="0" rtl="0"/>
            <a:r>
              <a:rPr lang="it-IT" sz="1800" b="0" i="0" u="none" strike="noStrike" kern="100" baseline="0" dirty="0">
                <a:solidFill>
                  <a:srgbClr val="0F4761"/>
                </a:solidFill>
                <a:latin typeface="Sitka Text Semibold" pitchFamily="2" charset="0"/>
              </a:rPr>
              <a:t>Guida operativa per l'ingresso, la permanenza e l'uscita dal Bacino di  Carenaggio</a:t>
            </a:r>
          </a:p>
          <a:p>
            <a:pPr marR="0" lvl="0" rtl="0"/>
            <a:r>
              <a:rPr lang="it-IT" sz="1800" b="0" i="0" u="none" strike="noStrike" kern="100" baseline="0" dirty="0">
                <a:solidFill>
                  <a:srgbClr val="0F4761"/>
                </a:solidFill>
                <a:latin typeface="Sitka Text Semibold" pitchFamily="2" charset="0"/>
              </a:rPr>
              <a:t>Rif: SMM-PREVA-1062 (Titolo VII) | PSBM001A </a:t>
            </a:r>
            <a:r>
              <a:rPr lang="it-IT" sz="1800" b="0" i="0" u="none" strike="noStrike" kern="100" baseline="0" dirty="0" err="1">
                <a:solidFill>
                  <a:srgbClr val="0F4761"/>
                </a:solidFill>
                <a:latin typeface="Sitka Text Semibold" pitchFamily="2" charset="0"/>
              </a:rPr>
              <a:t>Marinarsen</a:t>
            </a:r>
            <a:r>
              <a:rPr lang="it-IT" sz="1800" b="0" i="0" u="none" strike="noStrike" kern="100" baseline="0" dirty="0">
                <a:solidFill>
                  <a:srgbClr val="0F4761"/>
                </a:solidFill>
                <a:latin typeface="Sitka Text Semibold" pitchFamily="2" charset="0"/>
              </a:rPr>
              <a:t> Taranto | NAV-G-001</a:t>
            </a:r>
          </a:p>
        </p:txBody>
      </p:sp>
    </p:spTree>
    <p:extLst>
      <p:ext uri="{BB962C8B-B14F-4D97-AF65-F5344CB8AC3E}">
        <p14:creationId xmlns:p14="http://schemas.microsoft.com/office/powerpoint/2010/main" val="554706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AF8FBC0-4FD6-93FD-0E8D-A4E2AA245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Obiettivi Formativi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7612F67-8027-DECB-B694-9B2BF3ED5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3382" y="2122715"/>
            <a:ext cx="9982200" cy="2309327"/>
          </a:xfrm>
        </p:spPr>
        <p:txBody>
          <a:bodyPr/>
          <a:lstStyle/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Saper gestire la timeline di ingresso in bacino (T-60 → T-0)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Conoscere la rubrica telefonica e i ruoli dell'Arsenale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Delimitare il confine tra Alta Vigilanza e Ingerenza di fatto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Proteggersi legalmente in caso di infortunio di personale esterno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TAKEAWAY: Zero teoria, solo operatività.</a:t>
            </a:r>
          </a:p>
        </p:txBody>
      </p:sp>
    </p:spTree>
    <p:extLst>
      <p:ext uri="{BB962C8B-B14F-4D97-AF65-F5344CB8AC3E}">
        <p14:creationId xmlns:p14="http://schemas.microsoft.com/office/powerpoint/2010/main" val="2239414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56477ED-1792-0A1C-2043-FD7F6C68E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Agenda del Corso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2FDBFDA-91DC-73D1-18C2-7A2EE7383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4900" y="2041071"/>
            <a:ext cx="7059387" cy="2775857"/>
          </a:xfrm>
        </p:spPr>
        <p:txBody>
          <a:bodyPr/>
          <a:lstStyle/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Modulo 1: Quadro Cogente e Responsabilità (20 min)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Modulo 1-bis: Quadro Normativo Dettagliato (15 min)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Modulo 2: La Timeline e l'Ingresso (25 min)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Modulo 3: In Bacino: Rubrica, Ruoli e Consegne (25 min)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Modulo 4: Cantiere Vivo e Interferenze (25 min)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Modulo 5: Emergenze, Uscita e Q&amp;A (10 min)</a:t>
            </a:r>
          </a:p>
        </p:txBody>
      </p:sp>
    </p:spTree>
    <p:extLst>
      <p:ext uri="{BB962C8B-B14F-4D97-AF65-F5344CB8AC3E}">
        <p14:creationId xmlns:p14="http://schemas.microsoft.com/office/powerpoint/2010/main" val="2161277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F124DA4-6264-0BCC-ECFA-BAB13AD84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Le Fonti Normative "Salva-Vita"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D02366F-CDB7-617E-719A-440C3F265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3382" y="1973424"/>
            <a:ext cx="9982200" cy="2346649"/>
          </a:xfrm>
        </p:spPr>
        <p:txBody>
          <a:bodyPr/>
          <a:lstStyle/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</a:t>
            </a:r>
            <a:r>
              <a:rPr lang="it-IT" sz="1800" kern="100" dirty="0" err="1">
                <a:solidFill>
                  <a:srgbClr val="0F4761"/>
                </a:solidFill>
                <a:latin typeface="Sitka Text Semibold" pitchFamily="2" charset="0"/>
              </a:rPr>
              <a:t>D.Lgs.</a:t>
            </a:r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272/1999: Norme specifiche cantieristica navale portuale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SMM-PREVA-1062 Ed. </a:t>
            </a:r>
            <a:r>
              <a:rPr lang="it-IT" sz="1800" kern="100" dirty="0" err="1">
                <a:solidFill>
                  <a:srgbClr val="0F4761"/>
                </a:solidFill>
                <a:latin typeface="Sitka Text Semibold" pitchFamily="2" charset="0"/>
              </a:rPr>
              <a:t>Gen</a:t>
            </a:r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2024 (Titolo VII): Istruzioni operative Marina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PSBM001A: Procedura locale </a:t>
            </a:r>
            <a:r>
              <a:rPr lang="it-IT" sz="1800" kern="100" dirty="0" err="1">
                <a:solidFill>
                  <a:srgbClr val="0F4761"/>
                </a:solidFill>
                <a:latin typeface="Sitka Text Semibold" pitchFamily="2" charset="0"/>
              </a:rPr>
              <a:t>Marinarsen</a:t>
            </a:r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Taranto (Bacini BRIN/FERRATI)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NAV-G-001 (Art. 37-43): Regole d'ingaggio nave-bacino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TAKEAWAY: Queste 4 fonti sono la tua assicurazione sulla vita.</a:t>
            </a:r>
          </a:p>
        </p:txBody>
      </p:sp>
    </p:spTree>
    <p:extLst>
      <p:ext uri="{BB962C8B-B14F-4D97-AF65-F5344CB8AC3E}">
        <p14:creationId xmlns:p14="http://schemas.microsoft.com/office/powerpoint/2010/main" val="3923797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A056A26-EC6C-0561-975F-3DAA16F61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Il Ruolo del Comandante (Art. 113 SMM-PREVA-1062)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767B0EC-A2DD-5AB3-AE99-B31FBE464E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2318657"/>
          </a:xfrm>
        </p:spPr>
        <p:txBody>
          <a:bodyPr/>
          <a:lstStyle/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NON dirige i lavori, NON dà ordini agli operai privati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Esercita l'ALTA VIGILANZA sul rispetto delle norme di sicurezza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Verifica che le ditte mitigano le interferenze con il bordo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Fornisce informazioni sui rischi specifici (DVR, RTVR)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BOX: REGOLA D'ORO: Se intervieni operativamente, diventi co-responsabile.</a:t>
            </a:r>
          </a:p>
        </p:txBody>
      </p:sp>
    </p:spTree>
    <p:extLst>
      <p:ext uri="{BB962C8B-B14F-4D97-AF65-F5344CB8AC3E}">
        <p14:creationId xmlns:p14="http://schemas.microsoft.com/office/powerpoint/2010/main" val="3569188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81EB92-CC34-EAD2-454D-C9BF770F6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Il Confine Giuridico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9B81EEC-FADB-C456-2066-21BD8F4974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ALTA VIGILANZA (Dovere): Designare Preposti, fornire DVR, interrompere solo per grave pericolo (Art. 113 c.8)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INGERENZA (Errore): Dire all'operaio "come" fare, spostare attrezzature, dare ordini diretti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Vigila, non sostituire. Il confine è la delega formale.</a:t>
            </a:r>
          </a:p>
        </p:txBody>
      </p:sp>
    </p:spTree>
    <p:extLst>
      <p:ext uri="{BB962C8B-B14F-4D97-AF65-F5344CB8AC3E}">
        <p14:creationId xmlns:p14="http://schemas.microsoft.com/office/powerpoint/2010/main" val="2157116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2533476-9612-D4EF-F175-BB03E3B47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La Catena di Comando delle Ditte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22190F5-A1D8-32FE-525E-7680EA07BF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2365310"/>
          </a:xfrm>
        </p:spPr>
        <p:txBody>
          <a:bodyPr/>
          <a:lstStyle/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Le ditte rispondono all'IMPRESA CAPO </a:t>
            </a:r>
            <a:r>
              <a:rPr lang="it-IT" sz="1800" kern="100" dirty="0" err="1">
                <a:solidFill>
                  <a:srgbClr val="0F4761"/>
                </a:solidFill>
                <a:latin typeface="Sitka Text Semibold" pitchFamily="2" charset="0"/>
              </a:rPr>
              <a:t>COMMessa</a:t>
            </a:r>
            <a:endParaRPr lang="it-IT" sz="1800" kern="100" dirty="0">
              <a:solidFill>
                <a:srgbClr val="0F4761"/>
              </a:solidFill>
              <a:latin typeface="Sitka Text Semibold" pitchFamily="2" charset="0"/>
            </a:endParaRP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Il referente è l'R.T.L. (Responsabile Tecnico dei Lavori)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Il </a:t>
            </a:r>
            <a:r>
              <a:rPr lang="it-IT" sz="1800" kern="100" dirty="0" err="1">
                <a:solidFill>
                  <a:srgbClr val="0F4761"/>
                </a:solidFill>
                <a:latin typeface="Sitka Text Semibold" pitchFamily="2" charset="0"/>
              </a:rPr>
              <a:t>C.te</a:t>
            </a:r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si interfaccia con RTL/Preposto, MAI con l'operaio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Se l'impresa sbaglia → responsabile è il RTL/Datore di lavoro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TAKEAWAY: Mai dare ordini diretti: chiama il RTL.</a:t>
            </a:r>
          </a:p>
        </p:txBody>
      </p:sp>
    </p:spTree>
    <p:extLst>
      <p:ext uri="{BB962C8B-B14F-4D97-AF65-F5344CB8AC3E}">
        <p14:creationId xmlns:p14="http://schemas.microsoft.com/office/powerpoint/2010/main" val="2293912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E92CD8E-BA07-6D79-ED39-C0C9DC2AE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I Documenti del Comandante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E96919E-57D2-373A-8892-39F079B4F7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4900" y="1880118"/>
            <a:ext cx="9982200" cy="2113384"/>
          </a:xfrm>
        </p:spPr>
        <p:txBody>
          <a:bodyPr/>
          <a:lstStyle/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DVR (Documento Valutazione Rischi): la bibbia del </a:t>
            </a:r>
            <a:r>
              <a:rPr lang="it-IT" sz="1800" kern="100" dirty="0" err="1">
                <a:solidFill>
                  <a:srgbClr val="0F4761"/>
                </a:solidFill>
                <a:latin typeface="Sitka Text Semibold" pitchFamily="2" charset="0"/>
              </a:rPr>
              <a:t>C.te</a:t>
            </a:r>
            <a:endParaRPr lang="it-IT" sz="1800" kern="100" dirty="0">
              <a:solidFill>
                <a:srgbClr val="0F4761"/>
              </a:solidFill>
              <a:latin typeface="Sitka Text Semibold" pitchFamily="2" charset="0"/>
            </a:endParaRP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RTVR (Relazione Tecnica Valutazione Rischi): viaggia con la nave, descrive rischi strutturali e confinati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Il </a:t>
            </a:r>
            <a:r>
              <a:rPr lang="it-IT" sz="1800" kern="100" dirty="0" err="1">
                <a:solidFill>
                  <a:srgbClr val="0F4761"/>
                </a:solidFill>
                <a:latin typeface="Sitka Text Semibold" pitchFamily="2" charset="0"/>
              </a:rPr>
              <a:t>C.te</a:t>
            </a:r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FORNISCE questi documenti alle ditte per POS/DUVRI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Senza RTVR aggiornata, le ditte lavorano "alla cieca".</a:t>
            </a:r>
          </a:p>
        </p:txBody>
      </p:sp>
    </p:spTree>
    <p:extLst>
      <p:ext uri="{BB962C8B-B14F-4D97-AF65-F5344CB8AC3E}">
        <p14:creationId xmlns:p14="http://schemas.microsoft.com/office/powerpoint/2010/main" val="6538508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388F41C-2254-05FB-50C3-F3EEFCAD1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Scenario 1: Singola Ditta non Interferente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CE6CBEE-944A-1BFD-D7EA-2B9128BA20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Se a bordo opera una singola impresa o più imprese non interferenti, il coordinamento spetta al Comando di Bordo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Il Comando fornisce informazioni dettagliate sui rischi specifici della nave per la stesura del DUVRI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Si redige un verbale di coordinamento della sicurezza prima dell'intervento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Singola ditta = Coordinamento diretto in Plancia.</a:t>
            </a:r>
          </a:p>
        </p:txBody>
      </p:sp>
    </p:spTree>
    <p:extLst>
      <p:ext uri="{BB962C8B-B14F-4D97-AF65-F5344CB8AC3E}">
        <p14:creationId xmlns:p14="http://schemas.microsoft.com/office/powerpoint/2010/main" val="27231487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4B94800-C368-F208-6938-D904980A3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Scenario 2: Lavori Complessi e Bacino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5E204C4-2DFD-1055-84CB-EC0D8500F6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In caso di sosta lavori o lavorazioni interferenti, l'Ente responsabile individua un'Impresa Capo Commessa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L'Impresa nomina un Responsabile Tecnico dei Lavori (RTL) a bordo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L'RTL coordina le interferenze e verifica il rispetto del Documento di Sicurezza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Più ditte = l'RTL è il tuo interlocutore unico.</a:t>
            </a:r>
          </a:p>
        </p:txBody>
      </p:sp>
    </p:spTree>
    <p:extLst>
      <p:ext uri="{BB962C8B-B14F-4D97-AF65-F5344CB8AC3E}">
        <p14:creationId xmlns:p14="http://schemas.microsoft.com/office/powerpoint/2010/main" val="30916030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3F5C6AC-6516-7EFC-0B3B-AA873C94C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Il Triangolo Normativo: Quale Norma Si Applica a Bordo?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B7633AB-D97A-6B3A-F659-4627243CFA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2523931"/>
          </a:xfrm>
        </p:spPr>
        <p:txBody>
          <a:bodyPr/>
          <a:lstStyle/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Art. 26 </a:t>
            </a:r>
            <a:r>
              <a:rPr lang="it-IT" sz="1800" kern="100" dirty="0" err="1">
                <a:solidFill>
                  <a:srgbClr val="0F4761"/>
                </a:solidFill>
                <a:latin typeface="Sitka Text Semibold" pitchFamily="2" charset="0"/>
              </a:rPr>
              <a:t>D.Lgs.</a:t>
            </a:r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81/08: DUVRI o Documento Informativo (1 ditta o interferenze minime)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Titolo IV </a:t>
            </a:r>
            <a:r>
              <a:rPr lang="it-IT" sz="1800" kern="100" dirty="0" err="1">
                <a:solidFill>
                  <a:srgbClr val="0F4761"/>
                </a:solidFill>
                <a:latin typeface="Sitka Text Semibold" pitchFamily="2" charset="0"/>
              </a:rPr>
              <a:t>D.Lgs.</a:t>
            </a:r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81/08: CSE e PSC (cantieri civili a terra, non a bordo nave)</a:t>
            </a:r>
          </a:p>
          <a:p>
            <a:r>
              <a:rPr lang="it-IT" sz="1800" kern="100" dirty="0" err="1">
                <a:solidFill>
                  <a:srgbClr val="0F4761"/>
                </a:solidFill>
                <a:latin typeface="Sitka Text Semibold" pitchFamily="2" charset="0"/>
              </a:rPr>
              <a:t>D.Lgs.</a:t>
            </a:r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272/1999 + Art. 116 SMM-PREVA-1062: RTL e Documento di Sicurezza (lavori a bordo nave, bacino, sosta lavori)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La norma civile (81/08) viene "</a:t>
            </a:r>
            <a:r>
              <a:rPr lang="it-IT" sz="1800" kern="100" dirty="0" err="1">
                <a:solidFill>
                  <a:srgbClr val="0F4761"/>
                </a:solidFill>
                <a:latin typeface="Sitka Text Semibold" pitchFamily="2" charset="0"/>
              </a:rPr>
              <a:t>navalizzata</a:t>
            </a:r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" dal </a:t>
            </a:r>
            <a:r>
              <a:rPr lang="it-IT" sz="1800" kern="100" dirty="0" err="1">
                <a:solidFill>
                  <a:srgbClr val="0F4761"/>
                </a:solidFill>
                <a:latin typeface="Sitka Text Semibold" pitchFamily="2" charset="0"/>
              </a:rPr>
              <a:t>D.Lgs.</a:t>
            </a:r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272/99 per le unità navali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A bordo nave, il </a:t>
            </a:r>
            <a:r>
              <a:rPr lang="it-IT" sz="1800" kern="100" dirty="0" err="1">
                <a:solidFill>
                  <a:srgbClr val="0F4761"/>
                </a:solidFill>
                <a:latin typeface="Sitka Text Semibold" pitchFamily="2" charset="0"/>
              </a:rPr>
              <a:t>D.Lgs.</a:t>
            </a:r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272/99 prevale sempre sul Titolo IV del TUSL.</a:t>
            </a:r>
          </a:p>
        </p:txBody>
      </p:sp>
    </p:spTree>
    <p:extLst>
      <p:ext uri="{BB962C8B-B14F-4D97-AF65-F5344CB8AC3E}">
        <p14:creationId xmlns:p14="http://schemas.microsoft.com/office/powerpoint/2010/main" val="882312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8C62147-ACB2-5EEB-14AB-36017805C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DUVRI vs Documento Informativo: Le Differenze Chiave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E866FF1-0892-0F08-6152-2EF942C65D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DUVRI (Art. 26 comma 3 TUSL): valuta i rischi DA INTERFERENZA tra più ditte o tra ditte e bordo. Obbligatorio quando ci sono sovrapposizioni operative.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Documento Informativo (Art. 26 comma 3-bis TUSL): sostituisce il DUVRI quando i lavori durano meno di 2 giorni-uomo OPPURE quando non ci sono rischi di interferenza significativi.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Entrambi devono essere firmati prima dell'inizio lavori e allegati al contratto.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Meno di 2 giorni e nessuna interferenza = Documento Informativo. Altrimenti = DUVRI obbligatorio.</a:t>
            </a:r>
          </a:p>
        </p:txBody>
      </p:sp>
    </p:spTree>
    <p:extLst>
      <p:ext uri="{BB962C8B-B14F-4D97-AF65-F5344CB8AC3E}">
        <p14:creationId xmlns:p14="http://schemas.microsoft.com/office/powerpoint/2010/main" val="33777703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18F4ABB-ACD9-BFE9-075D-F1828CD7C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Quando è Obbligatorio il DUVRI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0E6BE15-7F9C-1261-AED5-B6F4314E37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CASO 1: Presenza di più imprese esecutrici che operano contemporaneamente o in sequenza nello stesso ambiente di lavoro.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CASO 2: Interferenza tra le attività delle ditte esterne e le attività del personale di bordo.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CASO 3: Lavori che introducono nuovi rischi nell'ambiente di lavoro (polveri, rumore, sostanze chimiche).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Il DUVRI deve essere redatto dalla Stazione Appaltante prima dell'inizio lavori.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Più ditte + stesso spazio = DUVRI obbligatorio. Punto.</a:t>
            </a:r>
          </a:p>
        </p:txBody>
      </p:sp>
    </p:spTree>
    <p:extLst>
      <p:ext uri="{BB962C8B-B14F-4D97-AF65-F5344CB8AC3E}">
        <p14:creationId xmlns:p14="http://schemas.microsoft.com/office/powerpoint/2010/main" val="41342326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5D21F-21F9-041B-CEBE-3688E4271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Quando Basta il Documento Informativo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800341D-ED81-E971-14C4-26FEFEB517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Durata inferiore a 2 giorni-uomo: lavori estemporanei e rapidi (es. riparazione lampada, sostituzione filtro).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Nessuna interferenza: la ditta lavora in area isolata, senza sovrapposizione con altre ditte o con il personale di bordo.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Mera fornitura: consegna materiali senza posa in opera o installazione.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Servizi intellettuali: consulenze, perizie, ispezioni visive senza attività operative.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Meno di 2 giorni e zero interferenze = Documento Informativo sufficiente.</a:t>
            </a:r>
          </a:p>
        </p:txBody>
      </p:sp>
    </p:spTree>
    <p:extLst>
      <p:ext uri="{BB962C8B-B14F-4D97-AF65-F5344CB8AC3E}">
        <p14:creationId xmlns:p14="http://schemas.microsoft.com/office/powerpoint/2010/main" val="11708844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E75F038-8B7B-9F5D-6DEE-214CBDFC4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Titolo IV </a:t>
            </a:r>
            <a:r>
              <a:rPr lang="it-IT" b="0" i="0" u="none" strike="noStrike" kern="100" baseline="0" dirty="0" err="1">
                <a:solidFill>
                  <a:srgbClr val="0F4761"/>
                </a:solidFill>
                <a:latin typeface="Times New Roman" panose="02020603050405020304" pitchFamily="18" charset="0"/>
              </a:rPr>
              <a:t>D.Lgs.</a:t>
            </a:r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 81/08: Quando Scatta il CSE e il PSC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56D8C34-E622-3FF1-4388-3F8C0FD8D3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Si applica quando: allestimento di un cantiere temporaneo o mobile (es. ponteggi esterni, lavori edili strutturali, scavi).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CSE Obbligatorio: Coordinatore per la Sicurezza in fase di Esecuzione, nominato dal Committente.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PSC Obbligatorio: Piano di Sicurezza e Coordinamento, redatto dal CSP/CSE prima dell'inizio lavori.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NOTA CRITICA: A bordo nave, il Titolo IV SI APPLICA SOLO se il cantiere è ALLESTITO A TERRA o in area esterna alla nave.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Cantiere a terra = Titolo IV con CSE e PSC. A bordo nave = </a:t>
            </a:r>
            <a:r>
              <a:rPr lang="it-IT" sz="1800" kern="100" dirty="0" err="1">
                <a:solidFill>
                  <a:srgbClr val="0F4761"/>
                </a:solidFill>
                <a:latin typeface="Sitka Text Semibold" pitchFamily="2" charset="0"/>
              </a:rPr>
              <a:t>D.Lgs.</a:t>
            </a:r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272/99.</a:t>
            </a:r>
          </a:p>
        </p:txBody>
      </p:sp>
    </p:spTree>
    <p:extLst>
      <p:ext uri="{BB962C8B-B14F-4D97-AF65-F5344CB8AC3E}">
        <p14:creationId xmlns:p14="http://schemas.microsoft.com/office/powerpoint/2010/main" val="27432801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959464F-60A7-65AE-32FF-4404F1DD4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 err="1">
                <a:solidFill>
                  <a:srgbClr val="0F4761"/>
                </a:solidFill>
                <a:latin typeface="Times New Roman" panose="02020603050405020304" pitchFamily="18" charset="0"/>
              </a:rPr>
              <a:t>D.Lgs.</a:t>
            </a:r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 272/1999: La Norma Speciale per le Navi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B676651-45BD-4DBD-EA5E-E9F18F44F5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Ambito di applicazione: operazioni di manutenzione, riparazione e trasformazione delle NAVI in ambito portuale.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Sostituisce il Titolo IV: per i lavori A BORDO delle unità navali, il 272/99 prevale sul Titolo IV del TUSL.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Figura chiave: non CSE ma RTL (Responsabile Tecnico dei Lavori) dell'Impresa Capo Commessa.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Documento: non PSC ma Documento di Sicurezza (Art. 116 SMM-PREVA-1062).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Lavori a </a:t>
            </a:r>
            <a:r>
              <a:rPr lang="it-IT" kern="100" dirty="0">
                <a:solidFill>
                  <a:srgbClr val="0F4761"/>
                </a:solidFill>
                <a:latin typeface="Times New Roman" panose="02020603050405020304" pitchFamily="18" charset="0"/>
              </a:rPr>
              <a:t>bordo</a:t>
            </a:r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nave = </a:t>
            </a:r>
            <a:r>
              <a:rPr lang="it-IT" sz="1800" kern="100" dirty="0" err="1">
                <a:solidFill>
                  <a:srgbClr val="0F4761"/>
                </a:solidFill>
                <a:latin typeface="Sitka Text Semibold" pitchFamily="2" charset="0"/>
              </a:rPr>
              <a:t>D.Lgs.</a:t>
            </a:r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272/99 con RTL e Documento di Sicurezza.</a:t>
            </a:r>
          </a:p>
        </p:txBody>
      </p:sp>
    </p:spTree>
    <p:extLst>
      <p:ext uri="{BB962C8B-B14F-4D97-AF65-F5344CB8AC3E}">
        <p14:creationId xmlns:p14="http://schemas.microsoft.com/office/powerpoint/2010/main" val="38921450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0601213-381C-2B5D-1F04-DCF6ABC1C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Tabella Comparativa: Titolo IV vs D.Lgs. 272/1999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D49ECEC-0CE5-5FEF-1A3F-4508868B15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Ambito: Titolo IV = Cantieri temporanei a terra | 272/99 = Manutenzione/riparazione NAVI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Figura Coordinamento: Titolo IV = CSE | 272/99 = RTL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Documento: Titolo IV = PSC | 272/99 = Documento di Sicurezza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Nomina: Titolo IV = Dal Committente | 272/99 = Dall'Impresa Capo Commessa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Applicazione a Bordo: Titolo IV = NO (solo se cantiere a terra) | 272/99 = SI (prevale sempre)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TAKEAWAY: A bordo nave, il 272/99 sostituisce il Titolo IV. CSE diventa RTL, PSC diventa Documento di Sicurezza.</a:t>
            </a:r>
          </a:p>
        </p:txBody>
      </p:sp>
    </p:spTree>
    <p:extLst>
      <p:ext uri="{BB962C8B-B14F-4D97-AF65-F5344CB8AC3E}">
        <p14:creationId xmlns:p14="http://schemas.microsoft.com/office/powerpoint/2010/main" val="33742524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20B614D-B3D4-0948-5453-CA6D615FB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Chi Redige Cosa: La Matrice Decisionale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F01A48F-657D-7E29-2F32-D7DD12C975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Lavori &lt; 2 giorni, nessuna interferenza → Documento Informativo (a cura della Ditta)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Lavori &gt; 2 giorni O con interferenze → DUVRI (a cura del Committente/Stazione Appaltante)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Cantiere a terra (ponteggi, edili) → PSC (a cura del CSP/CSE nominato dal Committente)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Lavori a bordo nave (sosta lavori, bacino) → Documento di Sicurezza (a cura dell'RTL dell'Impresa Capo Commessa)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La regola è: a bordo nave = Documento di Sicurezza con RTL. A terra = Titolo IV con CSE.</a:t>
            </a:r>
          </a:p>
        </p:txBody>
      </p:sp>
    </p:spTree>
    <p:extLst>
      <p:ext uri="{BB962C8B-B14F-4D97-AF65-F5344CB8AC3E}">
        <p14:creationId xmlns:p14="http://schemas.microsoft.com/office/powerpoint/2010/main" val="40318039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69F5919-06C9-097A-4981-B2CECEB67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Il Documento di Sicurezza (Art. 116): Contenuti Obbligatori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D7DEA70-7BA3-6DF1-ABAC-A6D0E99338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Cronoprogramma: fasi di lavoro, durata, numero operatori per fase.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Analisi Rischi Interferenziali: rischi che nascono dalla sovrapposizione delle ditte.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Misure di Prevenzione: DPI specifici, procedure operative, dispositivi di protezione collettiva.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Gestione Emergenze: piano di evacuazione, primo soccorso, antincendio coordinato con il bordo.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Firme: deve essere controfirmato da TUTTI i datori di lavoro delle ditte che operano a bordo.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Senza Documento di Sicurezza firmato da tutte le ditte = STOP immediato ai lavori.</a:t>
            </a:r>
          </a:p>
        </p:txBody>
      </p:sp>
    </p:spTree>
    <p:extLst>
      <p:ext uri="{BB962C8B-B14F-4D97-AF65-F5344CB8AC3E}">
        <p14:creationId xmlns:p14="http://schemas.microsoft.com/office/powerpoint/2010/main" val="12745501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AB0B35-DD92-BDC8-67A4-6CE550626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Errori Comuni da Evitare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05CD79E-D0F4-E1DB-D2B1-D464654DDB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ERRORE 1: Pensare che il DUVRI sostituisca il POS della ditta. NO: il POS è interno alla ditta, il DUVRI valuta le interferenze.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ERRORE 2: Applicare il Titolo IV (CSE/PSC) ai lavori a bordo nave. NO: a bordo si applica il </a:t>
            </a:r>
            <a:r>
              <a:rPr lang="it-IT" sz="1800" kern="100" dirty="0" err="1">
                <a:solidFill>
                  <a:srgbClr val="0F4761"/>
                </a:solidFill>
                <a:latin typeface="Sitka Text Semibold" pitchFamily="2" charset="0"/>
              </a:rPr>
              <a:t>D.Lgs.</a:t>
            </a:r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272/99.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ERRORE 3: Far redigere il Documento di Sicurezza al Comando di Bordo. NO: lo redige l'RTL dell'Impresa Capo Commessa.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ERRORE 4: Iniziare i lavori senza aver firmato il DUVRI/Documento Informativo. NO: è illegale.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Documentazione incompleta o errata = Responsabilità penale del Comandante.</a:t>
            </a:r>
          </a:p>
        </p:txBody>
      </p:sp>
    </p:spTree>
    <p:extLst>
      <p:ext uri="{BB962C8B-B14F-4D97-AF65-F5344CB8AC3E}">
        <p14:creationId xmlns:p14="http://schemas.microsoft.com/office/powerpoint/2010/main" val="11855725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47C29E5-7A2F-CB78-574B-1CA08F9D2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T-60 Giorni: La Richiesta Ufficiale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C741358-A4C5-8E98-FE1B-2C3C21BF16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L'Ufficio di Programma inoltra la richiesta di ingresso al Nucleo Bacini almeno 2 mesi prima.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La Sezione Bacini valuta tempi, risorse e materiali necessari per il piano di posa.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Viene definita e stimata la data presunta di ingresso in bacino.</a:t>
            </a:r>
          </a:p>
          <a:p>
            <a:pPr marR="0" lvl="0"/>
            <a:r>
              <a:rPr lang="fr-FR" sz="1800" kern="100" dirty="0">
                <a:solidFill>
                  <a:srgbClr val="0F4761"/>
                </a:solidFill>
                <a:latin typeface="Sitka Text Semibold" pitchFamily="2" charset="0"/>
              </a:rPr>
              <a:t>BOX: Rif: PSBM001A Par. 4.1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Il tempismo è la prima barriera di sicurezza.</a:t>
            </a:r>
          </a:p>
        </p:txBody>
      </p:sp>
    </p:spTree>
    <p:extLst>
      <p:ext uri="{BB962C8B-B14F-4D97-AF65-F5344CB8AC3E}">
        <p14:creationId xmlns:p14="http://schemas.microsoft.com/office/powerpoint/2010/main" val="19551372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49173C-A55B-6963-CCB0-D7CFE2DCE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T-30 Giorni: Il Piano di Posa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712EDDB-8407-1629-0448-0FA52E43AA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Fornire i disegni del piano nominale delle taccate (viste laterali, pianta, sezioni) al Nucleo Bacini.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Segnalare ogni anomalia strutturale ed eventuali sporgenze fisse sotto la chiglia.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Sulla base dei disegni l'Arsenale elabora la messa a secco e comunica la data esatta.</a:t>
            </a:r>
          </a:p>
          <a:p>
            <a:pPr marR="0" lvl="0"/>
            <a:r>
              <a:rPr lang="pt-BR" sz="1800" kern="100" dirty="0">
                <a:solidFill>
                  <a:srgbClr val="0F4761"/>
                </a:solidFill>
                <a:latin typeface="Sitka Text Semibold" pitchFamily="2" charset="0"/>
              </a:rPr>
              <a:t>BOX: Rif: PSBM001A Par. 4.2 e 4.3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L'omissione di sporgenze distrugge le taccate.</a:t>
            </a:r>
          </a:p>
        </p:txBody>
      </p:sp>
    </p:spTree>
    <p:extLst>
      <p:ext uri="{BB962C8B-B14F-4D97-AF65-F5344CB8AC3E}">
        <p14:creationId xmlns:p14="http://schemas.microsoft.com/office/powerpoint/2010/main" val="39116663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5CBA202-14D2-FD96-AF1C-0D82C60AD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T-15 Giorni: Valutazione Assetti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597A6EA-243F-134F-EDDD-FBDE8BD7B9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Il Direttore di Macchina (o </a:t>
            </a:r>
            <a:r>
              <a:rPr lang="it-IT" sz="1800" kern="100" dirty="0" err="1">
                <a:solidFill>
                  <a:srgbClr val="0F4761"/>
                </a:solidFill>
                <a:latin typeface="Sitka Text Semibold" pitchFamily="2" charset="0"/>
              </a:rPr>
              <a:t>C.te</a:t>
            </a:r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Piattaforma) deve concordare l'assetto preventivo con il Nucleo Bacini.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L'obiettivo vitale è regolare la nave per rendere minima la rotazione in fase di appoggio.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Informare su esatta posizione carichi liquidi e mobili rimasti a bordo.</a:t>
            </a:r>
          </a:p>
          <a:p>
            <a:pPr marR="0" lvl="0"/>
            <a:r>
              <a:rPr lang="pt-BR" sz="1800" kern="100" dirty="0">
                <a:solidFill>
                  <a:srgbClr val="0F4761"/>
                </a:solidFill>
                <a:latin typeface="Sitka Text Semibold" pitchFamily="2" charset="0"/>
              </a:rPr>
              <a:t>BOX: Rif: PSBM001A Par. 4.3 e 5.1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Un buon assetto previene crolli e cedimenti.</a:t>
            </a:r>
          </a:p>
        </p:txBody>
      </p:sp>
    </p:spTree>
    <p:extLst>
      <p:ext uri="{BB962C8B-B14F-4D97-AF65-F5344CB8AC3E}">
        <p14:creationId xmlns:p14="http://schemas.microsoft.com/office/powerpoint/2010/main" val="17861105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6401BD-989C-850B-755F-D7E8D141C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T-7 Giorni: Riunione Propedeutica Obbligatoria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14CAB16-E45E-2D27-1339-310810E098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Si tiene una settimana prima della manovra con Ufficio Programma, Bordo, Sez. Bacini e MARISTANAV.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Vengono definiti ruoli, comandate e logistica per l'apertura del ponte e tonneggi.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Possibilità di un ulteriore incontro di dettaglio (T-2 o T-1) prima della manovra.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BOX: Azione </a:t>
            </a:r>
            <a:r>
              <a:rPr lang="it-IT" sz="1800" kern="100" dirty="0" err="1">
                <a:solidFill>
                  <a:srgbClr val="0F4761"/>
                </a:solidFill>
                <a:latin typeface="Sitka Text Semibold" pitchFamily="2" charset="0"/>
              </a:rPr>
              <a:t>C.te</a:t>
            </a:r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: Presenziare o delegare Ufficiale con potere decisionale.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A T-7 non devono esserci più "non lo so".</a:t>
            </a:r>
          </a:p>
        </p:txBody>
      </p:sp>
    </p:spTree>
    <p:extLst>
      <p:ext uri="{BB962C8B-B14F-4D97-AF65-F5344CB8AC3E}">
        <p14:creationId xmlns:p14="http://schemas.microsoft.com/office/powerpoint/2010/main" val="28113120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276D547-2A46-F27F-2A87-C854B0D56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Operazioni Preliminari: Lo Sbarco Pesi (NAV-G-001)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35671F4-7BEA-9E2E-C305-74A808D379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Sbarco obbligatorio delle munizioni e dei materiali esplosivi.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Sbarco dei combustibili (secondo limiti stabiliti).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Rizzaggio stringente di tutti i materiali mobili sui ponti (es. trincarini).</a:t>
            </a:r>
          </a:p>
          <a:p>
            <a:pPr marR="0" lvl="0"/>
            <a:r>
              <a:rPr lang="fr-FR" sz="1800" kern="100" dirty="0">
                <a:solidFill>
                  <a:srgbClr val="0F4761"/>
                </a:solidFill>
                <a:latin typeface="Sitka Text Semibold" pitchFamily="2" charset="0"/>
              </a:rPr>
              <a:t> BOX: Rif: PSBM001A Par. 4.3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TAKEAWAY: Nave leggera e vuota, bacino sicuro.</a:t>
            </a:r>
          </a:p>
        </p:txBody>
      </p:sp>
    </p:spTree>
    <p:extLst>
      <p:ext uri="{BB962C8B-B14F-4D97-AF65-F5344CB8AC3E}">
        <p14:creationId xmlns:p14="http://schemas.microsoft.com/office/powerpoint/2010/main" val="2827082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D7AD8AB-A9E1-FA8E-053E-610DBCDD3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Operazioni Preliminari: Sentine e Portelleria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252BCBA-D558-B49A-AD03-05C5A95E49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Effettuare il prosciugamento totale di tutte le sentine di bordo prima dell'ingresso.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Sigillare e chiudere tutta la portelleria esterna fino all'avvenuta messa a secco.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Evitare categoricamente che travasi accidentali alterino il bilanciamento.</a:t>
            </a:r>
          </a:p>
          <a:p>
            <a:pPr marR="0" lvl="0"/>
            <a:r>
              <a:rPr lang="pt-BR" sz="1800" kern="100" dirty="0">
                <a:solidFill>
                  <a:srgbClr val="0F4761"/>
                </a:solidFill>
                <a:latin typeface="Sitka Text Semibold" pitchFamily="2" charset="0"/>
              </a:rPr>
              <a:t> BOX: Rif: PSBM001A Par. 4.3 e 4.5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TAKEAWAY: Sigilla la nave contro ogni allagamento o sbilanciamento accidentale.</a:t>
            </a:r>
          </a:p>
        </p:txBody>
      </p:sp>
    </p:spTree>
    <p:extLst>
      <p:ext uri="{BB962C8B-B14F-4D97-AF65-F5344CB8AC3E}">
        <p14:creationId xmlns:p14="http://schemas.microsoft.com/office/powerpoint/2010/main" val="16569404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9D4500-ADC8-04F6-62A8-591136802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Operazioni Preliminari: Certificazione Gas-Free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DCF753B-0FAA-2483-80BB-34BD96B1FD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Eseguire pulizia e gas-free dei depositi nafta prima dell'ingresso.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Procedura vitale qualora si debbano eseguire lavori con fiamme libere in prossimità.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In assenza, è vietata qualsiasi autorizzazione per operazioni "a caldo".</a:t>
            </a:r>
          </a:p>
          <a:p>
            <a:pPr marR="0" lvl="0"/>
            <a:r>
              <a:rPr lang="fr-FR" sz="1800" kern="100" dirty="0">
                <a:solidFill>
                  <a:srgbClr val="0F4761"/>
                </a:solidFill>
                <a:latin typeface="Sitka Text Semibold" pitchFamily="2" charset="0"/>
              </a:rPr>
              <a:t>BOX: Rif: PSBM001A Par. 4.3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Nessun certificato Gas-Free = Nessuna fiamma libera autorizzata.</a:t>
            </a:r>
          </a:p>
        </p:txBody>
      </p:sp>
    </p:spTree>
    <p:extLst>
      <p:ext uri="{BB962C8B-B14F-4D97-AF65-F5344CB8AC3E}">
        <p14:creationId xmlns:p14="http://schemas.microsoft.com/office/powerpoint/2010/main" val="10757396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42B59D-E40E-02C0-FC0C-75638C641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Gestione Mezzi di Supporto Esterni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8F6570B-C9D5-EDE6-9C10-4AB8C3AD2E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Il Comando gestisce direttamente la messaggistica per i rimorchiatori e mezzi di supporto MARISTANAV.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Richiedere la comandata di terra necessaria per i tonneggi da banchina.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Nessun rimorchiatore supererà mai l'imboccatura del bacino.</a:t>
            </a:r>
          </a:p>
          <a:p>
            <a:pPr marR="0" lvl="0"/>
            <a:r>
              <a:rPr lang="pt-BR" sz="1800" kern="100" dirty="0">
                <a:solidFill>
                  <a:srgbClr val="0F4761"/>
                </a:solidFill>
                <a:latin typeface="Sitka Text Semibold" pitchFamily="2" charset="0"/>
              </a:rPr>
              <a:t>BOX: Rif: PSBM001A Par. 4.2 e 4.4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La forza motrice esterna si ferma alla porta del bacino.</a:t>
            </a:r>
          </a:p>
        </p:txBody>
      </p:sp>
    </p:spTree>
    <p:extLst>
      <p:ext uri="{BB962C8B-B14F-4D97-AF65-F5344CB8AC3E}">
        <p14:creationId xmlns:p14="http://schemas.microsoft.com/office/powerpoint/2010/main" val="31299594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FAEAD6E-160F-5B17-FD86-C09861A71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La Check-List Operativa (PSBM001A.A01)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2BB7ACB-4521-9E4D-FF0C-5E9A386A49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L'ingresso è vincolato alla Check-List di 27 Step ufficiali dell'Arsenale.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Include l'approntamento e i test su pompe, argani e pulizia platea prima di aprire.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Il Comando Bordo spunta i passi autorizzativi (assetto, portelleria) insieme al Capo Bacini.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BOX: Rif: PSBM001A Allegato 1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Usa la Check-List: è il tuo </a:t>
            </a:r>
            <a:r>
              <a:rPr lang="it-IT" sz="1800" kern="100" dirty="0" err="1">
                <a:solidFill>
                  <a:srgbClr val="0F4761"/>
                </a:solidFill>
                <a:latin typeface="Sitka Text Semibold" pitchFamily="2" charset="0"/>
              </a:rPr>
              <a:t>logbook</a:t>
            </a:r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legale in caso di incidenti.</a:t>
            </a:r>
          </a:p>
        </p:txBody>
      </p:sp>
    </p:spTree>
    <p:extLst>
      <p:ext uri="{BB962C8B-B14F-4D97-AF65-F5344CB8AC3E}">
        <p14:creationId xmlns:p14="http://schemas.microsoft.com/office/powerpoint/2010/main" val="37863062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17CA37F-5F24-9B55-E11A-D8495644C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Verifica Infrastrutturale del Bacino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7F6E39A-33C1-C7A9-4CC5-C12050CC6D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Prima di autorizzare l'ingresso, l'Arsenale verifica le pompe antincendio e di prosciugamento.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Ispezione della platea per garantire assenza di ingombri.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Il Comandante accerta indirettamente che il sito sia recettivo e sicuro.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BOX: Rif: PSBM001A Allegato 1, Step 7-8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Non forzare l'ingresso se l'impianto a terra ha deficienze.</a:t>
            </a:r>
          </a:p>
        </p:txBody>
      </p:sp>
    </p:spTree>
    <p:extLst>
      <p:ext uri="{BB962C8B-B14F-4D97-AF65-F5344CB8AC3E}">
        <p14:creationId xmlns:p14="http://schemas.microsoft.com/office/powerpoint/2010/main" val="2564459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2FF27AF-E153-98E8-A90F-3AEEE3A5B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Briefing di Sicurezza per l'Equipaggio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BD249EB-48BF-C723-74C8-5052D4ED99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Definire chiaramente i ruoli di manovra a bordo e comunicazioni.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Distribuire correttamente i DPI: elmetto, scarpe antinfortunistiche, alta visibilità.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Garantire uso di guanti contro rischi meccanici per la gestione dei cavi.</a:t>
            </a:r>
          </a:p>
          <a:p>
            <a:r>
              <a:rPr lang="fr-FR" sz="1800" kern="100" dirty="0">
                <a:solidFill>
                  <a:srgbClr val="0F4761"/>
                </a:solidFill>
                <a:latin typeface="Sitka Text Semibold" pitchFamily="2" charset="0"/>
              </a:rPr>
              <a:t> BOX: Rif: PSBM001A Par. 4.4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TAKEAWAY: Nessuno sul ponte senza DPI completi durante l'ingresso.</a:t>
            </a:r>
          </a:p>
        </p:txBody>
      </p:sp>
    </p:spTree>
    <p:extLst>
      <p:ext uri="{BB962C8B-B14F-4D97-AF65-F5344CB8AC3E}">
        <p14:creationId xmlns:p14="http://schemas.microsoft.com/office/powerpoint/2010/main" val="27937551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082EAE-1988-AD30-7B87-2502BCD1D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Comunicazioni durante l'Avvicinamento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4999C4D-7EA4-24E0-D448-E920D89C3A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Stabilire un canale VHF prioritario per coordinarsi con il personale del Nucleo Bacini.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Mantenere il silenzio radio sulle reti di manovra non essenziali.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Qualsiasi anomalia va comunicata all'istante bloccando l'allineamento.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BOX: Rif: PSBM001A </a:t>
            </a:r>
            <a:r>
              <a:rPr lang="it-IT" sz="1800" kern="100" dirty="0" err="1">
                <a:solidFill>
                  <a:srgbClr val="0F4761"/>
                </a:solidFill>
                <a:latin typeface="Sitka Text Semibold" pitchFamily="2" charset="0"/>
              </a:rPr>
              <a:t>All</a:t>
            </a:r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. 1 e Par. 5.2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TAKEAWAY: Unico canale, ordini inequivocabili.</a:t>
            </a:r>
          </a:p>
        </p:txBody>
      </p:sp>
    </p:spTree>
    <p:extLst>
      <p:ext uri="{BB962C8B-B14F-4D97-AF65-F5344CB8AC3E}">
        <p14:creationId xmlns:p14="http://schemas.microsoft.com/office/powerpoint/2010/main" val="2728555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DAC193F-D748-A1F7-7F24-220A957D7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Imboccatura: Vietate le Eliche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D6ABDD4-CDFE-BB4F-F00B-12F710496B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Imboccata la porta, è severamente vietato fare uso delle eliche di bordo.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L'avanzamento avviene unicamente lavorando con i tonneggi e gli argani.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Il Comandante ordina il tiro sui cavi, senza ausilio di mezzi esterni.</a:t>
            </a:r>
          </a:p>
          <a:p>
            <a:r>
              <a:rPr lang="fr-FR" sz="1800" kern="100" dirty="0">
                <a:solidFill>
                  <a:srgbClr val="0F4761"/>
                </a:solidFill>
                <a:latin typeface="Sitka Text Semibold" pitchFamily="2" charset="0"/>
              </a:rPr>
              <a:t> BOX: Rif: PSBM001A Par. 4.4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TAKEAWAY: Spento l'asse, inizia la trazione manuale.</a:t>
            </a:r>
          </a:p>
        </p:txBody>
      </p:sp>
    </p:spTree>
    <p:extLst>
      <p:ext uri="{BB962C8B-B14F-4D97-AF65-F5344CB8AC3E}">
        <p14:creationId xmlns:p14="http://schemas.microsoft.com/office/powerpoint/2010/main" val="38595860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96D7C99-9265-48AC-6EA3-2E9647987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Fase A: Comando in Galleggiamento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7CC2917-3278-EDAE-929F-38ACF62EAD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Finché la nave è in galleggiamento sui propri cavi, Comando e Controllo restano del Comandante.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La responsabilità civile e penale per impatti e danni è a carico del bordo.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L'unità si posiziona seguendo i traguardi ottici posti a terra dal Nucleo Bacini.</a:t>
            </a:r>
          </a:p>
          <a:p>
            <a:r>
              <a:rPr lang="fr-FR" sz="1800" kern="100" dirty="0">
                <a:solidFill>
                  <a:srgbClr val="0F4761"/>
                </a:solidFill>
                <a:latin typeface="Sitka Text Semibold" pitchFamily="2" charset="0"/>
              </a:rPr>
              <a:t> BOX: Rif: PSBM001A Par. 5.3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TAKEAWAY: Se l'acqua la sostiene, sei tu che decidi.</a:t>
            </a:r>
          </a:p>
        </p:txBody>
      </p:sp>
    </p:spTree>
    <p:extLst>
      <p:ext uri="{BB962C8B-B14F-4D97-AF65-F5344CB8AC3E}">
        <p14:creationId xmlns:p14="http://schemas.microsoft.com/office/powerpoint/2010/main" val="31676928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1F804F8-5900-4DCD-659E-D0DB43A8E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Fase B: Predisposizione Centratura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A6631D1-60CD-F760-3842-5B968E4963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Stop al prosciugamento a circa 2 metri dal piano di posa.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L'Arsenale installa i paranchi di centratura sugli argani a terra.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L'equipaggio collega l'altro lato dei paranchi alle bitte di bordo.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BOX: Rif: PSBM001A Par. 5.3 e </a:t>
            </a:r>
            <a:r>
              <a:rPr lang="it-IT" sz="1800" kern="100" dirty="0" err="1">
                <a:solidFill>
                  <a:srgbClr val="0F4761"/>
                </a:solidFill>
                <a:latin typeface="Sitka Text Semibold" pitchFamily="2" charset="0"/>
              </a:rPr>
              <a:t>All</a:t>
            </a:r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. 1</a:t>
            </a:r>
          </a:p>
          <a:p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TAKEAWAY: I paranchi sono la linea di demarcazione delle responsabilità.</a:t>
            </a:r>
          </a:p>
        </p:txBody>
      </p:sp>
    </p:spTree>
    <p:extLst>
      <p:ext uri="{BB962C8B-B14F-4D97-AF65-F5344CB8AC3E}">
        <p14:creationId xmlns:p14="http://schemas.microsoft.com/office/powerpoint/2010/main" val="22651152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9374381-601E-C6AC-EDB0-8369A25C4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Fase C: Il Passaggio di Comando (MOMENTO CRITICO)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7839839-E4C2-9987-A124-79F5737D3E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Momento cruciale: il Capo Nucleo chiama il Comandante via VHF.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Dichiara formalmente il passaggio della Responsabilità, Comando e Controllo all'Arsenale.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Da questo istante in poi, ogni ordine per la messa a secco è dell'Arsenale.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BOX: Pretendi chiarezza assoluta via radio. Questo istante vale un processo.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Il passaggio di comando avviene via VHF. Registralo.</a:t>
            </a:r>
          </a:p>
        </p:txBody>
      </p:sp>
    </p:spTree>
    <p:extLst>
      <p:ext uri="{BB962C8B-B14F-4D97-AF65-F5344CB8AC3E}">
        <p14:creationId xmlns:p14="http://schemas.microsoft.com/office/powerpoint/2010/main" val="33450823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16C9984-EDDF-1066-7536-C318A55B8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Discesa e Ispezione Palombari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71537D4-F04C-4341-07E8-BF841E343C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La nave viene posta in condizione di black-out elettrico.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Il Nucleo SDAI o palombari si immerge per l'ispezione della centratura, paglietto e gargame.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Ripresa del prosciugamento fino all'incaglio strutturale (appoggio e schiacciamento).</a:t>
            </a:r>
          </a:p>
          <a:p>
            <a:pPr marR="0" lvl="0"/>
            <a:r>
              <a:rPr lang="en-US" sz="1800" kern="100" dirty="0">
                <a:solidFill>
                  <a:srgbClr val="0F4761"/>
                </a:solidFill>
                <a:latin typeface="Sitka Text Semibold" pitchFamily="2" charset="0"/>
              </a:rPr>
              <a:t>BOX: Rif: PSBM001A All. 1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A bordo nessuno si muove finché l'appoggio non è definitivo.</a:t>
            </a:r>
          </a:p>
        </p:txBody>
      </p:sp>
    </p:spTree>
    <p:extLst>
      <p:ext uri="{BB962C8B-B14F-4D97-AF65-F5344CB8AC3E}">
        <p14:creationId xmlns:p14="http://schemas.microsoft.com/office/powerpoint/2010/main" val="40802037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C0B8AC-8140-6A52-E121-0C8D6A18E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Vietato Spostare Pesi in Bacino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1E0680B-941F-3707-7211-DF1D6BE008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Con la nave a secco, è vietato svuotare/riempire casse, zavorre o caldaie.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Qualsiasi spostamento pesi non concordato compromette l'equilibrio trasversale della nave.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Autorizzazioni in deroga solo dopo approvazione scritta della Direzione Arsenale.</a:t>
            </a:r>
          </a:p>
          <a:p>
            <a:pPr marR="0" lvl="0"/>
            <a:r>
              <a:rPr lang="fr-FR" sz="1800" kern="100" dirty="0">
                <a:solidFill>
                  <a:srgbClr val="0F4761"/>
                </a:solidFill>
                <a:latin typeface="Sitka Text Semibold" pitchFamily="2" charset="0"/>
              </a:rPr>
              <a:t> BOX: Rif: PSBM001A Par. 4.5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TAKEAWAY: La nave è in bilico. Una cassa vuotata può ribaltarla.</a:t>
            </a:r>
          </a:p>
        </p:txBody>
      </p:sp>
    </p:spTree>
    <p:extLst>
      <p:ext uri="{BB962C8B-B14F-4D97-AF65-F5344CB8AC3E}">
        <p14:creationId xmlns:p14="http://schemas.microsoft.com/office/powerpoint/2010/main" val="7970818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39ED40C-6546-DB75-7D2C-4061A0D33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Messa a Terra dello Scafo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0328D48-2FFD-4622-274B-41B130A51F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Il Comandante accerta immediatamente il collegamento di messa a terra.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Il cavo, fornito dall'Arsenale, deve avere un solido contatto metallico tra lo scafo e il bacino.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Essenziale per autorizzare le ditte all'inizio delle saldature e per evitare folgorazioni.</a:t>
            </a:r>
          </a:p>
          <a:p>
            <a:pPr marR="0" lvl="0"/>
            <a:r>
              <a:rPr lang="fr-FR" sz="1800" kern="100" dirty="0">
                <a:solidFill>
                  <a:srgbClr val="0F4761"/>
                </a:solidFill>
                <a:latin typeface="Sitka Text Semibold" pitchFamily="2" charset="0"/>
              </a:rPr>
              <a:t>BOX: Rif: PSBM001A Par. 4.5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Niente massa a terra = Nessun cavo elettrico sotto tensione.</a:t>
            </a:r>
          </a:p>
        </p:txBody>
      </p:sp>
    </p:spTree>
    <p:extLst>
      <p:ext uri="{BB962C8B-B14F-4D97-AF65-F5344CB8AC3E}">
        <p14:creationId xmlns:p14="http://schemas.microsoft.com/office/powerpoint/2010/main" val="403796888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7090F00-8193-D55A-89DD-0F4A10AAD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Installazione delle Passerelle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51782BF-C066-1C12-5E83-2F00FB081A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Le passerelle vanno assicurate con robuste legature di cavo a bordo e a terra.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Fissare cartello con divieto: no affollamento, stazionamento, transito a passo cadenzato.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Obbligo per il personale in transito di mantenersi a un metro di distanza.</a:t>
            </a:r>
          </a:p>
          <a:p>
            <a:pPr marR="0" lvl="0"/>
            <a:r>
              <a:rPr lang="fr-FR" sz="1800" kern="100" dirty="0">
                <a:solidFill>
                  <a:srgbClr val="0F4761"/>
                </a:solidFill>
                <a:latin typeface="Sitka Text Semibold" pitchFamily="2" charset="0"/>
              </a:rPr>
              <a:t>BOX: Rif: PSBM001A Par. 4.5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Le passerelle sono vie di transito, mai zone di sosta.</a:t>
            </a:r>
          </a:p>
        </p:txBody>
      </p:sp>
    </p:spTree>
    <p:extLst>
      <p:ext uri="{BB962C8B-B14F-4D97-AF65-F5344CB8AC3E}">
        <p14:creationId xmlns:p14="http://schemas.microsoft.com/office/powerpoint/2010/main" val="210790014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E956A91-3344-BCD4-1576-E752A515A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Ripristino Servizi Vitali di Bordo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0FE1908-05AB-AC03-65D8-6EE46855AB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Passaggio dei cavi di alimentazione di terra e fine del black-out.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Collegamento utenze antincendio e circuito acqua dolce.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Messa in rete dei sistemi di segnalazione e illuminazione essenziali.</a:t>
            </a:r>
          </a:p>
          <a:p>
            <a:pPr marR="0" lvl="0"/>
            <a:r>
              <a:rPr lang="en-US" sz="1800" kern="100" dirty="0">
                <a:solidFill>
                  <a:srgbClr val="0F4761"/>
                </a:solidFill>
                <a:latin typeface="Sitka Text Semibold" pitchFamily="2" charset="0"/>
              </a:rPr>
              <a:t> BOX: Rif: PSBM001A All. 1, Step 24-25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TAKEAWAY: Ridare "energia" alla nave con le cautele del caso.</a:t>
            </a:r>
          </a:p>
        </p:txBody>
      </p:sp>
    </p:spTree>
    <p:extLst>
      <p:ext uri="{BB962C8B-B14F-4D97-AF65-F5344CB8AC3E}">
        <p14:creationId xmlns:p14="http://schemas.microsoft.com/office/powerpoint/2010/main" val="34101350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3FB369-01CE-0570-A5EA-1DE576982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Il Servizio di Sentinella (Bacino)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095D59B-F7B5-8C71-3961-316DA05843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Stabilire un servizio di sentinella di bordo rivolto verso la porta del bacino.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Impedire stazionamenti di curiosi o depositi di cantiere sopra di essa.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Prevenire assolutamente manomissioni volontarie/involontarie alle valvole.</a:t>
            </a:r>
          </a:p>
          <a:p>
            <a:pPr marR="0" lvl="0"/>
            <a:r>
              <a:rPr lang="fr-FR" sz="1800" kern="100" dirty="0">
                <a:solidFill>
                  <a:srgbClr val="0F4761"/>
                </a:solidFill>
                <a:latin typeface="Sitka Text Semibold" pitchFamily="2" charset="0"/>
              </a:rPr>
              <a:t> BOX: Rif: PSBM001A Par. 4.5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TAKEAWAY: La porta del bacino è una barriera vitale: blindala.</a:t>
            </a:r>
          </a:p>
        </p:txBody>
      </p:sp>
    </p:spTree>
    <p:extLst>
      <p:ext uri="{BB962C8B-B14F-4D97-AF65-F5344CB8AC3E}">
        <p14:creationId xmlns:p14="http://schemas.microsoft.com/office/powerpoint/2010/main" val="24590330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904DC29-E4BC-F73A-25FB-2E3A518F4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La Manovra di Uscita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99B2989-FA7D-573A-42B0-8F13F2C4E8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Controllare che casse, assetti e portellerie siano nello stato previsto per galleggiare.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Assicurarsi del termine di tutti i lavori che interessavano l'opera viva.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La responsabilità, il Comando e Controllo tornano alla Nave nel momento in cui va in galleggiamento.</a:t>
            </a:r>
          </a:p>
          <a:p>
            <a:pPr marR="0" lvl="0"/>
            <a:r>
              <a:rPr lang="fr-FR" sz="1800" kern="100" dirty="0">
                <a:solidFill>
                  <a:srgbClr val="0F4761"/>
                </a:solidFill>
                <a:latin typeface="Sitka Text Semibold" pitchFamily="2" charset="0"/>
              </a:rPr>
              <a:t> BOX: Rif: PSBM001A Par. 5.3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TAKEAWAY: L'acqua che sale restituisce il comando.</a:t>
            </a:r>
          </a:p>
        </p:txBody>
      </p:sp>
    </p:spTree>
    <p:extLst>
      <p:ext uri="{BB962C8B-B14F-4D97-AF65-F5344CB8AC3E}">
        <p14:creationId xmlns:p14="http://schemas.microsoft.com/office/powerpoint/2010/main" val="4099938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79ADBF0-D9A4-7C63-2BF8-1DEFA4D86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Verifica Sbandamento in Uscita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28033E4-779E-DA5C-E3FF-F255667678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Attenzione estrema alla fase in cui la nave si stacca dalle taccate.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Controllare assetto trasversale e longitudinale immediato.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Comunicare su rete VHF e iniziare uscita solo con motori spenti.</a:t>
            </a:r>
          </a:p>
          <a:p>
            <a:pPr marR="0" lvl="0"/>
            <a:r>
              <a:rPr lang="pt-BR" sz="1800" kern="100" dirty="0">
                <a:solidFill>
                  <a:srgbClr val="0F4761"/>
                </a:solidFill>
                <a:latin typeface="Sitka Text Semibold" pitchFamily="2" charset="0"/>
              </a:rPr>
              <a:t> BOX: Rif: PSBM001A Par. 4.5 e 5.3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TAKEAWAY: Se la nave pende, ferma tutto e richiama il prosciugamento.</a:t>
            </a:r>
          </a:p>
        </p:txBody>
      </p:sp>
    </p:spTree>
    <p:extLst>
      <p:ext uri="{BB962C8B-B14F-4D97-AF65-F5344CB8AC3E}">
        <p14:creationId xmlns:p14="http://schemas.microsoft.com/office/powerpoint/2010/main" val="319970624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7940566-4556-A1C6-0DD0-ECC721BE3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Il Verbale di Passaggio Consegne (PSBM001A.A02)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3DD9F50-B431-E5C3-BBD4-3161EC0E9A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Modulo formale tra Bacino e Unità redatto prima dell'avvio lavorazioni.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Delega poteri e formalizza uso impianti (Antincendio, Elettrico).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Viene controfirmato da Comandante, Capo Bacini, Ditte ed Ufficio Programma.</a:t>
            </a:r>
          </a:p>
          <a:p>
            <a:pPr marR="0" lvl="0"/>
            <a:r>
              <a:rPr lang="fr-FR" sz="1800" kern="100" dirty="0">
                <a:solidFill>
                  <a:srgbClr val="0F4761"/>
                </a:solidFill>
                <a:latin typeface="Sitka Text Semibold" pitchFamily="2" charset="0"/>
              </a:rPr>
              <a:t> BOX: Rif: PSBM001A Par. 4.6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TAKEAWAY: È la tua "Dichiarazione di Indipendenza" contrattuale nel bacino.</a:t>
            </a:r>
          </a:p>
        </p:txBody>
      </p:sp>
    </p:spTree>
    <p:extLst>
      <p:ext uri="{BB962C8B-B14F-4D97-AF65-F5344CB8AC3E}">
        <p14:creationId xmlns:p14="http://schemas.microsoft.com/office/powerpoint/2010/main" val="220937764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D10BB7D-EEB6-D289-1E18-AF449AC4E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Cessione della Rete Antincendio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F4CB025-B25A-D4A0-A692-B8A8622989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L'impianto fisso A.I. del bacino viene formalmente ceduto all'uso del personale di bordo.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Il personale SAP deve essere addestrato dall'Arsenale e indossare cuffie antirumore.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Annotare giornalmente su registro le ore di funzionamento delle pompe e le pressioni erogate (Atm).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BOX: Rif: PSBM001A Par. 5.4.3 e </a:t>
            </a:r>
            <a:r>
              <a:rPr lang="it-IT" sz="1800" kern="100" dirty="0" err="1">
                <a:solidFill>
                  <a:srgbClr val="0F4761"/>
                </a:solidFill>
                <a:latin typeface="Sitka Text Semibold" pitchFamily="2" charset="0"/>
              </a:rPr>
              <a:t>All</a:t>
            </a:r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. 2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L'impianto è a terra, ma ad azionarlo in emergenza sarai tu.</a:t>
            </a:r>
          </a:p>
        </p:txBody>
      </p:sp>
    </p:spTree>
    <p:extLst>
      <p:ext uri="{BB962C8B-B14F-4D97-AF65-F5344CB8AC3E}">
        <p14:creationId xmlns:p14="http://schemas.microsoft.com/office/powerpoint/2010/main" val="38944067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811EE7A-F2BD-40F9-2906-993DFFB4C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Barriera Acque di Processo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C57A652-EFA0-1A5C-C7AA-76DF51E192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Il Comando Bordo vigila sul posizionamento della barriera ecologica nella platea.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Separa i pozzetti di prosciugamento dall'area in cui si producono acque di lavorazione (cantiere).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Evita denunce ambientali per contaminazione mare.</a:t>
            </a:r>
          </a:p>
          <a:p>
            <a:pPr marR="0" lvl="0"/>
            <a:r>
              <a:rPr lang="fr-FR" sz="1800" kern="100" dirty="0">
                <a:solidFill>
                  <a:srgbClr val="0F4761"/>
                </a:solidFill>
                <a:latin typeface="Sitka Text Semibold" pitchFamily="2" charset="0"/>
              </a:rPr>
              <a:t> BOX: Rif: PSBM001A Par. 4.6.1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TAKEAWAY: La platea non è un tombino industriale.</a:t>
            </a:r>
          </a:p>
        </p:txBody>
      </p:sp>
    </p:spTree>
    <p:extLst>
      <p:ext uri="{BB962C8B-B14F-4D97-AF65-F5344CB8AC3E}">
        <p14:creationId xmlns:p14="http://schemas.microsoft.com/office/powerpoint/2010/main" val="216808985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51CFED3-2F0D-3C36-9A12-1AF378CBB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Smaltimento Rifiuti di Cantiere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6E9DF40-49D6-3428-928E-D12A94B74B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Responsabilità in capo a Ufficio Programma e Comando supervisionare le Ditte.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I residui delle sabbiature, pitturazioni e vernici non devono accumularsi.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Applicazione severa del divieto di abbandono rifiuti in platea o banchina.</a:t>
            </a:r>
          </a:p>
          <a:p>
            <a:pPr marR="0" lvl="0"/>
            <a:r>
              <a:rPr lang="fr-FR" sz="1800" kern="100" dirty="0">
                <a:solidFill>
                  <a:srgbClr val="0F4761"/>
                </a:solidFill>
                <a:latin typeface="Sitka Text Semibold" pitchFamily="2" charset="0"/>
              </a:rPr>
              <a:t> BOX: Rif: PSBM001A Par. 5.4.2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TAKEAWAY: Un cantiere sporco è un cantiere pericoloso e illegale.</a:t>
            </a:r>
          </a:p>
        </p:txBody>
      </p:sp>
    </p:spTree>
    <p:extLst>
      <p:ext uri="{BB962C8B-B14F-4D97-AF65-F5344CB8AC3E}">
        <p14:creationId xmlns:p14="http://schemas.microsoft.com/office/powerpoint/2010/main" val="64749241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43875A1-96C2-5A44-7C1A-FB5F0E98F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Sicurezza nell'Apertura Spazi Confinati (Art. 111)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6649AF4-139F-D85D-4B5F-404018DC36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Sentine, doppifondi e cisterne: l'accesso di ditte o equipaggio è severamente regolato.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Bonifica preventiva e Gas-Free con attestazione LEL e O2.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Organizzazione all'esterno di personale per recupero e ventilazione forzata continua.</a:t>
            </a:r>
          </a:p>
          <a:p>
            <a:pPr marR="0" lvl="0"/>
            <a:r>
              <a:rPr lang="en-US" sz="1800" kern="100" dirty="0">
                <a:solidFill>
                  <a:srgbClr val="0F4761"/>
                </a:solidFill>
                <a:latin typeface="Sitka Text Semibold" pitchFamily="2" charset="0"/>
              </a:rPr>
              <a:t> BOX: Rif: SMM-PREVA-1062 Art. 111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TAKEAWAY: Spazio confinato = Aria viziata = Pericolo di morte.</a:t>
            </a:r>
          </a:p>
        </p:txBody>
      </p:sp>
    </p:spTree>
    <p:extLst>
      <p:ext uri="{BB962C8B-B14F-4D97-AF65-F5344CB8AC3E}">
        <p14:creationId xmlns:p14="http://schemas.microsoft.com/office/powerpoint/2010/main" val="203310757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EC5566D-0769-28C5-362E-55EEF1B2B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Preposti Nave per l'Alta Vigilanza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4A56C2A-F149-65D2-3F42-A020CCB2DF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Il Comandante nomina incaricati ("rappresentanti") per scortare e vigilare i civili a bordo.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Svolgono ruolo ispettivo senza mai dire "come" fare un lavoro.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Segnalano all'RTL delle ditte eventuali abusi o mancanza DPI riscontrati a bordo.</a:t>
            </a:r>
          </a:p>
          <a:p>
            <a:pPr marR="0" lvl="0"/>
            <a:r>
              <a:rPr lang="en-US" sz="1800" kern="100" dirty="0">
                <a:solidFill>
                  <a:srgbClr val="0F4761"/>
                </a:solidFill>
                <a:latin typeface="Sitka Text Semibold" pitchFamily="2" charset="0"/>
              </a:rPr>
              <a:t>BOX: Rif: SMM-PREVA-1062 Art. 113, </a:t>
            </a:r>
            <a:r>
              <a:rPr lang="en-US" sz="1800" kern="100" dirty="0" err="1">
                <a:solidFill>
                  <a:srgbClr val="0F4761"/>
                </a:solidFill>
                <a:latin typeface="Sitka Text Semibold" pitchFamily="2" charset="0"/>
              </a:rPr>
              <a:t>commi</a:t>
            </a:r>
            <a:r>
              <a:rPr lang="en-US" sz="1800" kern="100" dirty="0">
                <a:solidFill>
                  <a:srgbClr val="0F4761"/>
                </a:solidFill>
                <a:latin typeface="Sitka Text Semibold" pitchFamily="2" charset="0"/>
              </a:rPr>
              <a:t> 5-7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Scegli bene i tuoi occhi. Formati, attenti e muti.</a:t>
            </a:r>
          </a:p>
        </p:txBody>
      </p:sp>
    </p:spTree>
    <p:extLst>
      <p:ext uri="{BB962C8B-B14F-4D97-AF65-F5344CB8AC3E}">
        <p14:creationId xmlns:p14="http://schemas.microsoft.com/office/powerpoint/2010/main" val="168056369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926B556-0362-DE7C-5B28-3C31FA917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Lavorazioni Elettriche (Permessi di Lavoro)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3412A48-8DB1-C6D4-6473-4B70FA80A5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Nessun intervento a bordo senza che il quadro principale sia stato bloccato.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Fissare cartelli monitori "VIETATO MANOVRARE - PERICOLO – LAVORI IN CORSO".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Per i lavori in tensione o Alta Tensione, il personale deve avere abilitazione PES/PAV/IMAT.</a:t>
            </a:r>
          </a:p>
          <a:p>
            <a:pPr marR="0" lvl="0"/>
            <a:r>
              <a:rPr lang="en-US" sz="1800" kern="100" dirty="0">
                <a:solidFill>
                  <a:srgbClr val="0F4761"/>
                </a:solidFill>
                <a:latin typeface="Sitka Text Semibold" pitchFamily="2" charset="0"/>
              </a:rPr>
              <a:t>BOX: Rif: SMM-PREVA-1062 Art. 111 c.4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Isola, metti a terra, metti il lucchetto.</a:t>
            </a:r>
          </a:p>
        </p:txBody>
      </p:sp>
    </p:spTree>
    <p:extLst>
      <p:ext uri="{BB962C8B-B14F-4D97-AF65-F5344CB8AC3E}">
        <p14:creationId xmlns:p14="http://schemas.microsoft.com/office/powerpoint/2010/main" val="425660397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6F3C1C2-B8C5-0C8F-B5E8-C193FAE41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Fornitura Attrezzature Militari ai Civili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7629E6E-BB4F-3068-3384-25D83B086F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Prestarle è permesso tramite "consegna formale", ma con i registri di collaudo in regola.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L'attrezzo deve essere marcato CE o conforme ad Allegato V del TUSL.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L'onere della formazione per l'uso in sicurezza ricade sul datore di lavoro civile.</a:t>
            </a:r>
          </a:p>
          <a:p>
            <a:pPr marR="0" lvl="0"/>
            <a:r>
              <a:rPr lang="en-US" sz="1800" kern="100" dirty="0">
                <a:solidFill>
                  <a:srgbClr val="0F4761"/>
                </a:solidFill>
                <a:latin typeface="Sitka Text Semibold" pitchFamily="2" charset="0"/>
              </a:rPr>
              <a:t>BOX: Rif: SMM-PREVA-1062 Art. 107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Se presti una gru senza collaudo, l'incidente sarà tuo.</a:t>
            </a:r>
          </a:p>
        </p:txBody>
      </p:sp>
    </p:spTree>
    <p:extLst>
      <p:ext uri="{BB962C8B-B14F-4D97-AF65-F5344CB8AC3E}">
        <p14:creationId xmlns:p14="http://schemas.microsoft.com/office/powerpoint/2010/main" val="425614363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325D77A-76C4-619F-A80D-4E3C8F6DA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Dispositivi di Protezione Individuale (DPI)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05E251F-2322-3881-058C-EEF73C7C4A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Equipaggio e ditte condividono gli stessi obblighi in materia di DPI nei locali operativi.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Il Comando assicura la distribuzione di tappi/cuffie per il rumore delle lavorazioni pesanti in bacino.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Tolleranza zero verso operatori sprovvisti di elmetto protettivo.</a:t>
            </a:r>
          </a:p>
          <a:p>
            <a:pPr marR="0" lvl="0"/>
            <a:r>
              <a:rPr lang="en-US" sz="1800" kern="100" dirty="0">
                <a:solidFill>
                  <a:srgbClr val="0F4761"/>
                </a:solidFill>
                <a:latin typeface="Sitka Text Semibold" pitchFamily="2" charset="0"/>
              </a:rPr>
              <a:t>BOX: Rif: SMM-PREVA-1062 Art. 108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Il cantiere si vede da fuori: niente DPI, si torna a casa.</a:t>
            </a:r>
          </a:p>
        </p:txBody>
      </p:sp>
    </p:spTree>
    <p:extLst>
      <p:ext uri="{BB962C8B-B14F-4D97-AF65-F5344CB8AC3E}">
        <p14:creationId xmlns:p14="http://schemas.microsoft.com/office/powerpoint/2010/main" val="243116966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0F5715A-01F0-FF17-0D80-34133AD72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Utilizzo Macchinari Nuovi o di Sostituzione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35F5F9F-DD8A-EEFF-471E-C11425B318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Al cambio di apparecchiature, verifica i manuali CE, d'uso e la dichiarazione conformità.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Aggiorna immediatamente le procedure di emergenza di bordo.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Qualifica l'equipaggio sui nuovi rischi introdotti dalle nuove tecnologie (varianti di configurazione).</a:t>
            </a:r>
          </a:p>
          <a:p>
            <a:pPr marR="0" lvl="0"/>
            <a:r>
              <a:rPr lang="en-US" sz="1800" kern="100" dirty="0">
                <a:solidFill>
                  <a:srgbClr val="0F4761"/>
                </a:solidFill>
                <a:latin typeface="Sitka Text Semibold" pitchFamily="2" charset="0"/>
              </a:rPr>
              <a:t>BOX: Rif: SMM-PREVA-1062 Art. 106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Mai autorizzare l'uso prima del collaudo finale.</a:t>
            </a:r>
          </a:p>
        </p:txBody>
      </p:sp>
    </p:spTree>
    <p:extLst>
      <p:ext uri="{BB962C8B-B14F-4D97-AF65-F5344CB8AC3E}">
        <p14:creationId xmlns:p14="http://schemas.microsoft.com/office/powerpoint/2010/main" val="377293907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452F0B-40D5-B943-465A-8293BBDDF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Sicurezza e Fattori Umani (Fatigue Management)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5902D4E-1B72-1A46-0D6E-246B0108C8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La sorveglianza in cantiere e il rumore aumentano drasticamente la fatica operativa.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Valuta la rotazione dei turni di guardia in platea o di preposto.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Lo stress è il primo fattore di incidenti fatali ("slip/</a:t>
            </a:r>
            <a:r>
              <a:rPr lang="it-IT" sz="1800" kern="100" dirty="0" err="1">
                <a:solidFill>
                  <a:srgbClr val="0F4761"/>
                </a:solidFill>
                <a:latin typeface="Sitka Text Semibold" pitchFamily="2" charset="0"/>
              </a:rPr>
              <a:t>mistake</a:t>
            </a:r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").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BOX: Rif: SMM-PREVA-1062 </a:t>
            </a:r>
            <a:r>
              <a:rPr lang="it-IT" sz="1800" kern="100" dirty="0" err="1">
                <a:solidFill>
                  <a:srgbClr val="0F4761"/>
                </a:solidFill>
                <a:latin typeface="Sitka Text Semibold" pitchFamily="2" charset="0"/>
              </a:rPr>
              <a:t>All</a:t>
            </a:r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. III-2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TAKEAWAY: La stanchezza cancella le regole. Ruota i tuoi uomini.</a:t>
            </a:r>
          </a:p>
        </p:txBody>
      </p:sp>
    </p:spTree>
    <p:extLst>
      <p:ext uri="{BB962C8B-B14F-4D97-AF65-F5344CB8AC3E}">
        <p14:creationId xmlns:p14="http://schemas.microsoft.com/office/powerpoint/2010/main" val="419995386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A612522-747C-5438-370D-8BAF20738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Giornate della Sicurezza in Bacino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05B77DC-C59D-A232-0B04-4EA48057E4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Promosse dall'RTL durante le soste prolungate con presenza delle Ditte.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Servono a riallineare equipaggio e operai sui rischi specifici del cantiere (incendi, DPI).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Aumentano il coordinamento umano tra personale militare e civile.</a:t>
            </a:r>
          </a:p>
          <a:p>
            <a:pPr marR="0" lvl="0"/>
            <a:r>
              <a:rPr lang="en-US" sz="1800" kern="100" dirty="0">
                <a:solidFill>
                  <a:srgbClr val="0F4761"/>
                </a:solidFill>
                <a:latin typeface="Sitka Text Semibold" pitchFamily="2" charset="0"/>
              </a:rPr>
              <a:t>BOX: Rif: SMM-PREVA-1062 Art. 116 c.9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Prevenire costa meno che gestire un lutto a bordo.</a:t>
            </a:r>
          </a:p>
        </p:txBody>
      </p:sp>
    </p:spTree>
    <p:extLst>
      <p:ext uri="{BB962C8B-B14F-4D97-AF65-F5344CB8AC3E}">
        <p14:creationId xmlns:p14="http://schemas.microsoft.com/office/powerpoint/2010/main" val="177001981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4E90F05-C020-98ED-C9F6-5084C0813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Isolamento di Aree della Nave (Art. 118)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855C21B-8E17-C656-4993-19556DEB2A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Per interventi invasivi (es. amianto), il Comando non può gestire incendi/allagamenti nell'area.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Viene redatto un verbale di consegna: la custodia passa all'Impresa.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L'Impresa attiva un servizio dedicato di "guardia fuochi" nell'area.</a:t>
            </a:r>
          </a:p>
          <a:p>
            <a:pPr marR="0" lvl="0"/>
            <a:r>
              <a:rPr lang="en-US" sz="1800" kern="100" dirty="0">
                <a:solidFill>
                  <a:srgbClr val="0F4761"/>
                </a:solidFill>
                <a:latin typeface="Sitka Text Semibold" pitchFamily="2" charset="0"/>
              </a:rPr>
              <a:t>BOX: Rif: SMM-PREVA-1062 Art. 118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Area consegnata = Accesso negato all'equipaggio.</a:t>
            </a:r>
          </a:p>
        </p:txBody>
      </p:sp>
    </p:spTree>
    <p:extLst>
      <p:ext uri="{BB962C8B-B14F-4D97-AF65-F5344CB8AC3E}">
        <p14:creationId xmlns:p14="http://schemas.microsoft.com/office/powerpoint/2010/main" val="28236663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BBB93E-34CE-6D37-BE39-834066A60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Supporto Operativo della Nave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4F9AA11-F278-315A-E779-B7BCF14533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Il bordo concorre alla predisposizione del Piano di Emergenza antincendio.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L'equipaggio mantiene in sicurezza gli impianti non interessati dai lavori.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Il Comando controlla gli accessi e verifica l'uso dei DPI per salire a bordo.</a:t>
            </a:r>
          </a:p>
          <a:p>
            <a:pPr marR="0" lvl="0"/>
            <a:r>
              <a:rPr lang="en-US" sz="1800" kern="100" dirty="0">
                <a:solidFill>
                  <a:srgbClr val="0F4761"/>
                </a:solidFill>
                <a:latin typeface="Sitka Text Semibold" pitchFamily="2" charset="0"/>
              </a:rPr>
              <a:t> BOX: Rif: SMM-PREVA-1062 Art. 116, comma 10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TAKEAWAY: La nave è tua, anche quando è un cantiere.</a:t>
            </a:r>
          </a:p>
        </p:txBody>
      </p:sp>
    </p:spTree>
    <p:extLst>
      <p:ext uri="{BB962C8B-B14F-4D97-AF65-F5344CB8AC3E}">
        <p14:creationId xmlns:p14="http://schemas.microsoft.com/office/powerpoint/2010/main" val="141831217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351E146-88C3-82DB-74DB-F83E35FF4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La Rubrica Telefonica delle Emergenze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0C6185D-90FF-7053-4624-D60DB856D8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Guardia Bacini (H24): 22916 (Emergenze, Notte/Festivi)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Capo Nucleo Bacini in Muratura: 23762 (Orario lav. - Problemi operativi)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Sezione Reti </a:t>
            </a:r>
            <a:r>
              <a:rPr lang="it-IT" sz="1800" kern="100" dirty="0" err="1">
                <a:solidFill>
                  <a:srgbClr val="0F4761"/>
                </a:solidFill>
                <a:latin typeface="Sitka Text Semibold" pitchFamily="2" charset="0"/>
              </a:rPr>
              <a:t>Marinarsen</a:t>
            </a:r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: 22064 (Guasti alimentazione elettrica)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Sezione Sanitaria: 22841 (Orario lav. - Infortuni. Fuori orario → 118)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TAKEAWAY: Stampa questa slide e tienila in plancia.</a:t>
            </a:r>
          </a:p>
        </p:txBody>
      </p:sp>
    </p:spTree>
    <p:extLst>
      <p:ext uri="{BB962C8B-B14F-4D97-AF65-F5344CB8AC3E}">
        <p14:creationId xmlns:p14="http://schemas.microsoft.com/office/powerpoint/2010/main" val="214864341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DA5177-C6BF-87E6-D940-E5076E0E8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Emergenza Incendio (Livello Base e 3)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58446C2-D053-9A92-8335-33F84DD925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Principio d'incendio domabile con la rete bacino: intervengono SAP Bordo e/o RTL ditta.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Allarme Livello 3: Chiama Vigili del Fuoco, evacua la nave ai Punti di Raccolta e attendi ordini.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Togli alimentazione elettrica dalla colonnina.</a:t>
            </a:r>
          </a:p>
          <a:p>
            <a:pPr marR="0" lvl="0"/>
            <a:r>
              <a:rPr lang="sv-SE" sz="1800" kern="100" dirty="0">
                <a:solidFill>
                  <a:srgbClr val="0F4761"/>
                </a:solidFill>
                <a:latin typeface="Sitka Text Semibold" pitchFamily="2" charset="0"/>
              </a:rPr>
              <a:t>BOX: Rif: SMM-PREVA-1062 All. VI-1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Usa l'estintore subito o fuggi senza voltarti.</a:t>
            </a:r>
          </a:p>
        </p:txBody>
      </p:sp>
    </p:spTree>
    <p:extLst>
      <p:ext uri="{BB962C8B-B14F-4D97-AF65-F5344CB8AC3E}">
        <p14:creationId xmlns:p14="http://schemas.microsoft.com/office/powerpoint/2010/main" val="412471237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074B397-5DEB-DE61-969C-A63DE8717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Emergenza Allagamento (Platea o Scafo)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1F0F266-6B0D-E3B5-E285-514F7995A8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Vietato lo scarico di sostanze, in caso di rottura circuiti di bordo, allarmare la Guardia Bacini (22916).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La Sezione Bacini attiva le pompe per la raccolta delle acque di processo.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Se il livello minaccia di superare i vasi, sospendere i lavori elettrici.</a:t>
            </a:r>
          </a:p>
          <a:p>
            <a:pPr marR="0" lvl="0"/>
            <a:r>
              <a:rPr lang="en-US" sz="1800" kern="100" dirty="0">
                <a:solidFill>
                  <a:srgbClr val="0F4761"/>
                </a:solidFill>
                <a:latin typeface="Sitka Text Semibold" pitchFamily="2" charset="0"/>
              </a:rPr>
              <a:t>BOX: Rif: PSBM001A All. 2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L'acqua sul fondo si infiltra nell'energia, stacca i quadri.</a:t>
            </a:r>
          </a:p>
        </p:txBody>
      </p:sp>
    </p:spTree>
    <p:extLst>
      <p:ext uri="{BB962C8B-B14F-4D97-AF65-F5344CB8AC3E}">
        <p14:creationId xmlns:p14="http://schemas.microsoft.com/office/powerpoint/2010/main" val="418048125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249E63-8B8F-EAE4-2204-019B107A5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Gestione di Infortunio e Malore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F1FC013-564E-5493-ADBD-D6336D26D0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In orario servizio: Chiamare il presidio Sanitario M.M. (22841).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Il trasporto fuori dall'Unità attraverso la passerella è organizzato dall'equipaggio.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Segnalare l'incidente per l'attivazione burocratica (TUSL, Art. 56) entro 48h o 24h per prognosi gravi.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BOX: Rif: PSBM001A </a:t>
            </a:r>
            <a:r>
              <a:rPr lang="it-IT" sz="1800" kern="100" dirty="0" err="1">
                <a:solidFill>
                  <a:srgbClr val="0F4761"/>
                </a:solidFill>
                <a:latin typeface="Sitka Text Semibold" pitchFamily="2" charset="0"/>
              </a:rPr>
              <a:t>All</a:t>
            </a:r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. 2 e SMM-PREVA-1062 Art. 56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Porta la vittima all'ambulanza, poi denuncia in forma scritta.</a:t>
            </a:r>
          </a:p>
        </p:txBody>
      </p:sp>
    </p:spTree>
    <p:extLst>
      <p:ext uri="{BB962C8B-B14F-4D97-AF65-F5344CB8AC3E}">
        <p14:creationId xmlns:p14="http://schemas.microsoft.com/office/powerpoint/2010/main" val="334046066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DFB656-07E1-CB13-7F70-E85076E3D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Evacuazione dal Bacino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2B4063B-3475-BA2A-20E7-7AD8E09F2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Il segnale acustico di evacuazione in cantiere va riconosciuto distintamente rispetto a sirene operative.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Non usare i trincarini o l'interno nave, diramare in massa verso le passerelle seguendo gli scalandroni.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Punto di Raccolta N. 11: ZONA FERRATI per la conta finale (Ditte e Personale M.M.).</a:t>
            </a:r>
          </a:p>
          <a:p>
            <a:pPr marR="0" lvl="0"/>
            <a:r>
              <a:rPr lang="en-US" sz="1800" kern="100" dirty="0">
                <a:solidFill>
                  <a:srgbClr val="0F4761"/>
                </a:solidFill>
                <a:latin typeface="Sitka Text Semibold" pitchFamily="2" charset="0"/>
              </a:rPr>
              <a:t>BOX: Rif: PSBM001A All. 2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Fuori dalla nave ordinati. Il passo cadenzato rompe la passerella.</a:t>
            </a:r>
          </a:p>
        </p:txBody>
      </p:sp>
    </p:spTree>
    <p:extLst>
      <p:ext uri="{BB962C8B-B14F-4D97-AF65-F5344CB8AC3E}">
        <p14:creationId xmlns:p14="http://schemas.microsoft.com/office/powerpoint/2010/main" val="232810253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0F71A8E-85D6-D1FE-A97F-2796D94FE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Interruzione di Corrente (Black-Out)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6418757-C8AB-FAE9-28CB-E46F15A64B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Assicurarsi del subentro rapido dei gruppi elettrogeni in dotazione all'infrastruttura dell'edificio adiacente.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Allontanare gli operatori dagli ambienti chiusi: senza areazione artificiale il gas-free è nullo.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Contattare Reparto Manutenzione / Reti MM per riscontro cause (22064).</a:t>
            </a:r>
          </a:p>
          <a:p>
            <a:pPr marR="0" lvl="0"/>
            <a:r>
              <a:rPr lang="sv-SE" sz="1800" kern="100" dirty="0">
                <a:solidFill>
                  <a:srgbClr val="0F4761"/>
                </a:solidFill>
                <a:latin typeface="Sitka Text Semibold" pitchFamily="2" charset="0"/>
              </a:rPr>
              <a:t>BOX: Rif: SMM-PREVA-1062 All. VI-1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Buio = Stop operazioni a caldo.</a:t>
            </a:r>
          </a:p>
        </p:txBody>
      </p:sp>
    </p:spTree>
    <p:extLst>
      <p:ext uri="{BB962C8B-B14F-4D97-AF65-F5344CB8AC3E}">
        <p14:creationId xmlns:p14="http://schemas.microsoft.com/office/powerpoint/2010/main" val="92333458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DBB173D-5F34-96E1-A9BD-6DC15AA49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Sostanze Pericolose Sversate in Bacino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164E7B4-6CC0-BD98-0A1C-A155998EAB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Isolamento immediato, fermare la sorgente, confinare lo spandimento (Kit anti-sversamento carrellato).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Richiedere supporto chimico per bonifica. Vietato il lavaggio con lance per non intaccare i pozzetti della platea.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Dotare i marinai di DPI ad alta protezione e allontanare i non addetti.</a:t>
            </a:r>
          </a:p>
          <a:p>
            <a:pPr marR="0" lvl="0"/>
            <a:r>
              <a:rPr lang="sv-SE" sz="1800" kern="100" dirty="0">
                <a:solidFill>
                  <a:srgbClr val="0F4761"/>
                </a:solidFill>
                <a:latin typeface="Sitka Text Semibold" pitchFamily="2" charset="0"/>
              </a:rPr>
              <a:t>BOX: Rif: SMM-PREVA-1062 All. VI-1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Il kit </a:t>
            </a:r>
            <a:r>
              <a:rPr lang="it-IT" sz="1800" kern="100" dirty="0" err="1">
                <a:solidFill>
                  <a:srgbClr val="0F4761"/>
                </a:solidFill>
                <a:latin typeface="Sitka Text Semibold" pitchFamily="2" charset="0"/>
              </a:rPr>
              <a:t>antisversamento</a:t>
            </a:r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ti salva dal disastro chimico.</a:t>
            </a:r>
          </a:p>
        </p:txBody>
      </p:sp>
    </p:spTree>
    <p:extLst>
      <p:ext uri="{BB962C8B-B14F-4D97-AF65-F5344CB8AC3E}">
        <p14:creationId xmlns:p14="http://schemas.microsoft.com/office/powerpoint/2010/main" val="376035142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3E2F1D7-914A-CCF5-FA08-DE48FAB53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Cessazione Temporanea dei Lavori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1E6C5AA-7E60-3E74-AA97-076873BF32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Il responsabile lavori civile (RTL) o il Comando bloccano tutto se manca luce, aerazione o requisiti sicurezza.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Segnalazione ufficiale all'Ente Tecnico (Ufficio Programma / Direzione Arsenale) delle difformità.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Ripresa dei lavori solo previo ripristino delle condizioni ottimali previste nel DUVRI o Documento di Sicurezza.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BOX: Rif: SMM-PREVA-1062 Art. 113 e 116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Chiudere i cantieri oggi per non piangere i morti domani.</a:t>
            </a:r>
          </a:p>
        </p:txBody>
      </p:sp>
    </p:spTree>
    <p:extLst>
      <p:ext uri="{BB962C8B-B14F-4D97-AF65-F5344CB8AC3E}">
        <p14:creationId xmlns:p14="http://schemas.microsoft.com/office/powerpoint/2010/main" val="418593735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58FF0E4-D855-D2A9-5302-D9FF2FECD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Riconsegna di Aree e Materiali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AADDB26-8809-C272-1155-42D9503EB7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Ripristino formale delle Aree di Bordo precedentemente "consegnate" in isolamento.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Esigere la certificazione conclusiva che asseveri rimozione depositi, cavi volanti e materiali residui.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Tutte le aperture verso l'esterno nave dovranno tornare sigillate per preparare l'uscita.</a:t>
            </a:r>
          </a:p>
          <a:p>
            <a:pPr marR="0" lvl="0"/>
            <a:r>
              <a:rPr lang="en-US" sz="1800" kern="100" dirty="0">
                <a:solidFill>
                  <a:srgbClr val="0F4761"/>
                </a:solidFill>
                <a:latin typeface="Sitka Text Semibold" pitchFamily="2" charset="0"/>
              </a:rPr>
              <a:t>BOX: Rif: SMM-PREVA-1062 Art. 118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Rivuoi la tua nave pulita e a chiusura stagna.</a:t>
            </a:r>
          </a:p>
        </p:txBody>
      </p:sp>
    </p:spTree>
    <p:extLst>
      <p:ext uri="{BB962C8B-B14F-4D97-AF65-F5344CB8AC3E}">
        <p14:creationId xmlns:p14="http://schemas.microsoft.com/office/powerpoint/2010/main" val="428723318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24F4456-1210-9EDA-8A4C-045395B46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Debriefing e "Lezioni Apprese" (PDCA)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EC0C961-037E-C3FC-F450-98D42CD8F5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A sosta ultimata e incidenti chiusi, riunire i capi reparto per stilare varianti mitigative applicabili in futuro.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Modificare e registrare varianti interne delle circolari (aggiornamento procedure operative) per il DVR.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Aggiornamento del Documento di Sicurezza e del DVR per far recepire la "</a:t>
            </a:r>
            <a:r>
              <a:rPr lang="it-IT" sz="1800" kern="100" dirty="0" err="1">
                <a:solidFill>
                  <a:srgbClr val="0F4761"/>
                </a:solidFill>
                <a:latin typeface="Sitka Text Semibold" pitchFamily="2" charset="0"/>
              </a:rPr>
              <a:t>lessons</a:t>
            </a:r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 </a:t>
            </a:r>
            <a:r>
              <a:rPr lang="it-IT" sz="1800" kern="100" dirty="0" err="1">
                <a:solidFill>
                  <a:srgbClr val="0F4761"/>
                </a:solidFill>
                <a:latin typeface="Sitka Text Semibold" pitchFamily="2" charset="0"/>
              </a:rPr>
              <a:t>learned</a:t>
            </a:r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".</a:t>
            </a:r>
          </a:p>
          <a:p>
            <a:pPr marR="0" lvl="0"/>
            <a:r>
              <a:rPr lang="en-US" sz="1800" kern="100" dirty="0">
                <a:solidFill>
                  <a:srgbClr val="0F4761"/>
                </a:solidFill>
                <a:latin typeface="Sitka Text Semibold" pitchFamily="2" charset="0"/>
              </a:rPr>
              <a:t>BOX: Rif: SMM-PREVA-1062 Art. 52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Non ripetere il rischio della precedente sosta.</a:t>
            </a:r>
          </a:p>
        </p:txBody>
      </p:sp>
    </p:spTree>
    <p:extLst>
      <p:ext uri="{BB962C8B-B14F-4D97-AF65-F5344CB8AC3E}">
        <p14:creationId xmlns:p14="http://schemas.microsoft.com/office/powerpoint/2010/main" val="119038093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FD212A8-32FF-1E9B-059D-A6CB9927C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Il Momento Topico: Ripresa del Comando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63263F1-11CB-94F9-F131-F19983352F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Con l'apertura delle saracinesche, l'acqua fa perdere aderenza alle taccate. L'attenzione ai rumori strutturali è massima.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Riacquisto del Comando e Controllo del Comandante non appena "La Nave va in galleggiamento".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Procedura inversa all'ingresso: Tonneggi, ordine radio incondizionato e niente eliche in darsena.</a:t>
            </a:r>
          </a:p>
          <a:p>
            <a:pPr marR="0" lvl="0"/>
            <a:r>
              <a:rPr lang="fr-FR" sz="1800" kern="100" dirty="0">
                <a:solidFill>
                  <a:srgbClr val="0F4761"/>
                </a:solidFill>
                <a:latin typeface="Sitka Text Semibold" pitchFamily="2" charset="0"/>
              </a:rPr>
              <a:t>BOX: Rif: PSBM001A Par. 5.3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Quando galleggia, lo strumento operativo è tornato in mare, ed è solo tuo.</a:t>
            </a:r>
          </a:p>
        </p:txBody>
      </p:sp>
    </p:spTree>
    <p:extLst>
      <p:ext uri="{BB962C8B-B14F-4D97-AF65-F5344CB8AC3E}">
        <p14:creationId xmlns:p14="http://schemas.microsoft.com/office/powerpoint/2010/main" val="239477919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FE43AC9-202C-DE36-6681-2F6669413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it-IT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Considerazioni Finali e Q&amp;A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62E0BA1-93BC-83DD-9326-5038274367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Mai interferire attivamente con un cantiere. Esigi sempre la redazione del DUVRI/Doc Sicurezza.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L'Appoggio sulle taccate si negozia, ma lo decide l'Arsenale.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La logistica, il posizionamento DPI e la prontezza antincendio di bordo non vanno mai in disarmo.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BOX: Normative di Riferimento 1062 &amp; PSBM001A</a:t>
            </a:r>
          </a:p>
          <a:p>
            <a:pPr marR="0" lvl="0"/>
            <a:r>
              <a:rPr lang="it-IT" sz="1800" kern="100" dirty="0">
                <a:solidFill>
                  <a:srgbClr val="0F4761"/>
                </a:solidFill>
                <a:latin typeface="Sitka Text Semibold" pitchFamily="2" charset="0"/>
              </a:rPr>
              <a:t>TAKEAWAY: Gestire i rischi in bacino ti qualifica come Comandante completo. Formazione terminata.</a:t>
            </a:r>
          </a:p>
        </p:txBody>
      </p:sp>
    </p:spTree>
    <p:extLst>
      <p:ext uri="{BB962C8B-B14F-4D97-AF65-F5344CB8AC3E}">
        <p14:creationId xmlns:p14="http://schemas.microsoft.com/office/powerpoint/2010/main" val="1289768340"/>
      </p:ext>
    </p:extLst>
  </p:cSld>
  <p:clrMapOvr>
    <a:masterClrMapping/>
  </p:clrMapOvr>
</p:sld>
</file>

<file path=ppt/theme/theme1.xml><?xml version="1.0" encoding="utf-8"?>
<a:theme xmlns:a="http://schemas.openxmlformats.org/drawingml/2006/main" name="Documentazione accademica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_50521012_TF03431380_Win32" id="{4F6297B8-F229-4CEF-BE0D-46CC0FCEAF49}" vid="{30485835-814C-479C-B2DF-621E8B98DC5F}"/>
    </a:ext>
  </a:extLst>
</a:theme>
</file>

<file path=ppt/theme/theme2.xml><?xml version="1.0" encoding="utf-8"?>
<a:theme xmlns:a="http://schemas.openxmlformats.org/drawingml/2006/main" name="Tema di Offic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4873beb7-5857-4685-be1f-d57550cc96cc" xsi:nil="true"/>
    <AssetExpire xmlns="4873beb7-5857-4685-be1f-d57550cc96cc">2029-01-01T08:00:00+00:00</AssetExpire>
    <CampaignTagsTaxHTField0 xmlns="4873beb7-5857-4685-be1f-d57550cc96cc">
      <Terms xmlns="http://schemas.microsoft.com/office/infopath/2007/PartnerControls"/>
    </CampaignTagsTaxHTField0>
    <IntlLangReviewDate xmlns="4873beb7-5857-4685-be1f-d57550cc96cc" xsi:nil="true"/>
    <TPFriendlyName xmlns="4873beb7-5857-4685-be1f-d57550cc96cc" xsi:nil="true"/>
    <IntlLangReview xmlns="4873beb7-5857-4685-be1f-d57550cc96cc">false</IntlLangReview>
    <LocLastLocAttemptVersionLookup xmlns="4873beb7-5857-4685-be1f-d57550cc96cc">855024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ssetStart xmlns="4873beb7-5857-4685-be1f-d57550cc96cc">2012-08-31T08:50:00+00:00</AssetStart>
    <FriendlyTitle xmlns="4873beb7-5857-4685-be1f-d57550cc96cc" xsi:nil="true"/>
    <MarketSpecific xmlns="4873beb7-5857-4685-be1f-d57550cc96cc">false</MarketSpecific>
    <TPNamespace xmlns="4873beb7-5857-4685-be1f-d57550cc96cc" xsi:nil="true"/>
    <PublishStatusLookup xmlns="4873beb7-5857-4685-be1f-d57550cc96cc">
      <Value>1616423</Value>
    </PublishStatusLookup>
    <APAuthor xmlns="4873beb7-5857-4685-be1f-d57550cc96cc">
      <UserInfo>
        <DisplayName>REDMOND\kristaa</DisplayName>
        <AccountId>136</AccountId>
        <AccountType/>
      </UserInfo>
    </APAuthor>
    <TPCommandLine xmlns="4873beb7-5857-4685-be1f-d57550cc96cc" xsi:nil="true"/>
    <IntlLangReviewer xmlns="4873beb7-5857-4685-be1f-d57550cc96cc" xsi:nil="true"/>
    <OpenTemplate xmlns="4873beb7-5857-4685-be1f-d57550cc96cc">true</OpenTemplate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 xsi:nil="true"/>
    <ParentAssetId xmlns="4873beb7-5857-4685-be1f-d57550cc96cc" xsi:nil="true"/>
    <OriginalSourceMarket xmlns="4873beb7-5857-4685-be1f-d57550cc96cc" xsi:nil="true"/>
    <ApprovalStatus xmlns="4873beb7-5857-4685-be1f-d57550cc96cc">InProgress</ApprovalStatus>
    <TPComponent xmlns="4873beb7-5857-4685-be1f-d57550cc96cc" xsi:nil="true"/>
    <EditorialTags xmlns="4873beb7-5857-4685-be1f-d57550cc96cc" xsi:nil="true"/>
    <TPExecutable xmlns="4873beb7-5857-4685-be1f-d57550cc96cc" xsi:nil="true"/>
    <TPLaunchHelpLink xmlns="4873beb7-5857-4685-be1f-d57550cc96cc" xsi:nil="true"/>
    <LocComments xmlns="4873beb7-5857-4685-be1f-d57550cc96cc" xsi:nil="true"/>
    <LocRecommendedHandoff xmlns="4873beb7-5857-4685-be1f-d57550cc96cc" xsi:nil="true"/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>TP</AssetType>
    <MachineTranslated xmlns="4873beb7-5857-4685-be1f-d57550cc96cc">false</MachineTranslated>
    <OutputCachingOn xmlns="4873beb7-5857-4685-be1f-d57550cc96cc">false</OutputCachingOn>
    <TemplateStatus xmlns="4873beb7-5857-4685-be1f-d57550cc96cc">Complete</TemplateStatus>
    <IsSearchable xmlns="4873beb7-5857-4685-be1f-d57550cc96cc">true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 xsi:nil="true"/>
    <ClipArtFilename xmlns="4873beb7-5857-4685-be1f-d57550cc96cc" xsi:nil="true"/>
    <TPApplication xmlns="4873beb7-5857-4685-be1f-d57550cc96cc" xsi:nil="true"/>
    <CSXHash xmlns="4873beb7-5857-4685-be1f-d57550cc96cc" xsi:nil="true"/>
    <DirectSourceMarket xmlns="4873beb7-5857-4685-be1f-d57550cc96cc" xsi:nil="true"/>
    <PrimaryImageGen xmlns="4873beb7-5857-4685-be1f-d57550cc96cc">true</PrimaryImageGen>
    <PlannedPubDate xmlns="4873beb7-5857-4685-be1f-d57550cc96cc" xsi:nil="true"/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BusinessGroup xmlns="4873beb7-5857-4685-be1f-d57550cc96cc" xsi:nil="true"/>
    <Providers xmlns="4873beb7-5857-4685-be1f-d57550cc96cc" xsi:nil="true"/>
    <TemplateTemplateType xmlns="4873beb7-5857-4685-be1f-d57550cc96cc">PowerPoint Presentation Template</TemplateTemplateType>
    <TimesCloned xmlns="4873beb7-5857-4685-be1f-d57550cc96cc" xsi:nil="true"/>
    <TPAppVersion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>
      <Terms xmlns="http://schemas.microsoft.com/office/infopath/2007/PartnerControls"/>
    </FeatureTagsTaxHTField0>
    <Provider xmlns="4873beb7-5857-4685-be1f-d57550cc96cc" xsi:nil="true"/>
    <UACurrentWords xmlns="4873beb7-5857-4685-be1f-d57550cc96cc" xsi:nil="true"/>
    <AssetId xmlns="4873beb7-5857-4685-be1f-d57550cc96cc">TP103431361</AssetId>
    <TPClientViewer xmlns="4873beb7-5857-4685-be1f-d57550cc96cc" xsi:nil="true"/>
    <DSATActionTaken xmlns="4873beb7-5857-4685-be1f-d57550cc96cc" xsi:nil="true"/>
    <APEditor xmlns="4873beb7-5857-4685-be1f-d57550cc96cc">
      <UserInfo>
        <DisplayName/>
        <AccountId xsi:nil="true"/>
        <AccountType/>
      </UserInfo>
    </APEditor>
    <TPInstallLocation xmlns="4873beb7-5857-4685-be1f-d57550cc96cc" xsi:nil="true"/>
    <OOCacheId xmlns="4873beb7-5857-4685-be1f-d57550cc96cc" xsi:nil="true"/>
    <IsDeleted xmlns="4873beb7-5857-4685-be1f-d57550cc96cc">false</IsDeleted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>
      <Terms xmlns="http://schemas.microsoft.com/office/infopath/2007/PartnerControls"/>
    </InternalTagsTaxHTField0>
    <LastHandOff xmlns="4873beb7-5857-4685-be1f-d57550cc96cc" xsi:nil="true"/>
    <Milestone xmlns="4873beb7-5857-4685-be1f-d57550cc96cc" xsi:nil="true"/>
    <OriginalRelease xmlns="4873beb7-5857-4685-be1f-d57550cc96cc">15</OriginalRelease>
    <RecommendationsModifier xmlns="4873beb7-5857-4685-be1f-d57550cc96cc" xsi:nil="true"/>
    <ScenarioTagsTaxHTField0 xmlns="4873beb7-5857-4685-be1f-d57550cc96cc">
      <Terms xmlns="http://schemas.microsoft.com/office/infopath/2007/PartnerControls"/>
    </ScenarioTagsTaxHTField0>
    <UANotes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561E720F-F05D-4536-9C34-0CFCED65D3B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8C8B9CA-0273-4370-889A-FC05DA5C2F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CDDBB83-77C1-4099-A0AA-289882E745E2}">
  <ds:schemaRefs>
    <ds:schemaRef ds:uri="http://purl.org/dc/elements/1.1/"/>
    <ds:schemaRef ds:uri="http://schemas.microsoft.com/office/2006/metadata/properties"/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Presentazione accademica, schema con righe verticali e nastro (widescreen)</Template>
  <TotalTime>124</TotalTime>
  <Words>5266</Words>
  <Application>Microsoft Office PowerPoint</Application>
  <PresentationFormat>Widescreen</PresentationFormat>
  <Paragraphs>424</Paragraphs>
  <Slides>71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71</vt:i4>
      </vt:variant>
    </vt:vector>
  </HeadingPairs>
  <TitlesOfParts>
    <vt:vector size="78" baseType="lpstr">
      <vt:lpstr>Arial</vt:lpstr>
      <vt:lpstr>Euphemia</vt:lpstr>
      <vt:lpstr>Plantagenet Cherokee</vt:lpstr>
      <vt:lpstr>Sitka Text Semibold</vt:lpstr>
      <vt:lpstr>Times New Roman</vt:lpstr>
      <vt:lpstr>Wingdings</vt:lpstr>
      <vt:lpstr>Documentazione accademica 16x9</vt:lpstr>
      <vt:lpstr>IL COMANDANTE E IL BACINO Come entrare, restare e uscire senza perdere il comando (e la libertà)  </vt:lpstr>
      <vt:lpstr>Copertina</vt:lpstr>
      <vt:lpstr>Obiettivi Formativi</vt:lpstr>
      <vt:lpstr>Agenda del Corso</vt:lpstr>
      <vt:lpstr>Le Fonti Normative "Salva-Vita"</vt:lpstr>
      <vt:lpstr>Il Ruolo del Comandante (Art. 113 SMM-PREVA-1062)</vt:lpstr>
      <vt:lpstr>Il Confine Giuridico</vt:lpstr>
      <vt:lpstr>La Catena di Comando delle Ditte</vt:lpstr>
      <vt:lpstr>I Documenti del Comandante</vt:lpstr>
      <vt:lpstr>Scenario 1: Singola Ditta non Interferente</vt:lpstr>
      <vt:lpstr>Scenario 2: Lavori Complessi e Bacino</vt:lpstr>
      <vt:lpstr>Il Triangolo Normativo: Quale Norma Si Applica a Bordo?</vt:lpstr>
      <vt:lpstr>DUVRI vs Documento Informativo: Le Differenze Chiave</vt:lpstr>
      <vt:lpstr>Quando è Obbligatorio il DUVRI</vt:lpstr>
      <vt:lpstr>Quando Basta il Documento Informativo</vt:lpstr>
      <vt:lpstr>Titolo IV D.Lgs. 81/08: Quando Scatta il CSE e il PSC</vt:lpstr>
      <vt:lpstr>D.Lgs. 272/1999: La Norma Speciale per le Navi</vt:lpstr>
      <vt:lpstr>Tabella Comparativa: Titolo IV vs D.Lgs. 272/1999</vt:lpstr>
      <vt:lpstr>Chi Redige Cosa: La Matrice Decisionale</vt:lpstr>
      <vt:lpstr>Il Documento di Sicurezza (Art. 116): Contenuti Obbligatori</vt:lpstr>
      <vt:lpstr>Errori Comuni da Evitare</vt:lpstr>
      <vt:lpstr>T-60 Giorni: La Richiesta Ufficiale</vt:lpstr>
      <vt:lpstr>T-30 Giorni: Il Piano di Posa</vt:lpstr>
      <vt:lpstr>T-15 Giorni: Valutazione Assetti</vt:lpstr>
      <vt:lpstr>T-7 Giorni: Riunione Propedeutica Obbligatoria</vt:lpstr>
      <vt:lpstr>Operazioni Preliminari: Lo Sbarco Pesi (NAV-G-001)</vt:lpstr>
      <vt:lpstr>Operazioni Preliminari: Sentine e Portelleria</vt:lpstr>
      <vt:lpstr>Operazioni Preliminari: Certificazione Gas-Free</vt:lpstr>
      <vt:lpstr>Gestione Mezzi di Supporto Esterni</vt:lpstr>
      <vt:lpstr>La Check-List Operativa (PSBM001A.A01)</vt:lpstr>
      <vt:lpstr>Verifica Infrastrutturale del Bacino</vt:lpstr>
      <vt:lpstr>Briefing di Sicurezza per l'Equipaggio</vt:lpstr>
      <vt:lpstr>Comunicazioni durante l'Avvicinamento</vt:lpstr>
      <vt:lpstr>Imboccatura: Vietate le Eliche</vt:lpstr>
      <vt:lpstr>Fase A: Comando in Galleggiamento</vt:lpstr>
      <vt:lpstr>Fase B: Predisposizione Centratura</vt:lpstr>
      <vt:lpstr>Fase C: Il Passaggio di Comando (MOMENTO CRITICO)</vt:lpstr>
      <vt:lpstr>Discesa e Ispezione Palombari</vt:lpstr>
      <vt:lpstr>Vietato Spostare Pesi in Bacino</vt:lpstr>
      <vt:lpstr>Messa a Terra dello Scafo</vt:lpstr>
      <vt:lpstr>Installazione delle Passerelle</vt:lpstr>
      <vt:lpstr>Ripristino Servizi Vitali di Bordo</vt:lpstr>
      <vt:lpstr>Il Servizio di Sentinella (Bacino)</vt:lpstr>
      <vt:lpstr>La Manovra di Uscita</vt:lpstr>
      <vt:lpstr>Verifica Sbandamento in Uscita</vt:lpstr>
      <vt:lpstr>Il Verbale di Passaggio Consegne (PSBM001A.A02)</vt:lpstr>
      <vt:lpstr>Cessione della Rete Antincendio</vt:lpstr>
      <vt:lpstr>Barriera Acque di Processo</vt:lpstr>
      <vt:lpstr>Smaltimento Rifiuti di Cantiere</vt:lpstr>
      <vt:lpstr>Sicurezza nell'Apertura Spazi Confinati (Art. 111)</vt:lpstr>
      <vt:lpstr>Preposti Nave per l'Alta Vigilanza</vt:lpstr>
      <vt:lpstr>Lavorazioni Elettriche (Permessi di Lavoro)</vt:lpstr>
      <vt:lpstr>Fornitura Attrezzature Militari ai Civili</vt:lpstr>
      <vt:lpstr>Dispositivi di Protezione Individuale (DPI)</vt:lpstr>
      <vt:lpstr>Utilizzo Macchinari Nuovi o di Sostituzione</vt:lpstr>
      <vt:lpstr>Sicurezza e Fattori Umani (Fatigue Management)</vt:lpstr>
      <vt:lpstr>Giornate della Sicurezza in Bacino</vt:lpstr>
      <vt:lpstr>Isolamento di Aree della Nave (Art. 118)</vt:lpstr>
      <vt:lpstr>Supporto Operativo della Nave</vt:lpstr>
      <vt:lpstr>La Rubrica Telefonica delle Emergenze</vt:lpstr>
      <vt:lpstr>Emergenza Incendio (Livello Base e 3)</vt:lpstr>
      <vt:lpstr>Emergenza Allagamento (Platea o Scafo)</vt:lpstr>
      <vt:lpstr>Gestione di Infortunio e Malore</vt:lpstr>
      <vt:lpstr>Evacuazione dal Bacino</vt:lpstr>
      <vt:lpstr>Interruzione di Corrente (Black-Out)</vt:lpstr>
      <vt:lpstr>Sostanze Pericolose Sversate in Bacino</vt:lpstr>
      <vt:lpstr>Cessazione Temporanea dei Lavori</vt:lpstr>
      <vt:lpstr>Riconsegna di Aree e Materiali</vt:lpstr>
      <vt:lpstr>Debriefing e "Lezioni Apprese" (PDCA)</vt:lpstr>
      <vt:lpstr>Il Momento Topico: Ripresa del Comando</vt:lpstr>
      <vt:lpstr>Considerazioni Finali e 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DELL-LATITUDE</dc:creator>
  <cp:lastModifiedBy>DELL-LATITUDE</cp:lastModifiedBy>
  <cp:revision>117</cp:revision>
  <dcterms:created xsi:type="dcterms:W3CDTF">2026-06-24T09:24:35Z</dcterms:created>
  <dcterms:modified xsi:type="dcterms:W3CDTF">2026-06-24T18:42:14Z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