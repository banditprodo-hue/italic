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_master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_master" Type="http://schemas.openxmlformats.org/officeDocument/2006/relationships/slideMaster" Target="slideMasters/slideMaster1.xml"/><Relationship Id="rId_theme" Type="http://schemas.openxmlformats.org/officeDocument/2006/relationships/theme" Target="theme/theme1.xml"/><Relationship Id="rId_props" Type="http://schemas.openxmlformats.org/officeDocument/2006/relationships/presProps" Target="presProps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Calibri"/>
        </a:defRPr>
      </a:lvl1pPr>
    </p:titleStyle>
    <p:bodyStyle>
      <a:lvl1pPr marL="285750" indent="-285750">
        <a:defRPr sz="1800">
          <a:solidFill>
            <a:schemeClr val="tx1"/>
          </a:solidFill>
          <a:latin typeface="Calibri"/>
        </a:defRPr>
      </a:lvl1pPr>
      <a:lvl2pPr marL="571500" indent="-285750">
        <a:defRPr sz="1600">
          <a:solidFill>
            <a:schemeClr val="tx1"/>
          </a:solidFill>
          <a:latin typeface="Calibri"/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band"/>
          <p:cNvSpPr/>
          <p:nvPr/>
        </p:nvSpPr>
        <p:spPr>
          <a:xfrm>
            <a:off x="0" y="1900000"/>
            <a:ext cx="12192000" cy="250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lbar"/>
          <p:cNvSpPr/>
          <p:nvPr/>
        </p:nvSpPr>
        <p:spPr>
          <a:xfrm>
            <a:off x="0" y="1900000"/>
            <a:ext cx="360000" cy="250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900000" y="2050000"/>
            <a:ext cx="10000000" cy="3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>
                <a:solidFill>
                  <a:srgbClr val="E6C661"/>
                </a:solidFill>
                <a:latin typeface="Calibri"/>
                <a:cs typeface="Calibri"/>
              </a:rPr>
              <a:t>CONVEGNO OPERATIVO  -  COMANDANTI E UFFICIALI DI BORDO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900000" y="2450000"/>
            <a:ext cx="10400000" cy="1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 b="1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</a:t>
            </a:r>
          </a:p>
        </p:txBody>
      </p:sp>
      <p:sp>
        <p:nvSpPr>
          <p:cNvPr id="8" name="txt"/>
          <p:cNvSpPr txBox="1"/>
          <p:nvPr/>
        </p:nvSpPr>
        <p:spPr>
          <a:xfrm>
            <a:off x="900000" y="3950000"/>
            <a:ext cx="104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 b="0" i="1" dirty="0">
                <a:solidFill>
                  <a:srgbClr val="E6C661"/>
                </a:solidFill>
                <a:latin typeface="Calibri"/>
                <a:cs typeface="Calibri"/>
              </a:rPr>
              <a:t>Guida operativa per l'ingresso, la permanenza e l'uscita dal Bacino di Carenaggio</a:t>
            </a:r>
          </a:p>
        </p:txBody>
      </p:sp>
      <p:sp>
        <p:nvSpPr>
          <p:cNvPr id="9" name="ft"/>
          <p:cNvSpPr/>
          <p:nvPr/>
        </p:nvSpPr>
        <p:spPr>
          <a:xfrm>
            <a:off x="0" y="6258000"/>
            <a:ext cx="12192000" cy="60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ftacc"/>
          <p:cNvSpPr/>
          <p:nvPr/>
        </p:nvSpPr>
        <p:spPr>
          <a:xfrm>
            <a:off x="0" y="6258000"/>
            <a:ext cx="12192000" cy="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txt"/>
          <p:cNvSpPr txBox="1"/>
          <p:nvPr/>
        </p:nvSpPr>
        <p:spPr>
          <a:xfrm>
            <a:off x="900000" y="6258000"/>
            <a:ext cx="104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cs typeface="Calibri"/>
              </a:rPr>
              <a:t>Rif: SMM-PREVA-1062 (Titolo VII)  |  PSBM001A Marinarsen Taranto  |  NAV-G-001</a:t>
            </a:r>
          </a:p>
        </p:txBody>
      </p:sp>
      <p:sp>
        <p:nvSpPr>
          <p:cNvPr id="12" name="emblem"/>
          <p:cNvSpPr/>
          <p:nvPr/>
        </p:nvSpPr>
        <p:spPr>
          <a:xfrm>
            <a:off x="11000000" y="800000"/>
            <a:ext cx="600000" cy="6000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11000000" y="800000"/>
            <a:ext cx="6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dirty="0">
                <a:solidFill>
                  <a:srgbClr val="06203F"/>
                </a:solidFill>
                <a:latin typeface="Calibri"/>
                <a:cs typeface="Calibri"/>
              </a:rPr>
              <a:t>M.M.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Obiettivi Formativi</a:t>
            </a:r>
          </a:p>
        </p:txBody>
      </p:sp>
      <p:sp>
        <p:nvSpPr>
          <p:cNvPr id="8" name="txt"/>
          <p:cNvSpPr txBox="1"/>
          <p:nvPr/>
        </p:nvSpPr>
        <p:spPr>
          <a:xfrm>
            <a:off x="470000" y="1280000"/>
            <a:ext cx="11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Saper gestire la timeline di ingresso in bacino (T-60 -&gt; T-0)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Conoscere la rubrica telefonica e i ruoli dell'Arsenale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Delimitare il confine tra Alta Vigilanza e Ingerenza di fatto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Proteggersi legalmente in caso di infortunio di personale esterno</a:t>
            </a:r>
          </a:p>
        </p:txBody>
      </p:sp>
      <p:sp>
        <p:nvSpPr>
          <p:cNvPr id="9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2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Zero teoria, solo operativita'.</a:t>
            </a:r>
          </a:p>
        </p:txBody>
      </p:sp>
      <p:sp>
        <p:nvSpPr>
          <p:cNvPr id="13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Agenda delle 2 Ore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2 h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11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Modulo 1: Quadro Cogente e Responsabilita'  -  20 min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Modulo 2: La Timeline e l'Ingresso  -  25 min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Modulo 3: In Bacino: Rubrica, Ruoli e Consegne  -  30 min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Modulo 4: Cantiere Vivo, Normative e Interferenze  -  30 min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Modulo 5: Emergenze, Uscita e Q&amp;A  -  15 min</a:t>
            </a:r>
          </a:p>
        </p:txBody>
      </p:sp>
      <p:sp>
        <p:nvSpPr>
          <p:cNvPr id="11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Le Fonti Normative "Salva-Vita"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4 Fonti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D.Lgs. 272/1999: norme specifiche cantieristica navale portuale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SMM-PREVA-1062 (Ed. Gen 2024, Titolo VII): istruzioni operative Marina (Art. 102-120)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PSBM001A: procedura locale Marinarsen Taranto (Bacini BRIN e FERRATI)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NAV-G-001 (Art. 37-43): regole d'ingaggio nave-bacino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Queste 4 fonti sono la tua assicurazione sulla vita. Tienile sempre in plancia.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Queste 4 fonti sono la tua assicurazione sulla vita.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Il Ruolo del Comandante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113 SMM-PREVA-1062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NON dirige i lavori, NON da' ordini agli operai privati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Esercita l'ALTA VIGILANZA sul rispetto delle norme di sicurezza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Verifica che le ditte mitighino le interferenze con il bordo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Fornisce informazioni sui rischi specifici (DVR, RTVR)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Se intervieni operativamente, diventi co-responsabile.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Il Confine Giuridico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113 c.8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ALTA VIGILANZA (Dovere): designare Preposti, fornire DVR, interrompere solo per grave pericolo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INGERENZA (Errore): dire all'operaio "come" fare, spostare attrezzature, dare ordini diretti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 linea di demarcazione e' la delega formale ai Preposti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Tutto deve essere tracciato per iscritto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ATTENZIONE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Vigilare e' un dovere. Sostituirsi all'impresa e' un reato di ingerenza.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Vigila, non sostituire. Il confine e' la delega formale.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6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La Catena di Comando delle Ditte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D.Lgs. 272/99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Le ditte rispondono all'IMPRESA CAPO COMMESSA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referente unico e' il RTL (Responsabile Tecnico dei Lavori)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Comandante si interfaccia con RTL o Preposto ditta, MAI con l'operaio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 l'impresa sbaglia -&gt; responsabile e' il RTL / Datore di lavoro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Mai dare ordini diretti all'operaio. Chiama sempre il RTL.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Mai dare ordini diretti: chiama il RTL.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7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 Documenti del Comandante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DVR / RTVR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DVR (Documento Valutazione Rischi): la bibbia del Comandante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RTVR (Relazione Tecnica Valutazione Rischi): viaggia con la nave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Descrive rischi strutturali, ambienti confinati, interferenze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Comandante FORNISCE questi documenti alle ditte per POS / DUVRI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Senza RTVR aggiornata e consegnata, le ditte non possono iniziare a lavorare.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Senza RTVR aggiornata, le ditte non possono lavorare.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8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1  -  QUADRO COGENTE E MINDSET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Documenti di Coordinamento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116 / DUVRI / PSC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DUVRI: valuta i rischi da interferenza nave-ditte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PSC: obbligatorio per cantieri complessi (soste lavori cicliche)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Devono essere firmati e presenti a bordo PRIMA dell'inizio lavori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RTL aggiorna il Documento di Sicurezza (Art. 116)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Nessun documento firmato = Nessun lavoro autorizzato.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Nessun documento firmato = Nessun lavoro autorizzato.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9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band"/>
          <p:cNvSpPr/>
          <p:nvPr/>
        </p:nvSpPr>
        <p:spPr>
          <a:xfrm>
            <a:off x="0" y="1100000"/>
            <a:ext cx="12192000" cy="7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xt"/>
          <p:cNvSpPr txBox="1"/>
          <p:nvPr/>
        </p:nvSpPr>
        <p:spPr>
          <a:xfrm>
            <a:off x="700000" y="600000"/>
            <a:ext cx="108000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C9A227"/>
                </a:solidFill>
                <a:latin typeface="Calibri"/>
                <a:cs typeface="Calibri"/>
              </a:rPr>
              <a:t>RIEPILOGO MODULO 1</a:t>
            </a:r>
          </a:p>
        </p:txBody>
      </p:sp>
      <p:sp>
        <p:nvSpPr>
          <p:cNvPr id="5" name="txt"/>
          <p:cNvSpPr txBox="1"/>
          <p:nvPr/>
        </p:nvSpPr>
        <p:spPr>
          <a:xfrm>
            <a:off x="700000" y="1500000"/>
            <a:ext cx="700000" cy="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0" b="1" dirty="0">
                <a:solidFill>
                  <a:srgbClr val="C9A227"/>
                </a:solidFill>
                <a:latin typeface="Calibri"/>
                <a:cs typeface="Calibri"/>
              </a:rPr>
              <a:t>"</a:t>
            </a:r>
          </a:p>
        </p:txBody>
      </p:sp>
      <p:sp>
        <p:nvSpPr>
          <p:cNvPr id="6" name="txt"/>
          <p:cNvSpPr txBox="1"/>
          <p:nvPr/>
        </p:nvSpPr>
        <p:spPr>
          <a:xfrm>
            <a:off x="1500000" y="1700000"/>
            <a:ext cx="10000000" cy="2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i="1" dirty="0">
                <a:solidFill>
                  <a:srgbClr val="FFFFFF"/>
                </a:solidFill>
                <a:latin typeface="Calibri"/>
                <a:cs typeface="Calibri"/>
              </a:rPr>
              <a:t>Vigila, non ingerire. Il confine e' la delega formale e la tracciabilita' documentale.</a:t>
            </a:r>
          </a:p>
        </p:txBody>
      </p:sp>
      <p:sp>
        <p:nvSpPr>
          <p:cNvPr id="7" name="nxt_bg"/>
          <p:cNvSpPr/>
          <p:nvPr/>
        </p:nvSpPr>
        <p:spPr>
          <a:xfrm>
            <a:off x="0" y="5358000"/>
            <a:ext cx="12192000" cy="50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nxt_tab"/>
          <p:cNvSpPr/>
          <p:nvPr/>
        </p:nvSpPr>
        <p:spPr>
          <a:xfrm>
            <a:off x="0" y="5358000"/>
            <a:ext cx="180000" cy="50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280000" y="5358000"/>
            <a:ext cx="2400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C9A227"/>
                </a:solidFill>
                <a:latin typeface="Calibri"/>
                <a:cs typeface="Calibri"/>
              </a:rPr>
              <a:t>PROSSIMO MODULO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2700000" y="5358000"/>
            <a:ext cx="9392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FFFFFF"/>
                </a:solidFill>
                <a:latin typeface="Calibri"/>
                <a:cs typeface="Calibri"/>
              </a:rPr>
              <a:t>MODULO 2  -  La Timeline Operativa</a:t>
            </a:r>
          </a:p>
        </p:txBody>
      </p:sp>
      <p:sp>
        <p:nvSpPr>
          <p:cNvPr id="11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10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2  -  LA TIMELINE OPERATIVA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T-60 Giorni: La Richiesta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 §4.1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Ufficio Programma -&gt; Sezione Bacini: richiesta formale ingresso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Valutazione preliminare: tempi approntamento piano di posa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Verifica risorse disponibili (manovalanza, materiali)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Approvazione preliminare della finestra temporale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Il Comandante verifica che l'Ufficio Programma abbia trasmesso la richiesta entro T-60.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11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2  -  LA TIMELINE OPERATIVA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T-30 e T-15: I Disegni e gli Assetti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 §4.2 / §5.1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T-30: invio disegno piano nominale taccate al Capo Nucleo NBM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T-15: contatto vie brevi (C.te Piattaforma / DM) con Capo Nucleo NBM per assetti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Verifica anomalie scafo, sporgenze sotto chiglia, immersioni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Approvazione assetto nominale longitudinale e trasversale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RIFERIMENTO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PSBM001A paragrafi 4.2 e 5.1. Il Capo Nucleo NBM e' il tuo interlocutore tecnico.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12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2  -  LA TIMELINE OPERATIVA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T-7 Giorni: Riunione Obbligatoria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 §5.2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Si definisce il dettaglio della manovra di ingresso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Partecipanti: Ufficio Programma, Comando Bordo, Capo Sez. Bacini, NBM, MARISTANAV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Eventuale incontro successivo T-2 per dettagli finali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Verbale di riunione firmato da tutte le parti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Presenziare di persona o delegare un Ufficiale con potere decisionale e mandato scritto.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13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2  -  LA TIMELINE OPERATIVA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Il Go / No-Go del Comandante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NAV-G-001 Art. 37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Sbarco di munizioni, esplosivi e combustibili pericolosi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Prosciugamento totale delle sentine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Rizzaggio dei materiali mobili (soprattutto trincarini)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Chiusura della portelleria esterna fino a messa a secco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Pulizia e Gas-Free dei depositi nafta (se previsti lavori a fuoco)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Senza queste operazioni la Sezione Bacini blocca l'ingresso. Nessuna eccezione.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Senza queste operazioni = Sezione Bacini blocca l'ingresso.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14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2  -  LA TIMELINE OPERATIVA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Assetto e Segnalazioni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 §5.3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Regolazione assetto longitudinale/trasversale secondo indicazioni Capo Nucleo NBM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Scopo: ridurre la rotazione della nave sulle taccate in fase di appoggio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Comunicare a Direzione Arsenale: immersioni, carichi mobili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Segnalare sporgenze sotto chiglia e qualunque anomalia di scafo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Verifica scritta dell'assetto concordato prima di entrare in bacino.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15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2  -  LA TIMELINE OPERATIVA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La Check-List PSBM001A.A01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27 step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Documento in 27 step che accompagna l'intera manovra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Include: verifica impianti A.I. e prosciugamento, pulizia platea, assetto, ruoli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Step 13 (critico): Comando del Comandante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Step 17 (critico): Passaggio comando all'Arsenale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DM o Ufficiale di guardia compila e firma gli step di competenza, in tempo reale.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16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band"/>
          <p:cNvSpPr/>
          <p:nvPr/>
        </p:nvSpPr>
        <p:spPr>
          <a:xfrm>
            <a:off x="0" y="1100000"/>
            <a:ext cx="12192000" cy="7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xt"/>
          <p:cNvSpPr txBox="1"/>
          <p:nvPr/>
        </p:nvSpPr>
        <p:spPr>
          <a:xfrm>
            <a:off x="700000" y="600000"/>
            <a:ext cx="108000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C9A227"/>
                </a:solidFill>
                <a:latin typeface="Calibri"/>
                <a:cs typeface="Calibri"/>
              </a:rPr>
              <a:t>RIEPILOGO MODULO 2</a:t>
            </a:r>
          </a:p>
        </p:txBody>
      </p:sp>
      <p:sp>
        <p:nvSpPr>
          <p:cNvPr id="5" name="txt"/>
          <p:cNvSpPr txBox="1"/>
          <p:nvPr/>
        </p:nvSpPr>
        <p:spPr>
          <a:xfrm>
            <a:off x="700000" y="1500000"/>
            <a:ext cx="700000" cy="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0" b="1" dirty="0">
                <a:solidFill>
                  <a:srgbClr val="C9A227"/>
                </a:solidFill>
                <a:latin typeface="Calibri"/>
                <a:cs typeface="Calibri"/>
              </a:rPr>
              <a:t>"</a:t>
            </a:r>
          </a:p>
        </p:txBody>
      </p:sp>
      <p:sp>
        <p:nvSpPr>
          <p:cNvPr id="6" name="txt"/>
          <p:cNvSpPr txBox="1"/>
          <p:nvPr/>
        </p:nvSpPr>
        <p:spPr>
          <a:xfrm>
            <a:off x="1500000" y="1700000"/>
            <a:ext cx="10000000" cy="2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i="1" dirty="0">
                <a:solidFill>
                  <a:srgbClr val="FFFFFF"/>
                </a:solidFill>
                <a:latin typeface="Calibri"/>
                <a:cs typeface="Calibri"/>
              </a:rPr>
              <a:t>L'ingresso in bacino si prepara due mesi prima. Se la nave non e' pronta, il bacino si ferma.</a:t>
            </a:r>
          </a:p>
        </p:txBody>
      </p:sp>
      <p:sp>
        <p:nvSpPr>
          <p:cNvPr id="7" name="nxt_bg"/>
          <p:cNvSpPr/>
          <p:nvPr/>
        </p:nvSpPr>
        <p:spPr>
          <a:xfrm>
            <a:off x="0" y="5358000"/>
            <a:ext cx="12192000" cy="50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nxt_tab"/>
          <p:cNvSpPr/>
          <p:nvPr/>
        </p:nvSpPr>
        <p:spPr>
          <a:xfrm>
            <a:off x="0" y="5358000"/>
            <a:ext cx="180000" cy="50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280000" y="5358000"/>
            <a:ext cx="2400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C9A227"/>
                </a:solidFill>
                <a:latin typeface="Calibri"/>
                <a:cs typeface="Calibri"/>
              </a:rPr>
              <a:t>PROSSIMO MODULO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2700000" y="5358000"/>
            <a:ext cx="9392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FFFFFF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11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17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Imboccatura: Le Regole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NAV-G-001 Art. 38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 nave imbocca la porta del bacino in galleggiamento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DIVIETO ASSOLUTO di fare uso delle eliche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Si procede ESCLUSIVAMENTE con i tonneggi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 rimorchiatori di MARISTANAV NON entrano in bacino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VIETATO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Niente eliche, solo tonneggi. Niente rimorchiatori dentro il bacino.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VIETATO: niente eliche, solo tonneggi.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18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Posizionamento in Bacino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Step 15 PSBM001A.A01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 nave si porta sui riferimenti visivi del Nucleo NBM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Comando di Bordo garantisce l'assetto concordato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Verifica visiva con personale palombaro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Comunicazione costante via VHF con Capo Nucleo NBM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L'assetto e' tuo dovere fino al passaggio ufficiale di comando.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19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Il Passaggio di Comando: Momento Critico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3 Fasi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E' il punto in cui si giocano le responsabilita' penali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Fase A: nave in galleggiamento -&gt; Comando = COMANDANTE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Fase B: installazione paranchi -&gt; preparazione passaggio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Fase C: comunicazione VHF -&gt; Comando = CAPO NUCLEO NBM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ATTENZIONE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Questo momento si gioca in tribunale. Documenta tutto.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Questo momento si gioca in tribunale.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20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Fase A: Comando del Comandante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Galleggiamento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 nave galleggia sui propri cavi di tonneggio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Comando e Controllo = COMANDANTE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Ogni decisione e' del C.te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Le squadre di bordo sono al loro posto di manovra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Verifica che il libro di manovra registri data, ora e ufficiali in plancia.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21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Fase B: Preparazione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Paranchi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personale Nucleo NBM installa i paranchi di centratura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Collega i paranchi agli argani di terra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personale di bordo collega l'altro capo alla nave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Nessuno ha ancora il comando esclusivo della nave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ATTENZIONE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Zona grigia: vigila con attenzione, ogni gesto puo' essere contestato.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22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Fase C: Il Passaggio Ufficiale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VHF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Capo Nucleo NBM chiama il Comandante via VHF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Messaggio: "Nave [Nome], paranchi in tensione, comando e controllo passa all'Arsenale"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Da quel secondo: Comando = CAPO NUCLEO NBM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Registrazione VHF e annotazione sul giornale di bordo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Pretendi che la comunicazione sia chiara, registrata e nota a tutti.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Pretendi: chiarezza, registrazione, conoscenza condivisa.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23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Prosciugamento e Appoggio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Step 15-20 PSBM001A.A01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Prosciugamento del bacino in modo controllato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Stop a circa 2 metri dal piano di posa (Step 17)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Ispezione pagliolo e gargame a cura dei palombari (Step 15, 19)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Ripresa prosciugamento -&gt; appoggio sulle taccate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Operazioni subacquee di centratura e civatura (Step 19-20)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RIFERIMENTO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Annotare gli step compiuti con orario e firma del responsabile.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24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L'Uscita: Il Comando Torna a Te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Galleggiamento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Durante l'uscita la responsabilita' torna al Comandante nel momento in cui la nave va in galleggiamento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Non appena la nave "spinge" sull'acqua, il comando e' tuo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Comunicazione VHF speculare a quella di ingresso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Annotazione su giornale di bordo con orario preciso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Galleggiamento = Comando tuo. Dal secondo zero.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Galleggiamento = comando tuo.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25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Divieto Assoluto: Spostare Pesi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NAV-G-001 Art. 40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VIETATO vuotare/riempire caldaie o spostare pesi senza autorizzazione Direzione Arsenale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Spostare zavorre o carburanti puo' far ribaltare la nave sulle taccate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 caso di imbarco/sbarco materiali -&gt; accordo preventivo con Marinarsen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Ogni operazione va registrata per iscritto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VIETATO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Niente pesi in movimento senza permesso scritto della Direzione Arsenale.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VIETATO: niente pesi in movimento senza permesso.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26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Messa a Terra dello Scafo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NAV-G-001 Art. 41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Appena la nave e' a secco, il C.te accerta la messa a terra dello scafo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Marinarsen fornisce conduttore a contatto metallico con scafo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Terminale collegato al punto di terra del bacino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Verifica collegamento prima di qualsiasi lavoro elettrico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Foto e firma del collegamento di terra. Sempre, prima del primo lavoro a bordo.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27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Servizio di Sentinella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NAV-G-001 Art. 42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 nave in bacino stabilisce una sentinella sulla porta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Ordine: vigilare che nessuno si soffermi, depositi materiali o manometta valvole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 la nave e' senza equipaggio -&gt; vigilanza a cura di Marinarsen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Cambio guardie e consegne registrati su brogliaccio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Consegne scritte e lette ad alta voce al cambio guardia. Sempre.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28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Passerelle: Regole di Transito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NAV-G-001 Art. 43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Scale, androni e plance assicurate con legature di cavo (bordo + sponda bacino)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VIETATO: affollamento eccessivo, stazionamento, transito a passo cadenzato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VIETATO: trasporto materiali con peso o ingombro eccessivo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Cartello monitore: numero max persone, distanziate almeno 1 metro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VIETATO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Niente passo cadenzato. Niente affollamento. Mai oltre il numero max.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29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La Barriera Acque di Processo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 §6.1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 barriera separa zona barcaporta (pozzetti) da zona cantiere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Scopo: evitare contaminazione acque mare con acque di processo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Responsabilita' corretto assetto: Comando di Bordo / Ufficio Programma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Supervisione che le ditte rispettino la barriera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Verifica visiva quotidiana dell'integrita' della barriera. Annotala.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30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Rifiuti in Platea e Banchina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D.Lgs. 152/06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Responsabilita': Comando di Bordo / Ufficio Programma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Supervisione che le ditte rispettino le prescrizioni contrattuali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DIVIETO assoluto di abbandono rifiuti in platea e banchina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Tracciabilita' smaltimento con FIR / registri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VIETATO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Nessun rifiuto abbandonato. Mai. Foto-evidenza e segnalazione al RTL.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31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Impianti di Bacino: Chi Fa Cosa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Verbale A02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Impianto Antincendio - Funzionamento: Sezione Bacini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Impianto Antincendio - Uso e Regolazione: Comando di Bordo (SAP)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Prosciugamento platea - Funzionamento e Uso: Sezione Bacini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Alimentazione elettrica - Funzionamento: Sezione Reti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Funzionamento = Marinarsen. Uso operativo = Bordo. Non confonderli.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32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3  -  IL GIORNO DELL'INGRESSO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 Tuoi Rappresentanti (Preposti)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113 SMM-PREVA-1062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C.te designa rappresentanti per l'alta vigilanza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Devono avere DPI adeguati ai rischi del cantiere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Seguono gli spostamenti delle ditte all'interno della nave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NON interferiscono con il lavoro della ditta, ma segnalano al RTL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Designa per iscritto. Forma. Dota di DPI. Verifica.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33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band"/>
          <p:cNvSpPr/>
          <p:nvPr/>
        </p:nvSpPr>
        <p:spPr>
          <a:xfrm>
            <a:off x="0" y="1100000"/>
            <a:ext cx="12192000" cy="7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xt"/>
          <p:cNvSpPr txBox="1"/>
          <p:nvPr/>
        </p:nvSpPr>
        <p:spPr>
          <a:xfrm>
            <a:off x="700000" y="600000"/>
            <a:ext cx="108000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C9A227"/>
                </a:solidFill>
                <a:latin typeface="Calibri"/>
                <a:cs typeface="Calibri"/>
              </a:rPr>
              <a:t>RIEPILOGO MODULO 3</a:t>
            </a:r>
          </a:p>
        </p:txBody>
      </p:sp>
      <p:sp>
        <p:nvSpPr>
          <p:cNvPr id="5" name="txt"/>
          <p:cNvSpPr txBox="1"/>
          <p:nvPr/>
        </p:nvSpPr>
        <p:spPr>
          <a:xfrm>
            <a:off x="700000" y="1500000"/>
            <a:ext cx="700000" cy="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0" b="1" dirty="0">
                <a:solidFill>
                  <a:srgbClr val="C9A227"/>
                </a:solidFill>
                <a:latin typeface="Calibri"/>
                <a:cs typeface="Calibri"/>
              </a:rPr>
              <a:t>"</a:t>
            </a:r>
          </a:p>
        </p:txBody>
      </p:sp>
      <p:sp>
        <p:nvSpPr>
          <p:cNvPr id="6" name="txt"/>
          <p:cNvSpPr txBox="1"/>
          <p:nvPr/>
        </p:nvSpPr>
        <p:spPr>
          <a:xfrm>
            <a:off x="1500000" y="1700000"/>
            <a:ext cx="10000000" cy="2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i="1" dirty="0">
                <a:solidFill>
                  <a:srgbClr val="FFFFFF"/>
                </a:solidFill>
                <a:latin typeface="Calibri"/>
                <a:cs typeface="Calibri"/>
              </a:rPr>
              <a:t>Il passaggio di comando avviene via VHF. Pretendi che sia chiaro, registrato e che tutti lo conoscano.</a:t>
            </a:r>
          </a:p>
        </p:txBody>
      </p:sp>
      <p:sp>
        <p:nvSpPr>
          <p:cNvPr id="7" name="nxt_bg"/>
          <p:cNvSpPr/>
          <p:nvPr/>
        </p:nvSpPr>
        <p:spPr>
          <a:xfrm>
            <a:off x="0" y="5358000"/>
            <a:ext cx="12192000" cy="50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nxt_tab"/>
          <p:cNvSpPr/>
          <p:nvPr/>
        </p:nvSpPr>
        <p:spPr>
          <a:xfrm>
            <a:off x="0" y="5358000"/>
            <a:ext cx="180000" cy="50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280000" y="5358000"/>
            <a:ext cx="2400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C9A227"/>
                </a:solidFill>
                <a:latin typeface="Calibri"/>
                <a:cs typeface="Calibri"/>
              </a:rPr>
              <a:t>PROSSIMO MODULO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2700000" y="5358000"/>
            <a:ext cx="9392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FFFFFF"/>
                </a:solidFill>
                <a:latin typeface="Calibri"/>
                <a:cs typeface="Calibri"/>
              </a:rPr>
              <a:t>MODULO 4  -  Rubrica, Ruoli e Consegne</a:t>
            </a:r>
          </a:p>
        </p:txBody>
      </p:sp>
      <p:sp>
        <p:nvSpPr>
          <p:cNvPr id="11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34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La Rubrica da Tenere in Plancia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H24 / Orario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Guardia Bacini (H24): 22916  -  emergenze, notte e festivi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Capo Nucleo Bacini in Muratura: 23762  -  problemi operativi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Segreteria Bacini in Muratura: 23765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Sezione Reti Marinarsen: 22064  -  guasti alimentazione elettrica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Sezione Sanitaria: 22841  -  infortuni in orario (fuori orario -&gt; 118)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Stampa questa slide e tienila plastificata in plancia e in alloggio C.te.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Stampala. Plastificala. Tienila in plancia.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35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Il Verbale PSBM001A.A02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PSBM001A.A02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Da firmare entro il giorno successivo all'appoggio, PRIMA dell'avvio lavori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Passaggio di consegne tra Sezione Bacini e Comando di Bordo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Senza questo verbale firmato = non si entra in cantiere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Prevede anche la cessione in uso dell'impianto antincendio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Niente firma = niente lavori. Vale per tutti, anche per il RTL.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36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Alimentazione da Terra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Sezione Reti  22064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Quadro di alimentazione: identificativo ______________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Tensione: ______ V   |   Potenza prelevabile: ______ kW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Verifica OBBLIGATORIA della messa a terra del quadro di banchina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 caso di guasto -&gt; Sezione Reti 22064 o Guardia Bacini 22916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Compila i campi mancanti con valori reali al momento della consegna.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37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Cessione Impianto Antincendio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SAP di bordo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Marinarsen cede in uso l'impianto fisso antincendio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Responsabile SAP di bordo autorizzato all'uso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Obbligo: cuffie antirumore nel locale pompe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Obbligo: annotare giornalmente le ore di funzionamento sul registro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Registro ore-pompe firmato giornalmente dal SAP di bordo.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38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Le 4 Elettropompe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4 x 250 mc/h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Elettropompa 1 da 250 mc/h: SI / 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Elettropompa 2 da 250 mc/h: SI / 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Elettropompa 3 da 250 mc/h: SI / 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Elettropompa 4 da 250 mc/h: SI / 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Manichette collegate n. ____ presso punti di sbocco ____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Verifica fisica dello stato di ciascuna pompa prima della firma del verbale.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Annota ogni giorno le ore di funzionamento.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39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Consegna Passerelle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NAV-G-001 Art. 43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Passerelle consegnate n. matricola: ______________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Carico massimo previsto: ______ kg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Passaggio simultaneo massimo: n. _____ persone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Obbligo: distanziate almeno 1 metro l'una dall'altra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ATTENZIONE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Cartello monitore obbligatorio all'imbocco di ogni passerella.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40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Allagamento a Bordo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Guardia Bacini 22916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VIETATO scaricare in platea qualsiasi liquido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 caso di allagamento locali di bordo -&gt; chiamare Guardia Bacini 22916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Marinarsen predispone la raccolta acque di processo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Documentare l'evento con foto e relazione scritta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VIETATO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Mai scaricare in platea. Mai. Anche acqua limpida.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VIETATO: mai scaricare in platea.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41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Evacuazione dall'Unita'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Punto di Raccolta n. 11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Punto di Raccolta: n. 11  -  Zona Raccolta FERRATI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Planimetria consegnata con verbale PSBM001A.A02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Trasporto infortunato fino all'ambulanza -&gt; a cura del Comando di Bordo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Verifica delle vie di esodo prima dell'avvio lavori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Affiggi planimetria di evacuazione in plancia e ai posti di guardia.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42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Infortunio: Chi Chiama Chi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22841 / 118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 orario di servizio -&gt; Sezione Sanitaria 22841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Fuori orario -&gt; 118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Trasporto infortunato fuori dall'Unita' fino ad ambulanza -&gt; a cura dell'Unita'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Avviso immediato a Guardia Bacini 22916 in ogni caso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ATTENZIONE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Conserva il numero del soccorritore di bordo designato. Verifica idoneita' e formazione.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43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Guardia e Ronda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PSBM001A.A02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Modalita' definite nel verbale PSBM001A.A02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Con Unita' in bacino, personale di guardia con prodel in dotazione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Comunicazione continua con Guardia Bacini via VHF su canale predefinito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Ronda con frequenza definita dal C.te e annotata su brogliaccio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Test radio prodel a ogni cambio guardia. Annotalo.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44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Chi Fa Cosa: Riepilogo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Matrice RACI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Messa a terra scafo e sentinelle porta -&gt; Comando di Bordo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Funzionamento pompe A.I. e prosciugamento -&gt; Sezione Bacini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Uso e regolazione pressione rete A.I. -&gt; Comando di Bordo (SAP)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Gestione rifiuti e barriera -&gt; C.te / Ufficio Programma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Funzionamento impianti = Marinarsen. Uso operativo = Bordo.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45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Formazione sull'Impianto Bacino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PSBM001A.A02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Il Nucleo NBM forma e informa il personale di bordo sull'impianto di bacino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Verbalizzazione della formazione nel modello PSBM001A.A02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Personale SAP autorizzato all'uso dell'impianto antincendio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Aggiornamento periodico in base alla rotazione equipaggio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Conserva i verbali di formazione: sono la tua prova di diligenza.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46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Raccomandazioni Specifiche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PSBM001A.A02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Definite nel verbale PSBM001A.A02 caso per caso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Personalizzate in base alle lavorazioni previste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Firmate da tutte le parti: Comando UN, Capo Sez. Bacini, Capo Nucleo, Ufficio Programma, Legale Rappresentante Ditta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Aggiornate ad ogni variante di configurazione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PRETENDI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Tutte le firme presenti, datate, leggibili. Nessuna eccezione.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47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4  -  IN BACINO: RUBRICA E CONSEGNE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 5 Errori Fatali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Da NON fare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1. Dare ordini diretti agli operai privati -&gt; diventi loro Preposto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2. Firmare il Verbale Consegne senza ispezionare le pompe A.I. -&gt; nave vulnerabile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3. Permettere accesso a spazi confinati senza Gas-Free certificato -&gt; reato penale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4. Spostare zavorre o carburanti senza avvisare Capo Nucleo NBM -&gt; rischio ribaltamento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5. Lasciare la portelleria esterna aperta dopo messa a secco -&gt; rischio caduta dall'alto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Cinque errori che possono mandarti in procura. Memorizzali.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Evita questi 5 errori e dormirai sonni tranquilli.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48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band"/>
          <p:cNvSpPr/>
          <p:nvPr/>
        </p:nvSpPr>
        <p:spPr>
          <a:xfrm>
            <a:off x="0" y="1100000"/>
            <a:ext cx="12192000" cy="7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xt"/>
          <p:cNvSpPr txBox="1"/>
          <p:nvPr/>
        </p:nvSpPr>
        <p:spPr>
          <a:xfrm>
            <a:off x="700000" y="600000"/>
            <a:ext cx="10800000" cy="4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C9A227"/>
                </a:solidFill>
                <a:latin typeface="Calibri"/>
                <a:cs typeface="Calibri"/>
              </a:rPr>
              <a:t>RIEPILOGO MODULO 4</a:t>
            </a:r>
          </a:p>
        </p:txBody>
      </p:sp>
      <p:sp>
        <p:nvSpPr>
          <p:cNvPr id="5" name="txt"/>
          <p:cNvSpPr txBox="1"/>
          <p:nvPr/>
        </p:nvSpPr>
        <p:spPr>
          <a:xfrm>
            <a:off x="700000" y="1500000"/>
            <a:ext cx="700000" cy="8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0" b="1" dirty="0">
                <a:solidFill>
                  <a:srgbClr val="C9A227"/>
                </a:solidFill>
                <a:latin typeface="Calibri"/>
                <a:cs typeface="Calibri"/>
              </a:rPr>
              <a:t>"</a:t>
            </a:r>
          </a:p>
        </p:txBody>
      </p:sp>
      <p:sp>
        <p:nvSpPr>
          <p:cNvPr id="6" name="txt"/>
          <p:cNvSpPr txBox="1"/>
          <p:nvPr/>
        </p:nvSpPr>
        <p:spPr>
          <a:xfrm>
            <a:off x="1500000" y="1700000"/>
            <a:ext cx="10000000" cy="2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i="1" dirty="0">
                <a:solidFill>
                  <a:srgbClr val="FFFFFF"/>
                </a:solidFill>
                <a:latin typeface="Calibri"/>
                <a:cs typeface="Calibri"/>
              </a:rPr>
              <a:t>Firma il verbale di consegne solo dopo aver ispezionato le pompe e le passerelle. Se manca la pressione, la nave e' vulnerabile.</a:t>
            </a:r>
          </a:p>
        </p:txBody>
      </p:sp>
      <p:sp>
        <p:nvSpPr>
          <p:cNvPr id="7" name="nxt_bg"/>
          <p:cNvSpPr/>
          <p:nvPr/>
        </p:nvSpPr>
        <p:spPr>
          <a:xfrm>
            <a:off x="0" y="5358000"/>
            <a:ext cx="12192000" cy="50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nxt_tab"/>
          <p:cNvSpPr/>
          <p:nvPr/>
        </p:nvSpPr>
        <p:spPr>
          <a:xfrm>
            <a:off x="0" y="5358000"/>
            <a:ext cx="180000" cy="50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280000" y="5358000"/>
            <a:ext cx="2400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C9A227"/>
                </a:solidFill>
                <a:latin typeface="Calibri"/>
                <a:cs typeface="Calibri"/>
              </a:rPr>
              <a:t>PROSSIMO MODULO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2700000" y="5358000"/>
            <a:ext cx="9392000" cy="5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1" dirty="0">
                <a:solidFill>
                  <a:srgbClr val="FFFFFF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11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49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Il Triangolo Normativo: Quale Norma a Bordo?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26 / Titolo IV / D.Lgs. 272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Art. 26 D.Lgs. 81/08 (ditta singola): documento = DUVRI. Ruolo C.te = coordina e vigila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Titolo IV D.Lgs. 81/08 (cantiere civile complesso): figura = CSE. Documento = PSC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D.Lgs. 272/1999 (cantiere navale / bacino): figura = RTL. Documento = Documento di Sicurezza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 tre regimi non si sommano: si applica quello pertinente al contesto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A bordo la norma civile (81/08) viene "navalizzata" dal D.Lgs. 272/99.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81/08 navalizzato dal D.Lgs. 272/99.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50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Scenario 1: La Ditta Singola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26 D.Lgs. 81/08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Quando: una sola impresa appaltatrice, nessun rischio di sovrapposizione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C.te verifica l'Idoneita' Tecnico-Professionale (ITP)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C.te fornisce i rischi specifici del bordo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C.te redige e firma il DUVRI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Non serve CSE, non serve PSC, non serve Impresa Capo Commessa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1 Ditta = DUVRI. Responsabilita' operativa al Datore di Lavoro della ditta.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51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Scenario 2: Sosta Lavori e Bacino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116 D.Lgs. 272/99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Quando: soste lavori, bacino, piu' ditte che interferiscono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Figura chiave: l'Impresa Capo Commessa e il R.T.L. (Responsabile Tecnico dei Lavori)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L'R.T.L. sostituisce e adatta il ruolo del CSE civile al contesto navale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Documento: Documento di Sicurezza (cronoprogramma, rischi, emergenze)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In bacino l'interlocutore unico per le interferenze e' l'R.T.L., non l'operaio.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52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La Matrice di Scelta del Comandante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Matrice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Piccolo intervento (1 ditta) -&gt; Art. 26 D.Lgs. 81/08 -&gt; DUVRI -&gt; Datore di Lavoro Ditta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Cantiere complesso / sosta lavori / bacino -&gt; D.Lgs. 272/99 Art. 116 -&gt; Documento di Sicurezza -&gt; R.T.L.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Lavori in area isolata (es. bonifica amianto) -&gt; Art. 118 SMM-PREVA-1062 -&gt; Verbale Consegna Aree -&gt; RTL + Guardia Fuochi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Se in sosta lavori manca il Documento di Sicurezza, il C.te ha il dovere di bloccare l'accesso.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Manca il Documento di Sicurezza? Si blocca.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53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Il Documento di Sicurezza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116 D.Lgs. 272/99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Redatto dall'Impresa Capo Commessa prima di iniziare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Contiene: cronoprogramma, rischi interferenziali, misure di emergenza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Consegnato in copia controfirmata a tutti i Datori di lavoro a bordo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 manca -&gt; STOP AI LAVORI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Documento di Sicurezza assente o non firmato = lavori sospesi seduta stante.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54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Le Riunioni di Sicurezza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116 c.4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RTL convoca riunioni periodiche (giornate della sicurezza)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Comando di bordo invia il suo incaricato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 verbali integrano il Documento di Sicurezza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RTL definisce la cadenza delle riunioni successive gia' nella prima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Conserva tutti i verbali. Sono parte integrante del Documento di Sicurezza.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55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Accesso ad Ambienti Confinati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111 / DPR 177/2011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Sentine, cassoni, serbatoi, doppi fondi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Accesso autorizzato dal COMANDANTE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La ditta deve dimostrare il possesso dei requisiti DPR 177/2011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Pretendi di vedere il Permesso di Lavoro e il monitoraggio atmosfera (O2, LEL, H2S)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STOP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Nessun accesso senza autorizzazione del Comandante e Gas-Free certificato.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Nessun accesso senza Gas-Free certificato.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56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5  -  CANTIERE VIVO, NORMATIVE E INTERFERENZE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Cosa Fare in Emergenza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22916 / 22841 / 22064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Incendio platea o bordo -&gt; Guardia Bacini 22916. Attiva SAP bordo, usa rete idrica bacino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Allagamento locale -&gt; Guardia Bacini 22916 per pompe raccolta acque di processo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Infortunio ditta -&gt; la ditta chiama 118. Tu metti a disposizione passerella e chiami Sez. Sanitaria 22841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Blackout elettrico -&gt; Sezione Reti 22064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A70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E6A7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ATTENZIONE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Tieni accanto al telefono di plancia la rubrica in formato grande e leggibile.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57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6  -  CHIUSURA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Restituzione del Bacino e Uscita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Art. 106 SMM-PREVA-1062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51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Prima dell'allagamento per l'uscita: verifica che tutte le aree isolate siano state riconsegnate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Rimozione materiali e chiusura verbali di consegna aree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PDCA (lessons learned): cosa ha funzionato, cosa migliorare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Aggiornamento DVR se introdotte varianti di configurazione (Art. 106)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513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FFFFFF"/>
                </a:solidFill>
                <a:latin typeface="Calibri"/>
                <a:cs typeface="Calibri"/>
              </a:rPr>
              <a:t>AZIONE C.TE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55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Convoca un debrief con DM, SAP e Ufficio Programma entro 7 giorni dall'uscita.</a:t>
            </a:r>
          </a:p>
        </p:txBody>
      </p:sp>
      <p:sp>
        <p:nvSpPr>
          <p:cNvPr id="15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58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tab"/>
          <p:cNvSpPr/>
          <p:nvPr/>
        </p:nvSpPr>
        <p:spPr>
          <a:xfrm>
            <a:off x="0" y="0"/>
            <a:ext cx="180000" cy="10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bar"/>
          <p:cNvSpPr/>
          <p:nvPr/>
        </p:nvSpPr>
        <p:spPr>
          <a:xfrm>
            <a:off x="0" y="1080000"/>
            <a:ext cx="12192000" cy="5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30000"/>
            <a:ext cx="8800000" cy="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1" dirty="0">
                <a:solidFill>
                  <a:srgbClr val="E6C661"/>
                </a:solidFill>
                <a:latin typeface="Calibri"/>
                <a:cs typeface="Calibri"/>
              </a:rPr>
              <a:t>MODULO 6  -  CHIUSURA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80000"/>
            <a:ext cx="88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rgbClr val="FFFFFF"/>
                </a:solidFill>
                <a:latin typeface="Calibri"/>
                <a:cs typeface="Calibri"/>
              </a:rPr>
              <a:t>I 5 Punti Chiave e Contatti</a:t>
            </a:r>
          </a:p>
        </p:txBody>
      </p:sp>
      <p:sp>
        <p:nvSpPr>
          <p:cNvPr id="8" name="normtag"/>
          <p:cNvSpPr/>
          <p:nvPr/>
        </p:nvSpPr>
        <p:spPr>
          <a:xfrm>
            <a:off x="9380000" y="320000"/>
            <a:ext cx="2620000" cy="46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400000" y="320000"/>
            <a:ext cx="2580000" cy="4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06203F"/>
                </a:solidFill>
                <a:latin typeface="Calibri"/>
                <a:cs typeface="Calibri"/>
              </a:rPr>
              <a:t>Sintesi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280000"/>
            <a:ext cx="7300000" cy="461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1. Alta Vigilanza, non ingerenza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2. Rispetta la timeline: T-60, T-7, T-2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3. Conosci la rubrica: 22916, 23762, 22064, 22841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4. Firma solo dopo aver verificato di persona</a:t>
            </a:r>
          </a:p>
          <a:p>
            <a:pPr marL="285750" indent="-285750" lvl="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C9A227"/>
              </a:buClr>
              <a:buFont typeface="Arial"/>
              <a:buChar char="■"/>
            </a:pPr>
            <a:r>
              <a:rPr lang="it-IT" sz="1650" b="0" dirty="0">
                <a:solidFill>
                  <a:srgbClr val="1A1A1A"/>
                </a:solidFill>
                <a:latin typeface="Calibri"/>
                <a:cs typeface="Calibri"/>
              </a:rPr>
              <a:t>5. Il passaggio di comando avviene via VHF: pretendi chiarezza, registrazione, conoscenza</a:t>
            </a:r>
          </a:p>
        </p:txBody>
      </p:sp>
      <p:sp>
        <p:nvSpPr>
          <p:cNvPr id="11" name="boxbg"/>
          <p:cNvSpPr/>
          <p:nvPr/>
        </p:nvSpPr>
        <p:spPr>
          <a:xfrm>
            <a:off x="7900000" y="1280000"/>
            <a:ext cx="3912000" cy="46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boxhdr"/>
          <p:cNvSpPr/>
          <p:nvPr/>
        </p:nvSpPr>
        <p:spPr>
          <a:xfrm>
            <a:off x="7900000" y="1280000"/>
            <a:ext cx="3912000" cy="4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xt"/>
          <p:cNvSpPr txBox="1"/>
          <p:nvPr/>
        </p:nvSpPr>
        <p:spPr>
          <a:xfrm>
            <a:off x="8000000" y="1280000"/>
            <a:ext cx="3712000" cy="4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b="1" dirty="0">
                <a:solidFill>
                  <a:srgbClr val="06203F"/>
                </a:solidFill>
                <a:latin typeface="Calibri"/>
                <a:cs typeface="Calibri"/>
              </a:rPr>
              <a:t>REGOLA D'ORO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8060000" y="1760000"/>
            <a:ext cx="3592000" cy="403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dirty="0">
                <a:solidFill>
                  <a:srgbClr val="1A1A1A"/>
                </a:solidFill>
                <a:latin typeface="Calibri"/>
                <a:cs typeface="Calibri"/>
              </a:rPr>
              <a:t>Queste cinque regole sono la tua assicurazione professionale e personale.</a:t>
            </a:r>
          </a:p>
        </p:txBody>
      </p:sp>
      <p:sp>
        <p:nvSpPr>
          <p:cNvPr id="15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Queste sono le tue fonti di salvezza.</a:t>
            </a:r>
          </a:p>
        </p:txBody>
      </p:sp>
      <p:sp>
        <p:nvSpPr>
          <p:cNvPr id="19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1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59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xt"/>
          <p:cNvSpPr txBox="1"/>
          <p:nvPr/>
        </p:nvSpPr>
        <p:spPr>
          <a:xfrm>
            <a:off x="700000" y="700000"/>
            <a:ext cx="10800000" cy="1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6000" b="1" dirty="0">
                <a:solidFill>
                  <a:srgbClr val="C9A227"/>
                </a:solidFill>
                <a:latin typeface="Calibri"/>
                <a:cs typeface="Calibri"/>
              </a:rPr>
              <a:t>Domande &amp; Risposte</a:t>
            </a:r>
          </a:p>
        </p:txBody>
      </p:sp>
      <p:sp>
        <p:nvSpPr>
          <p:cNvPr id="5" name="txt"/>
          <p:cNvSpPr txBox="1"/>
          <p:nvPr/>
        </p:nvSpPr>
        <p:spPr>
          <a:xfrm>
            <a:off x="700000" y="2200000"/>
            <a:ext cx="108000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0" dirty="0">
                <a:solidFill>
                  <a:srgbClr val="FFFFFF"/>
                </a:solidFill>
                <a:latin typeface="Calibri"/>
                <a:cs typeface="Calibri"/>
              </a:rPr>
              <a:t>Spazio per 2-3 domande pratiche dai Comandanti</a:t>
            </a:r>
          </a:p>
        </p:txBody>
      </p:sp>
      <p:sp>
        <p:nvSpPr>
          <p:cNvPr id="6" name="stim"/>
          <p:cNvSpPr/>
          <p:nvPr/>
        </p:nvSpPr>
        <p:spPr>
          <a:xfrm>
            <a:off x="700000" y="3100000"/>
            <a:ext cx="10800000" cy="1700000"/>
          </a:xfrm>
          <a:prstGeom prst="rect">
            <a:avLst/>
          </a:prstGeom>
          <a:solidFill>
            <a:srgbClr val="0B2E55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7" name="stim_tab"/>
          <p:cNvSpPr/>
          <p:nvPr/>
        </p:nvSpPr>
        <p:spPr>
          <a:xfrm>
            <a:off x="700000" y="3100000"/>
            <a:ext cx="180000" cy="170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xt"/>
          <p:cNvSpPr txBox="1"/>
          <p:nvPr/>
        </p:nvSpPr>
        <p:spPr>
          <a:xfrm>
            <a:off x="1000000" y="3230000"/>
            <a:ext cx="10400000" cy="3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C9A227"/>
                </a:solidFill>
                <a:latin typeface="Calibri"/>
                <a:cs typeface="Calibri"/>
              </a:rPr>
              <a:t>DOMANDA STIMOLO</a:t>
            </a:r>
          </a:p>
        </p:txBody>
      </p:sp>
      <p:sp>
        <p:nvSpPr>
          <p:cNvPr id="9" name="txt"/>
          <p:cNvSpPr txBox="1"/>
          <p:nvPr/>
        </p:nvSpPr>
        <p:spPr>
          <a:xfrm>
            <a:off x="1000000" y="3650000"/>
            <a:ext cx="10400000" cy="1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 b="0" i="1" dirty="0">
                <a:solidFill>
                  <a:srgbClr val="FFFFFF"/>
                </a:solidFill>
                <a:latin typeface="Calibri"/>
                <a:cs typeface="Calibri"/>
              </a:rPr>
              <a:t>Qual e' il dubbio che vi ha tenuto svegli la notte prima del vostro ultimo bacino?</a:t>
            </a:r>
          </a:p>
        </p:txBody>
      </p:sp>
      <p:sp>
        <p:nvSpPr>
          <p:cNvPr id="10" name="tk_bg"/>
          <p:cNvSpPr/>
          <p:nvPr/>
        </p:nvSpPr>
        <p:spPr>
          <a:xfrm>
            <a:off x="0" y="5858000"/>
            <a:ext cx="12192000" cy="52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tk_tab"/>
          <p:cNvSpPr/>
          <p:nvPr/>
        </p:nvSpPr>
        <p:spPr>
          <a:xfrm>
            <a:off x="0" y="5858000"/>
            <a:ext cx="180000" cy="520000"/>
          </a:xfrm>
          <a:prstGeom prst="rect">
            <a:avLst/>
          </a:prstGeom>
          <a:solidFill>
            <a:srgbClr val="06203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xt"/>
          <p:cNvSpPr txBox="1"/>
          <p:nvPr/>
        </p:nvSpPr>
        <p:spPr>
          <a:xfrm>
            <a:off x="280000" y="5858000"/>
            <a:ext cx="1700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06203F"/>
                </a:solidFill>
                <a:latin typeface="Calibri"/>
                <a:cs typeface="Calibri"/>
              </a:rPr>
              <a:t>TAKEAWAY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2050000" y="5858000"/>
            <a:ext cx="9992000" cy="52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i="1" dirty="0">
                <a:solidFill>
                  <a:srgbClr val="06203F"/>
                </a:solidFill>
                <a:latin typeface="Calibri"/>
                <a:cs typeface="Calibri"/>
              </a:rPr>
              <a:t>Grazie per l'attenzione  -  Buon mare e bacini tranquilli.</a:t>
            </a:r>
          </a:p>
        </p:txBody>
      </p:sp>
      <p:sp>
        <p:nvSpPr>
          <p:cNvPr id="14" name="footer"/>
          <p:cNvSpPr/>
          <p:nvPr/>
        </p:nvSpPr>
        <p:spPr>
          <a:xfrm>
            <a:off x="0" y="6418000"/>
            <a:ext cx="12192000" cy="440000"/>
          </a:xfrm>
          <a:prstGeom prst="rect">
            <a:avLst/>
          </a:prstGeom>
          <a:solidFill>
            <a:srgbClr val="0B2E55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facc"/>
          <p:cNvSpPr/>
          <p:nvPr/>
        </p:nvSpPr>
        <p:spPr>
          <a:xfrm>
            <a:off x="0" y="6418000"/>
            <a:ext cx="12192000" cy="4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txt"/>
          <p:cNvSpPr txBox="1"/>
          <p:nvPr/>
        </p:nvSpPr>
        <p:spPr>
          <a:xfrm>
            <a:off x="420000" y="6418000"/>
            <a:ext cx="900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Gestione del Rischio Cantieristico e Responsabilita' di Bordo  |  SMM-PREVA-1062  -  PSBM001A  -  NAV-G-001  -  D.Lgs. 272/99</a:t>
            </a:r>
          </a:p>
        </p:txBody>
      </p:sp>
      <p:sp>
        <p:nvSpPr>
          <p:cNvPr id="17" name="txt"/>
          <p:cNvSpPr txBox="1"/>
          <p:nvPr/>
        </p:nvSpPr>
        <p:spPr>
          <a:xfrm>
            <a:off x="9992000" y="6418000"/>
            <a:ext cx="1780000" cy="4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C9A227"/>
                </a:solidFill>
                <a:latin typeface="Calibri"/>
                <a:cs typeface="Calibri"/>
              </a:rPr>
              <a:t>60 / 60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arinaConvegno">
  <a:themeElements>
    <a:clrScheme name="MarinaConvegno">
      <a:dk1>
        <a:srgbClr val="0B2E55"/>
      </a:dk1>
      <a:lt1>
        <a:srgbClr val="FFFFFF"/>
      </a:lt1>
      <a:dk2>
        <a:srgbClr val="06203F"/>
      </a:dk2>
      <a:lt2>
        <a:srgbClr val="F2F4F7"/>
      </a:lt2>
      <a:accent1>
        <a:srgbClr val="C9A227"/>
      </a:accent1>
      <a:accent2>
        <a:srgbClr val="0B2E55"/>
      </a:accent2>
      <a:accent3>
        <a:srgbClr val="B31B1B"/>
      </a:accent3>
      <a:accent4>
        <a:srgbClr val="E6A700"/>
      </a:accent4>
      <a:accent5>
        <a:srgbClr val="2E7D32"/>
      </a:accent5>
      <a:accent6>
        <a:srgbClr val="1F4E79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Kiro OOXML Generator</Application>
  <Slides>60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Gestione del Rischio Cantieristico e Responsabilita' di Bordo</dc:title>
  <dc:creator>Kiro</dc:creator>
  <cp:keywords>Bacino di Carenaggio; Marinarsen; SMM-PREVA-1062; PSBM001A; NAV-G-001; D.Lgs. 272/99</cp:keywords>
</cp:coreProperties>
</file>