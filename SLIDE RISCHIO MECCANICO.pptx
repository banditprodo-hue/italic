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_master"/>
  </p:sldMasterIdLst>
  <p:sldIdLst>
    <p:sldId id="255" r:id="rId1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_master" Type="http://schemas.openxmlformats.org/officeDocument/2006/relationships/slideMaster" Target="slideMasters/slideMaster1.xml"/><Relationship Id="rId_theme" Type="http://schemas.openxmlformats.org/officeDocument/2006/relationships/theme" Target="theme/theme1.xml"/><Relationship Id="rId_props" Type="http://schemas.openxmlformats.org/officeDocument/2006/relationships/presProps" Target="presProps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slide" Target="slides/slide43.xml"/><Relationship Id="rId44" Type="http://schemas.openxmlformats.org/officeDocument/2006/relationships/slide" Target="slides/slide44.xml"/><Relationship Id="rId45" Type="http://schemas.openxmlformats.org/officeDocument/2006/relationships/slide" Target="slides/slide45.xml"/><Relationship Id="rId46" Type="http://schemas.openxmlformats.org/officeDocument/2006/relationships/slide" Target="slides/slide46.xml"/><Relationship Id="rId47" Type="http://schemas.openxmlformats.org/officeDocument/2006/relationships/slide" Target="slides/slide47.xml"/><Relationship Id="rId48" Type="http://schemas.openxmlformats.org/officeDocument/2006/relationships/slide" Target="slides/slide48.xml"/><Relationship Id="rId49" Type="http://schemas.openxmlformats.org/officeDocument/2006/relationships/slide" Target="slides/slide49.xml"/><Relationship Id="rId50" Type="http://schemas.openxmlformats.org/officeDocument/2006/relationships/slide" Target="slides/slide50.xml"/><Relationship Id="rId51" Type="http://schemas.openxmlformats.org/officeDocument/2006/relationships/slide" Target="slides/slide51.xml"/><Relationship Id="rId52" Type="http://schemas.openxmlformats.org/officeDocument/2006/relationships/slide" Target="slides/slide52.xml"/><Relationship Id="rId53" Type="http://schemas.openxmlformats.org/officeDocument/2006/relationships/slide" Target="slides/slide53.xml"/><Relationship Id="rId54" Type="http://schemas.openxmlformats.org/officeDocument/2006/relationships/slide" Target="slides/slide54.xml"/><Relationship Id="rId55" Type="http://schemas.openxmlformats.org/officeDocument/2006/relationships/slide" Target="slides/slide55.xml"/><Relationship Id="rId56" Type="http://schemas.openxmlformats.org/officeDocument/2006/relationships/slide" Target="slides/slide56.xml"/><Relationship Id="rId57" Type="http://schemas.openxmlformats.org/officeDocument/2006/relationships/slide" Target="slides/slide57.xml"/><Relationship Id="rId58" Type="http://schemas.openxmlformats.org/officeDocument/2006/relationships/slide" Target="slides/slide58.xml"/><Relationship Id="rId59" Type="http://schemas.openxmlformats.org/officeDocument/2006/relationships/slide" Target="slides/slide59.xml"/><Relationship Id="rId60" Type="http://schemas.openxmlformats.org/officeDocument/2006/relationships/slide" Target="slides/slide60.xml"/><Relationship Id="rId61" Type="http://schemas.openxmlformats.org/officeDocument/2006/relationships/slide" Target="slides/slide61.xml"/><Relationship Id="rId62" Type="http://schemas.openxmlformats.org/officeDocument/2006/relationships/slide" Target="slides/slide62.xml"/><Relationship Id="rId63" Type="http://schemas.openxmlformats.org/officeDocument/2006/relationships/slide" Target="slides/slide63.xml"/><Relationship Id="rId64" Type="http://schemas.openxmlformats.org/officeDocument/2006/relationships/slide" Target="slides/slide64.xml"/><Relationship Id="rId65" Type="http://schemas.openxmlformats.org/officeDocument/2006/relationships/slide" Target="slides/slide65.xml"/><Relationship Id="rId66" Type="http://schemas.openxmlformats.org/officeDocument/2006/relationships/slide" Target="slides/slide66.xml"/><Relationship Id="rId67" Type="http://schemas.openxmlformats.org/officeDocument/2006/relationships/slide" Target="slides/slide67.xml"/><Relationship Id="rId68" Type="http://schemas.openxmlformats.org/officeDocument/2006/relationships/slide" Target="slides/slide68.xml"/><Relationship Id="rId69" Type="http://schemas.openxmlformats.org/officeDocument/2006/relationships/slide" Target="slides/slide69.xml"/><Relationship Id="rId70" Type="http://schemas.openxmlformats.org/officeDocument/2006/relationships/slide" Target="slides/slide70.xml"/><Relationship Id="rId71" Type="http://schemas.openxmlformats.org/officeDocument/2006/relationships/slide" Target="slides/slide71.xml"/><Relationship Id="rId72" Type="http://schemas.openxmlformats.org/officeDocument/2006/relationships/slide" Target="slides/slide72.xml"/><Relationship Id="rId73" Type="http://schemas.openxmlformats.org/officeDocument/2006/relationships/slide" Target="slides/slide73.xml"/><Relationship Id="rId74" Type="http://schemas.openxmlformats.org/officeDocument/2006/relationships/slide" Target="slides/slide74.xml"/><Relationship Id="rId75" Type="http://schemas.openxmlformats.org/officeDocument/2006/relationships/slide" Target="slides/slide75.xml"/><Relationship Id="rId76" Type="http://schemas.openxmlformats.org/officeDocument/2006/relationships/slide" Target="slides/slide76.xml"/><Relationship Id="rId77" Type="http://schemas.openxmlformats.org/officeDocument/2006/relationships/slide" Target="slides/slide77.xml"/><Relationship Id="rId78" Type="http://schemas.openxmlformats.org/officeDocument/2006/relationships/slide" Target="slides/slide78.xml"/><Relationship Id="rId79" Type="http://schemas.openxmlformats.org/officeDocument/2006/relationships/slide" Target="slides/slide79.xml"/><Relationship Id="rId80" Type="http://schemas.openxmlformats.org/officeDocument/2006/relationships/slide" Target="slides/slide80.xml"/><Relationship Id="rId81" Type="http://schemas.openxmlformats.org/officeDocument/2006/relationships/slide" Target="slides/slide81.xml"/><Relationship Id="rId82" Type="http://schemas.openxmlformats.org/officeDocument/2006/relationships/slide" Target="slides/slide82.xml"/><Relationship Id="rId83" Type="http://schemas.openxmlformats.org/officeDocument/2006/relationships/slide" Target="slides/slide83.xml"/><Relationship Id="rId84" Type="http://schemas.openxmlformats.org/officeDocument/2006/relationships/slide" Target="slides/slide84.xml"/><Relationship Id="rId85" Type="http://schemas.openxmlformats.org/officeDocument/2006/relationships/slide" Target="slides/slide85.xml"/><Relationship Id="rId86" Type="http://schemas.openxmlformats.org/officeDocument/2006/relationships/slide" Target="slides/slide86.xml"/><Relationship Id="rId87" Type="http://schemas.openxmlformats.org/officeDocument/2006/relationships/slide" Target="slides/slide87.xml"/><Relationship Id="rId88" Type="http://schemas.openxmlformats.org/officeDocument/2006/relationships/slide" Target="slides/slide88.xml"/><Relationship Id="rId89" Type="http://schemas.openxmlformats.org/officeDocument/2006/relationships/slide" Target="slides/slide89.xml"/><Relationship Id="rId90" Type="http://schemas.openxmlformats.org/officeDocument/2006/relationships/slide" Target="slides/slide90.xml"/><Relationship Id="rId91" Type="http://schemas.openxmlformats.org/officeDocument/2006/relationships/slide" Target="slides/slide91.xml"/><Relationship Id="rId92" Type="http://schemas.openxmlformats.org/officeDocument/2006/relationships/slide" Target="slides/slide92.xml"/><Relationship Id="rId93" Type="http://schemas.openxmlformats.org/officeDocument/2006/relationships/slide" Target="slides/slide93.xml"/><Relationship Id="rId94" Type="http://schemas.openxmlformats.org/officeDocument/2006/relationships/slide" Target="slides/slide94.xml"/><Relationship Id="rId95" Type="http://schemas.openxmlformats.org/officeDocument/2006/relationships/slide" Target="slides/slide95.xml"/><Relationship Id="rId96" Type="http://schemas.openxmlformats.org/officeDocument/2006/relationships/slide" Target="slides/slide96.xml"/><Relationship Id="rId97" Type="http://schemas.openxmlformats.org/officeDocument/2006/relationships/slide" Target="slides/slide97.xml"/><Relationship Id="rId98" Type="http://schemas.openxmlformats.org/officeDocument/2006/relationships/slide" Target="slides/slide98.xml"/><Relationship Id="rId99" Type="http://schemas.openxmlformats.org/officeDocument/2006/relationships/slide" Target="slides/slide99.xml"/><Relationship Id="rId100" Type="http://schemas.openxmlformats.org/officeDocument/2006/relationships/slide" Target="slides/slide10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  <a:latin typeface="Calibri"/>
        </a:defRPr>
      </a:lvl1pPr>
    </p:titleStyle>
    <p:bodyStyle>
      <a:lvl1pPr marL="285750" indent="-285750">
        <a:defRPr sz="1800">
          <a:solidFill>
            <a:schemeClr val="tx1"/>
          </a:solidFill>
          <a:latin typeface="Calibri"/>
        </a:defRPr>
      </a:lvl1pPr>
      <a:lvl2pPr marL="571500" indent="-285750">
        <a:defRPr sz="1600">
          <a:solidFill>
            <a:schemeClr val="tx1"/>
          </a:solidFill>
          <a:latin typeface="Calibri"/>
        </a:defRPr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band"/>
          <p:cNvSpPr/>
          <p:nvPr/>
        </p:nvSpPr>
        <p:spPr>
          <a:xfrm>
            <a:off x="0" y="1500000"/>
            <a:ext cx="12192000" cy="275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ybar"/>
          <p:cNvSpPr/>
          <p:nvPr/>
        </p:nvSpPr>
        <p:spPr>
          <a:xfrm>
            <a:off x="0" y="1500000"/>
            <a:ext cx="380000" cy="275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txt"/>
          <p:cNvSpPr txBox="1"/>
          <p:nvPr/>
        </p:nvSpPr>
        <p:spPr>
          <a:xfrm>
            <a:off x="900000" y="1680000"/>
            <a:ext cx="100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 b="1" dirty="0">
                <a:solidFill>
                  <a:srgbClr val="FFD200"/>
                </a:solidFill>
                <a:latin typeface="Calibri"/>
                <a:cs typeface="Calibri"/>
              </a:rPr>
              <a:t>SICUREZZA SUL LAVORO</a:t>
            </a:r>
          </a:p>
        </p:txBody>
      </p:sp>
      <p:sp>
        <p:nvSpPr>
          <p:cNvPr id="6" name="txt"/>
          <p:cNvSpPr txBox="1"/>
          <p:nvPr/>
        </p:nvSpPr>
        <p:spPr>
          <a:xfrm>
            <a:off x="900000" y="2150000"/>
            <a:ext cx="10400000" cy="1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400" b="1" dirty="0">
                <a:solidFill>
                  <a:srgbClr val="FFFFFF"/>
                </a:solidFill>
                <a:latin typeface="Calibri"/>
                <a:cs typeface="Calibri"/>
              </a:rPr>
              <a:t>Rischio Meccanico e Movimentazione Manuale dei Carichi</a:t>
            </a:r>
          </a:p>
        </p:txBody>
      </p:sp>
      <p:sp>
        <p:nvSpPr>
          <p:cNvPr id="7" name="txt"/>
          <p:cNvSpPr txBox="1"/>
          <p:nvPr/>
        </p:nvSpPr>
        <p:spPr>
          <a:xfrm>
            <a:off x="900000" y="3500000"/>
            <a:ext cx="104000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0" dirty="0">
                <a:solidFill>
                  <a:srgbClr val="FFD200"/>
                </a:solidFill>
                <a:latin typeface="Calibri"/>
                <a:cs typeface="Calibri"/>
              </a:rPr>
              <a:t>Corso di formazione e informazione dei lavoratori</a:t>
            </a:r>
          </a:p>
        </p:txBody>
      </p:sp>
      <p:sp>
        <p:nvSpPr>
          <p:cNvPr id="8" name="ft"/>
          <p:cNvSpPr/>
          <p:nvPr/>
        </p:nvSpPr>
        <p:spPr>
          <a:xfrm>
            <a:off x="0" y="6338000"/>
            <a:ext cx="12192000" cy="52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ftacc"/>
          <p:cNvSpPr/>
          <p:nvPr/>
        </p:nvSpPr>
        <p:spPr>
          <a:xfrm>
            <a:off x="0" y="6338000"/>
            <a:ext cx="12192000" cy="5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txt"/>
          <p:cNvSpPr txBox="1"/>
          <p:nvPr/>
        </p:nvSpPr>
        <p:spPr>
          <a:xfrm>
            <a:off x="900000" y="6388000"/>
            <a:ext cx="10400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dirty="0">
                <a:solidFill>
                  <a:srgbClr val="FFFFFF"/>
                </a:solidFill>
                <a:latin typeface="Calibri"/>
                <a:cs typeface="Calibri"/>
              </a:rPr>
              <a:t>D.Lgs. 81/08 - Titolo III, Titolo VI - Direttiva Macchine 2006/42/CE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numblock"/>
          <p:cNvSpPr/>
          <p:nvPr/>
        </p:nvSpPr>
        <p:spPr>
          <a:xfrm>
            <a:off x="0" y="0"/>
            <a:ext cx="3600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vbar"/>
          <p:cNvSpPr/>
          <p:nvPr/>
        </p:nvSpPr>
        <p:spPr>
          <a:xfrm>
            <a:off x="3600000" y="0"/>
            <a:ext cx="90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txt"/>
          <p:cNvSpPr txBox="1"/>
          <p:nvPr/>
        </p:nvSpPr>
        <p:spPr>
          <a:xfrm>
            <a:off x="300000" y="1850000"/>
            <a:ext cx="31000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dirty="0">
                <a:solidFill>
                  <a:srgbClr val="FFD200"/>
                </a:solidFill>
                <a:latin typeface="Calibri"/>
                <a:cs typeface="Calibri"/>
              </a:rPr>
              <a:t>MODULO 1</a:t>
            </a:r>
          </a:p>
        </p:txBody>
      </p:sp>
      <p:sp>
        <p:nvSpPr>
          <p:cNvPr id="6" name="txt"/>
          <p:cNvSpPr txBox="1"/>
          <p:nvPr/>
        </p:nvSpPr>
        <p:spPr>
          <a:xfrm>
            <a:off x="300000" y="2350000"/>
            <a:ext cx="3100000" cy="1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0" b="1" dirty="0">
                <a:solidFill>
                  <a:srgbClr val="FFD200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050000" y="1900000"/>
            <a:ext cx="7700000" cy="1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 b="1" dirty="0">
                <a:solidFill>
                  <a:srgbClr val="FFFFFF"/>
                </a:solidFill>
                <a:latin typeface="Calibri"/>
                <a:cs typeface="Calibri"/>
              </a:rPr>
              <a:t>Rischio Meccanico</a:t>
            </a:r>
          </a:p>
        </p:txBody>
      </p:sp>
      <p:sp>
        <p:nvSpPr>
          <p:cNvPr id="8" name="acc"/>
          <p:cNvSpPr/>
          <p:nvPr/>
        </p:nvSpPr>
        <p:spPr>
          <a:xfrm>
            <a:off x="4080000" y="3450000"/>
            <a:ext cx="1500000" cy="5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4050000" y="3650000"/>
            <a:ext cx="7700000" cy="2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F2F2F2"/>
                </a:solidFill>
                <a:latin typeface="Calibri"/>
                <a:cs typeface="Calibri"/>
              </a:rPr>
              <a:t>Pericoli meccanici e zone pericolose</a:t>
            </a:r>
          </a:p>
          <a:p>
            <a:pPr marL="285750" indent="-285750" lv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F2F2F2"/>
                </a:solidFill>
                <a:latin typeface="Calibri"/>
                <a:cs typeface="Calibri"/>
              </a:rPr>
              <a:t>Ripari, dispositivi e interblocchi</a:t>
            </a:r>
          </a:p>
          <a:p>
            <a:pPr marL="285750" indent="-285750" lv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F2F2F2"/>
                </a:solidFill>
                <a:latin typeface="Calibri"/>
                <a:cs typeface="Calibri"/>
              </a:rPr>
              <a:t>Manutenzione in sicurezza e LOTO</a:t>
            </a:r>
          </a:p>
          <a:p>
            <a:pPr marL="285750" indent="-285750" lv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F2F2F2"/>
                </a:solidFill>
                <a:latin typeface="Calibri"/>
                <a:cs typeface="Calibri"/>
              </a:rPr>
              <a:t>DPI per il rischio meccanico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10392000" y="6298000"/>
            <a:ext cx="1500000" cy="4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dirty="0">
                <a:solidFill>
                  <a:srgbClr val="8C8C8C"/>
                </a:solidFill>
                <a:latin typeface="Calibri"/>
                <a:cs typeface="Calibri"/>
              </a:rPr>
              <a:t>2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Obiettivi del modulo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Riconoscere i pericoli di origine meccanica nei luoghi di lavoro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Comprendere le misure di prevenzione e protezione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Conoscere ripari, dispositivi e interblocchi di sicurezza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Applicare procedure sicure in uso e manutenzione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Individuare i DPI adeguati al rischio meccanico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Infografica di apertura con icone di ingranaggi, riparo e DPI su fascia gialla/antracite, stile industriale.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3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Quadro normativo di riferimento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Testo Unico Sicurezza: D.Lgs. 9 aprile 2008, n. 81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Titolo III - Uso delle attrezzature di lavoro e DPI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Direttiva Macchine 2006/42/CE (recepita con D.Lgs. 17/2010)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Norme tecniche armonizzate (serie UNI EN ISO 12100)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Obblighi di datore di lavoro, dirigenti, preposti e lavoratori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Schema a piramide normativa: Direttive UE in alto, D.Lgs. 81/08 al centro, norme tecniche alla base.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4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Cos'e' il rischio meccanico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Insieme dei pericoli generati da elementi di macchine e attrezzature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Deriva da parti in movimento, superfici, spigoli, energia accumulata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Puo' causare lesioni traumatiche immediate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E' presente in produzione, manutenzione, pulizia e regolazione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Foto tecnica di organi meccanici in movimento con sovrapposti i punti di pericolo evidenziati in giallo.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5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Pericolo, rischio e danno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Art. 2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Pericolo: proprieta' intrinseca con potenziale di causare danno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Rischio: probabilita' x gravita' del danno (R = P x D)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Danno: lesione fisica o alterazione della salute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Esposizione: condizione che mette in contatto uomo e pericolo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Diagramma R = P x D con matrice di rischio a colori (verde/giallo/rosso) in chiave industriale.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6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Le macchine: definizione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Dir. 2006/42/CE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Insieme equipaggiato di un sistema di azionamento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Parti collegate per un'applicazione ben determinata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Comprende quasi-macchine e attrezzature intercambiabili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Deve rispettare i Requisiti Essenziali di Sicurezza (RES)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Disegno tecnico esploso di una macchina utensile con etichette dei principali gruppi funzionali.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7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Marcatura CE e documentazione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Dir. 2006/42/CE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Marcatura CE: conformita' ai requisiti essenziali di sicurezza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Dichiarazione CE di conformita' obbligatoria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Fascicolo tecnico e manuale d'uso in lingua italiana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Targa con dati identificativi del fabbricante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Primo piano di una targa macchina con marcatura CE e dettaglio del manuale d'uso e manutenzione.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8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Obblighi del datore di lavoro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Art. 71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Mettere a disposizione attrezzature conformi e idonee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Garantire installazione, uso e manutenzione corretti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Sottoporre le attrezzature a controlli periodici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Assicurare informazione, formazione e addestramento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Conservare il registro dei controlli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Checklist illustrata con icone di verifica su sfondo antracite e segni di spunta gialli.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9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Requisiti delle attrezzature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Art. 70 / All. V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Conformita' alle direttive di prodotto applicabili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Per attrezzature antecedenti: requisiti dell'Allegato V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Organi di comando sicuri, visibili e identificabili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Dispositivi di arresto generale e di emergenza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Protezione contro contatti con elementi mobili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Tabella comparativa requisiti Allegato V vs Direttiva Macchine, con evidenziazione gialla.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10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Obblighi dei lavoratori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Art. 20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Usare correttamente attrezzature e dispositivi di sicurezza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Non rimuovere o modificare i dispositivi di protezione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Segnalare guasti e situazioni di pericolo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Utilizzare i DPI messi a disposizione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Partecipare a formazione e addestramento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Illustrazione di operatore che segnala un'anomalia e indossa correttamente i DPI.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11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Pericoli meccanici: panoramica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Schiacciamento, cesoiamento, taglio e sezionamento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Impigliamento, trascinamento, intrappolamento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Urto, perforazione, puntura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Attrito e abrasione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Eiezione di fluidi e proiezione di materiali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Tavola sinottica con le 10 icone dei pericoli meccanici fondamentali in stile pittogramma.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12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Pericolo di schiacciamento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Parte del corpo compressa tra due elementi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Uno mobile verso uno fisso o due elementi mobili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Tipico di presse, stampi, organi di chiusura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distanze di sicurezza e ripari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Disegno tecnico di una pressa con freccia che mostra la zona di schiacciamento evidenziata in rosso.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13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Pericolo di cesoiamento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Taglio tra due elementi che scorrono uno sull'altro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Azione tipo forbice tra parte mobile e fissa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Frequente in cesoie, presse piegatrici, nastri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ripari e dispositivi sensibili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Illustrazione di lama cesoia con vettori di movimento e indicazione della zona pericolosa.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14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Taglio e sezionamento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Contatto con elementi affilati o utensili rotanti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Lame, dischi, frese, seghe circolari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Lesioni anche con macchina in arresto (spigoli)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cuffie di protezione e coltelli divisori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Sega circolare con cuffia di protezione e coltello divisore evidenziati, vista laterale tecnica.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15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Impigliamento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Cattura di indumenti, capelli o monili da parti mobili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Tipico di alberi rotanti, mandrini, viti senza fine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Aggravato da abiti larghi e parti sporgenti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ripari, abiti aderenti, no monili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Disegno di un albero rotante con simbolo di divieto di indumenti larghi e capelli sciolti.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16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Trascinamento e intrappolamento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Cattura del corpo in punti di convergenza (nip points)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Tra rulli, ingranaggi, cinghie e pulegge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Evoluzione rapida e difficilmente reversibile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ripari fissi e arresti di emergenza accessibili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Schema di due rulli controrotanti con il punto di presa (nip point) cerchiato in giallo.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17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Urto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Colpo da elementi in movimento rapido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Bracci robotizzati, parti oscillanti, masse sospese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Rischio in zone di accesso e percorsi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barriere, distanze, segnalazioni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Illustrazione di un braccio robotico con area di lavoro delimitata e zona di urto in evidenza.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18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Perforazione e puntura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Penetrazione da elementi appuntiti o aghi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Punte, trapani, aghi di macchine tessili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Anche da getti ad alta pressione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ripari e protezione delle punte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Dettaglio tecnico di una punta da trapano con cono di protezione e indicazione della zona di rischio.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19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Attrito e abrasione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Contatto con superfici ruvide in movimento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Mole, nastri abrasivi, cinghie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Lesioni cutanee e ustioni da frizione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ripari e poggia-pezzo regolabili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Mola da banco con poggiapezzo e schermo paraschegge, vista frontale con quote di sicurezza.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20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Eiezione di fluidi ad alta pressione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Getti di fluido in pressione che penetrano nei tessuti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Sistemi oleodinamici e pneumatici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Lesioni gravi anche da fori microscopici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manutenzione tubi, schermi, depressurizzazione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Sezione di un circuito oleodinamico con punto di perdita e getto ad alta pressione evidenziato.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21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Proiezione di elementi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Espulsione di pezzi, trucioli o frammenti di utensile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Rottura di mole, utensili o parti del pezzo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Traiettorie imprevedibili ad alta energia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schermi paraschegge e protezione occhi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Tornio con schermo trasparente paraschegge e traiettorie di trucioli rappresentate con frecce.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22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Organi di trasmissione del moto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All. V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Cinghie, pulegge, catene, ingranaggi, alberi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Elementi non destinati al contatto con l'operatore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Devono essere completamente segregati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ripari fissi totali sull'intera trasmissione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Disegno tecnico di un gruppo cinghia-puleggia con carter di protezione integrale.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23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Punti di presa (nip points)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Zone di convergenza tra elementi in movimento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Rulli, ingranaggi, cinghia-puleggia, nastro-tamburo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Sufficiente l'aggancio di un lembo per il trascinamento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ripari e dispositivi di prossimita'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Mappa di una macchina con tutti i nip points contrassegnati da cerchi gialli numerati.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24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Elementi mobili di lavoro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All. V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Parti che agiscono direttamente sul pezzo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Utensili, lame, punzoni, matrici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Accesso necessario per la lavorazione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ripari regolabili e dispositivi di protezione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Illustrazione di una fresatrice con utensile in lavorazione e riparo regolabile in posizione.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25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Zone pericolose e accesso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Zona pericolosa: spazio dentro/attorno alla macchina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Persona esposta: chiunque si trovi nella zona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Accesso volontario o involontario al pericolo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limitare l'accesso e mantenere distanze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Pianta di una postazione con perimetro della zona pericolosa tratteggiato e distanze quotate.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26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Movimenti rotatori pericolosi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Mandrini, alberi, dischi, ventole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Rischio di impigliamento e trascinamento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Sporgenze (viti, chiavette) aumentano il pericolo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superfici lisce e ripari avvolgenti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Vista 3D di un mandrino rotante con frecce di rotazione e segnalazione delle sporgenze.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27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Movimenti lineari e alternati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Slitte, tavole, stantuffi, magli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Rischio di schiacciamento e cesoiamento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Inversioni di moto rapide e ripetute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ripari mobili interbloccati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Schema di una slitta con corsa indicata e zone di fine corsa pericolose evidenziate.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28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Stabilita' delle macchine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All. V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Rischio di ribaltamento o spostamento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Ancoraggio al suolo quando necessario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Baricentro e distribuzione dei carichi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fissaggio, livellamento, limiti di carico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Disegno di una macchina ancorata al pavimento con frecce del baricentro e punti di fissaggio.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29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Rotture durante il funzionamento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Cedimento di utensili, mole, elementi sotto sforzo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Fatica dei materiali e sovraccarichi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Proiezione di frammenti ad alta energia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Prevenzione: limiti d'uso, controlli, schermature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Sequenza illustrata della rottura di una mola con contenimento da parte del carter.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30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Gerarchia delle misure (STOP)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Art. 15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Eliminazione/sostituzione del pericolo alla fonte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Misure tecniche: ripari e dispositivi di protezione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Misure organizzative: procedure e formazione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DPI come ultima barriera di protezione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Piramide STOP a quattro livelli con colori dal verde (eliminazione) al giallo (DPI).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31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Sicurezza nella progettazione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 intrinseca: ridurre il pericolo alla fonte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Riduzione delle parti mobili accessibili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Forme arrotondate, superfici lisce, limiti di energia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Priorita' rispetto a ripari e DPI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Confronto tra una macchina mal progettata e una progettata in sicurezza (split screen tecnico).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32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Ripari: definizione e funzioni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14120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Elemento che fornisce protezione mediante barriera fisica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Impedisce l'accesso alla zona pericolosa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Trattiene proiezioni di materiali e fluidi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Tipologie: fissi, mobili, regolabili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Esploso tecnico delle tipologie di riparo con etichette: fisso, mobile, interbloccato, regolabile.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33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Ripari fissi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14120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Mantenuti in posizione in modo permanente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Fissati con sistemi che richiedono utensili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Per zone con accesso non necessario in esercizio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Robusti, non facilmente rimovibili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Carter fisso bullonato su un gruppo di trasmissione, con dettaglio dei fissaggi a vite.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34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Ripari mobili interbloccati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14119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Apribili senza utensili per accessi frequenti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Collegati a un dispositivo di interblocco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L'apertura arresta le funzioni pericolose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La macchina non riparte alla sola chiusura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Sportello interbloccato con sensore e schema del circuito di sicurezza che ferma la macchina.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35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Ripari con bloccaggio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14119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Riparo interbloccato con dispositivo di bloccaggio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Resta chiuso e bloccato finche' persiste il rischio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Apertura solo a fermo macchina/arresto inerzia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Per movimenti con lunghi tempi di arresto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Sezione di un elettroserratura di sicurezza con stato bloccato/sbloccato evidenziato.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36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Ripari regolabili e autoregolabili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14120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Adattano l'apertura alle dimensioni del pezzo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Regolabili manualmente o automaticamente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Riducono l'accesso alla zona dell'utensile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Tipici di seghe, frese, trapani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Sega a nastro con riparo regolabile che segue lo spessore del pezzo in lavorazione.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37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Dispositivi di protezione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Non costituiscono una barriera materiale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Rilevano la presenza o limitano l'accesso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Barriere immateriali, comandi a due mani, tappeti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Arrestano il pericolo prima del contatto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Pannello con i diversi dispositivi non materiali rappresentati da pittogrammi tecnici.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38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Barriere immateriali (ESPE)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61496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Fasci di luce che rilevano l'ingresso nella zona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Fotocellule, barriere fotoelettriche, scanner laser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L'interruzione del fascio arresta la macchina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Risoluzione e distanza calcolate sul rischio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Pressa protetta da barriera fotoelettrica con fasci luminosi rappresentati in giallo.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39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Tappeti e bordi sensibili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13856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Rilevano la presenza o il contatto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Tappeti sensibili a pressione al suolo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Bordi e barre sensibili su elementi mobili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Comandano l'arresto della funzione pericolosa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Area di lavoro con tappeto sensibile a pavimento delimitato e zona di rilevamento evidenziata.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40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Comandi a due mani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13851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Richiedono l'uso simultaneo di entrambe le mani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Mantengono le mani fuori dalla zona pericolosa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Azionamento contemporaneo entro 0,5 secondi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Proteggono solo l'operatore che li aziona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Postazione con due pulsanti distanziati e mani dell'operatore impegnate, vista dall'alto.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41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Arresto di emergenza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13850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Funzione che arresta rapidamente la macchina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Comandi a fungo rosso su fondo giallo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Accessibili e ben visibili da ogni postazione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Riattivazione solo con azione volontaria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Primo piano del pulsante a fungo rosso su targhetta gialla con simbolo di emergenza.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42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Sistemi di interblocco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14119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Collegano lo stato del riparo alle funzioni pericolose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Apertura del riparo = arresto della macchina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Sensori meccanici, magnetici, codificati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Resistenti all'elusione (tamper)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Schema funzionale di un interblocco: sensore, logica di sicurezza, attuatore di arresto.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43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Affidabilita' dei sistemi (PL/SIL)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EN ISO 13849-1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Le funzioni di sicurezza hanno un'affidabilita' misurabile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Performance Level (PL) da a a 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Safety Integrity Level (SIL) per sistemi elettronici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Maggiore il rischio, maggiore il PL richiesto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Tabella PL/SIL con scala di affidabilita' crescente e matrice di selezione del rischio.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44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Dispositivi di comando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All. V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Chiaramente visibili e identificabili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Protetti da azionamenti accidentali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Posizionati fuori dalle zone pericolose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Avviamento solo con azione volontaria su comando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Pannello comandi con pulsanti codificati per colore e protezioni anti-azionamento accidentale.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45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Riavvio inatteso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14118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Rischio di ripartenza non voluta durante l'intervento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Cause: ripristino energia, reset automatico, guasti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Prevenzione del riavvio automatico dopo arresto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Necessario consenso volontario per la ripartenza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Sequenza che mostra un riavvio inatteso evitato dal blocco del consenso di ripartenza.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46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Separazione dalle energie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14118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Sezionamento di tutte le fonti di energia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Elettrica, pneumatica, idraulica, meccanica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Dissipazione delle energie residue e accumulate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Base per interventi sicuri di manutenzione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Pannello con sezionatore elettrico, valvola pneumatica e scarico energie residue etichettati.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47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Procedura di Lockout/Tagout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14118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Lockout: blocco fisico del sezionatore con lucchetto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Tagout: cartello di segnalazione del divieto di manovra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Ogni operatore applica il proprio lucchetto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Verifica dell'energia zero prima di operare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Sezionatore con lucchetti multipli LOTO e cartellino di avviso, dettaglio fotografico tecnico.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48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Manutenzione in sicurezza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Art. 71 c.4 / All. VI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Interventi a macchina ferma quando possibile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Applicazione delle procedure LOTO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Personale formato e autorizzato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Permesso di lavoro per interventi critici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Tecnico che applica il lucchetto prima dell'intervento, con cartello permesso di lavoro.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49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Accesso ai punti di intervento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All. V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Punti di manutenzione accessibili in sicurezza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Passerelle, scale e ripari a norma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Evitare interventi in posizioni pericolose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Illuminazione adeguata dell'area di lavoro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Disegno di una macchina con passerella e punti di lubrificazione accessibili dall'esterno.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50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Pulizia e regolazione sicure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All. V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Operazioni frequenti ad alto rischio di contatto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Vietato pulire con organi in movimento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Usare utensili idonei, mai le mani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Modalita' protette per registrazioni e set-up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Operatore che pulisce una macchina ferma con utensile dedicato, simbolo di divieto mani.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51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Modalita' di funzionamento speciali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12100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Modi diversi dal normale esercizio (set-up, diagnosi)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Selettore di modo con chiave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Velocita' ridotta e comando ad azione mantenuta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Sospensione controllata di alcune protezioni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Selettore di modo a chiave con posizioni AUTO/SET-UP e indicazione della velocita' ridotta.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52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Segnaletica sulle macchine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Titolo V / All. XXIV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Segnali di avvertimento dei pericoli residui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Pittogrammi su organi mobili e zone calde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Istruzioni e limiti d'uso visibili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Manutenzione e leggibilita' nel tempo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Set di pittogrammi di pericolo (organi mobili, schiacciamento, alta tensione) su fondo giallo.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53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Informazione e addestramento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Art. 73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Informazioni su condizioni d'uso e situazioni anomale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Formazione specifica sull'uso delle attrezzature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Addestramento per attrezzature che lo richiedono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Abilitazione per attrezzature dell'Accordo Stato-Regioni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Aula di addestramento pratico su macchina con istruttore e operatore, taglio fotografico tecnico.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54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DPI per il rischio meccanico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Titolo III Capo II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Ultima barriera quando il rischio non e' eliminabile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Scelti in base alla valutazione dei rischi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Marcati CE e adeguati alla mansione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Obbligo di uso, cura e manutenzione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Manichino con set completo di DPI antinfortunistici evidenziati uno a uno con didascalie.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55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Protezione di mani e braccia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388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Guanti contro tagli, abrasioni, perforazioni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Marcatura EN 388 con livelli di prestazione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Attenzione: vietati con organi rotanti (impigliamento)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Scelta in base al tipo di lavorazione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Guanto antitaglio con pittogramma EN 388 e spiegazione dei quattro indici prestazionali.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56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Protezione di occhi e viso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166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Occhiali e visiere contro proiezioni di frammenti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Schermi facciali per molatura e tornitura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Resistenza all'impatto secondo EN 166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Compatibilita' con altri DPI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Operatore con visiera durante molatura, con frammenti deviati rappresentati da frecce.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57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Protezione di corpo e piedi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UNI EN ISO 20345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Indumenti aderenti per evitare impigliamenti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Calzature con puntale antischiacciamento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Suola antiperforazione dove necessario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Grembiuli e gambali per lavorazioni specifiche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Calzatura di sicurezza in sezione con puntale e lamina antiperforazione evidenziati.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58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Comportamenti sicuri: limiti dei DPI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Art. 20 / Art. 78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 DPI non eliminano il pericolo, lo mitigano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Non sostituiscono ripari e dispositivi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Efficaci solo se indossati correttamente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Controllo, manutenzione e sostituzione regolari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Confronto: stesso operatore con DPI corretti vs uso scorretto, evidenziando gli errori.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59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Sintesi e checklist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Identificare pericoli e zone pericolose della macchina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Verificare ripari, interblocchi e arresti di emergenza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Applicare LOTO in manutenzione e pulizia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Usare i DPI idonei e segnalare le anomalie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Non manomettere mai i dispositivi di sicurezza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Checklist finale a spunte gialle su fondo antracite, stile riepilogo operativo del modulo.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1 - Rischio Meccanico  |  Formazione lavoratori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60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numblock"/>
          <p:cNvSpPr/>
          <p:nvPr/>
        </p:nvSpPr>
        <p:spPr>
          <a:xfrm>
            <a:off x="0" y="0"/>
            <a:ext cx="3600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vbar"/>
          <p:cNvSpPr/>
          <p:nvPr/>
        </p:nvSpPr>
        <p:spPr>
          <a:xfrm>
            <a:off x="3600000" y="0"/>
            <a:ext cx="90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txt"/>
          <p:cNvSpPr txBox="1"/>
          <p:nvPr/>
        </p:nvSpPr>
        <p:spPr>
          <a:xfrm>
            <a:off x="300000" y="1850000"/>
            <a:ext cx="31000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dirty="0">
                <a:solidFill>
                  <a:srgbClr val="FFD200"/>
                </a:solidFill>
                <a:latin typeface="Calibri"/>
                <a:cs typeface="Calibri"/>
              </a:rPr>
              <a:t>MODULO 2</a:t>
            </a:r>
          </a:p>
        </p:txBody>
      </p:sp>
      <p:sp>
        <p:nvSpPr>
          <p:cNvPr id="6" name="txt"/>
          <p:cNvSpPr txBox="1"/>
          <p:nvPr/>
        </p:nvSpPr>
        <p:spPr>
          <a:xfrm>
            <a:off x="300000" y="2350000"/>
            <a:ext cx="3100000" cy="1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0" b="1" dirty="0">
                <a:solidFill>
                  <a:srgbClr val="FFD20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050000" y="1900000"/>
            <a:ext cx="7700000" cy="1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 b="1" dirty="0">
                <a:solidFill>
                  <a:srgbClr val="FFFFFF"/>
                </a:solidFill>
                <a:latin typeface="Calibri"/>
                <a:cs typeface="Calibri"/>
              </a:rPr>
              <a:t>Movimentazione Manuale dei Carichi</a:t>
            </a:r>
          </a:p>
        </p:txBody>
      </p:sp>
      <p:sp>
        <p:nvSpPr>
          <p:cNvPr id="8" name="acc"/>
          <p:cNvSpPr/>
          <p:nvPr/>
        </p:nvSpPr>
        <p:spPr>
          <a:xfrm>
            <a:off x="4080000" y="3450000"/>
            <a:ext cx="1500000" cy="5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4050000" y="3650000"/>
            <a:ext cx="7700000" cy="2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F2F2F2"/>
                </a:solidFill>
                <a:latin typeface="Calibri"/>
                <a:cs typeface="Calibri"/>
              </a:rPr>
              <a:t>Anatomia del rachide e patologie</a:t>
            </a:r>
          </a:p>
          <a:p>
            <a:pPr marL="285750" indent="-285750" lv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F2F2F2"/>
                </a:solidFill>
                <a:latin typeface="Calibri"/>
                <a:cs typeface="Calibri"/>
              </a:rPr>
              <a:t>Metodo NIOSH e indice di sollevamento</a:t>
            </a:r>
          </a:p>
          <a:p>
            <a:pPr marL="285750" indent="-285750" lv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F2F2F2"/>
                </a:solidFill>
                <a:latin typeface="Calibri"/>
                <a:cs typeface="Calibri"/>
              </a:rPr>
              <a:t>Limiti di peso per sesso ed eta'</a:t>
            </a:r>
          </a:p>
          <a:p>
            <a:pPr marL="285750" indent="-285750" lv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F2F2F2"/>
                </a:solidFill>
                <a:latin typeface="Calibri"/>
                <a:cs typeface="Calibri"/>
              </a:rPr>
              <a:t>Tecniche corrette e ausili meccanici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10392000" y="6298000"/>
            <a:ext cx="1500000" cy="4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dirty="0">
                <a:solidFill>
                  <a:srgbClr val="8C8C8C"/>
                </a:solidFill>
                <a:latin typeface="Calibri"/>
                <a:cs typeface="Calibri"/>
              </a:rPr>
              <a:t>61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Obiettivi del modulo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Titolo VI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Comprendere cosa si intende per MMC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Conoscere l'anatomia del rachide e le patologie correlate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Applicare il metodo NIOSH di valutazione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Rispettare i limiti di peso per sesso ed eta'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Adottare tecniche corrette di sollevamento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Apertura modulo con silhouette di lavoratore che solleva un carico e icona della colonna vertebrale.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62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Cos'e' la MMC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Art. 167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Operazioni di trasporto o sostegno di un carico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Comprende sollevare, deporre, spingere, tirare, portare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Eseguite da uno o piu' lavoratori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Con rischio dorso-lombare per condizioni sfavorevoli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Quattro icone delle azioni MMC: sollevare, trasportare, spingere, tirare, in stile pittogramma.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63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Quadro normativo MMC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Art. 167-169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Titolo VI del D.Lgs. 81/08 dedicato alla MMC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Art. 167: campo di applicazione e definizioni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Art. 168: obblighi del datore di lavoro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Art. 169: informazione, formazione e addestramento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Schema degli articoli 167-169 con i rispettivi contenuti su fascia gialla/antracite.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64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Allegato XXXIII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All. XXXIII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Elenca gli elementi di riferimento e i fattori di rischio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Caratteristiche del carico e sforzo fisico richiesto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Caratteristiche dell'ambiente di lavoro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Rimando alle norme tecniche ISO 11228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Riproduzione stilizzata dell'Allegato XXXIII con le quattro categorie di fattori evidenziate.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65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Attivita' comprese nella MMC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Art. 167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Sollevamento e deposizione di carichi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Trasporto manuale a breve e media distanza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Spinta e traino di carrelli e oggetti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Movimenti ripetitivi di carichi leggeri (rimando ISO)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Collage di scenari lavorativi di MMC in magazzino, officina e logistica, stile illustrativo.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66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Anatomia della colonna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Riferimento ISO 11228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33-34 vertebre in cinque regioni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Cervicale, dorsale, lombare, sacro, coccige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La regione lombare sostiene i carichi maggiori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Unita' funzionale: due vertebre e il disco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Tavola anatomica della colonna vertebrale con le cinque regioni etichettate e colorate.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67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Le curve fisiologiche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Biomeccanica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Lordosi cervicale e lombare (concavita' posteriore)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Cifosi dorsale e sacrale (convessita' posteriore)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Le curve ammortizzano i carichi assiali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Mantenere le curve riduce la pressione discale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Profilo laterale della colonna con le curve fisiologiche e frecce di distribuzione del carico.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68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I dischi intervertebrali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Biomeccanica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Cuscinetti tra i corpi vertebrali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Nucleo polposo centrale e anello fibroso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Funzione di ammortizzazione e mobilita'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Si deteriorano con sovraccarico e disidratazione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Sezione di un disco intervertebrale con nucleo polposo e anello fibroso evidenziati.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69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Il segmento L5-S1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Biomeccanica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Cerniera tra colonna lombare e sacro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Sopporta le sollecitazioni maggiori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Punto critico nei sollevamenti scorretti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Sede frequente di ernie e lombalgie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Illustrazione biomeccanica del segmento L5-S1 con la compressione dei dischi sotto carico.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70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Muscoli e legamenti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Biomeccanica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Muscoli paravertebrali stabilizzano il rachide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Addominali e core contribuiscono al sostegno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Legamenti limitano i movimenti estremi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Affaticamento muscolare aumenta il rischio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Schema della muscolatura paravertebrale e del core con vettori di stabilizzazione.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71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Biomeccanica del sollevamento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Biomeccanica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Il rachide agisce come una leva sfavorevole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Carico lontano dal corpo = braccio di leva maggiore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Aumenta la forza sui muscoli e sui dischi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Avvicinare il carico riduce la sollecitazione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Diagramma a leva: carico, fulcro L5-S1 e forza muscolare con bracci di leva quotati.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72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Carico sui dischi e leva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Biomeccanica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 schiena flessa la pressione discale si moltiplica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Pochi kg lontani equivalgono a forti compressioni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Le torsioni aumentano lo stress sull'anello fibroso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La postura corretta riduce il carico effettivo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Confronto della pressione sul disco L5-S1 in posizione eretta, seduta e flessa con valori relativi.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73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Patologie da sovraccarico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All. XXXIII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Disturbi muscolo-scheletrici del rachide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Lombalgie, lombosciatalgie, ernie discali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Discopatie e alterazioni degenerative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Spesso a insorgenza progressiva e cronica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Mappa del corpo con evidenziazione delle aree dorso-lombari colpite dai disturbi MMC.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74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Lombalgia acuta e cronica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Sorveglianza sanitaria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Dolore localizzato nella regione lombare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Forma acuta: insorgenza improvvisa (colpo della strega)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Forma cronica: persistente o ricorrente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Tra le principali cause di assenza dal lavoro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Illustrazione di un lavoratore con dolore lombare e zona dolente evidenziata in rosso.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75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Ernia del disco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Biomeccanica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Fuoriuscita del nucleo polposo dall'anello fibroso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Compressione delle radici nervose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Dolore irradiato all'arto inferiore (sciatalgia)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Favorita da sollevamenti scorretti e ripetuti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Sezione che mostra un disco erniato con compressione della radice nervosa evidenziata.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76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Fattori di rischio individuali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All. XXXIII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Eta', sesso e caratteristiche fisiche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Inadeguatezza fisica al compito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Patologie pregresse del rachide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Abbigliamento e calzature inadeguati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Infografica dei fattori individuali con icone di eta', condizione fisica e abbigliamento.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77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Fattori legati al carico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All. XXXIII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Peso eccessivo o ingombrante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Difficile da afferrare o instabile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Contenuto che puo' spostarsi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Spigoli, bordi taglienti o temperatura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Carico con le caratteristiche di rischio annotate: peso, presa, instabilita', spigoli.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78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Fattori legati allo sforzo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All. XXXIII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Sforzo fisico eccessivo o brusco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Torsione o flessione del tronco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Carico distante dal corpo o in alto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Posizione instabile del corpo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Sequenza di posture scorrette (torsione, flessione, carico alto) con simbolo di divieto.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79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Fattori legati all'ambiente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All. XXXIII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Spazio libero insufficiente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Pavimento irregolare o scivoloso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Dislivelli, scale e gradini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Microclima e illuminazione inadeguati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Postazione di lavoro con criticita' ambientali evidenziate: pavimento, spazio, illuminazione.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80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Fattori organizzativi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All. XXXIII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Frequenza e durata delle movimentazioni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Ritmi imposti non modificabili dal lavoratore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Periodi di riposo o recupero insufficienti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Distanze di trasporto eccessive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Timeline di un turno con cicli di movimentazione e pause, evidenziando i recuperi.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81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Metodi di valutazione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ISO 11228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ISO 11228-1: sollevamento e trasporto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ISO 11228-2: spinta e traino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ISO 11228-3: movimentazione ad alta frequenza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NIOSH come riferimento per il sollevamento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Tabella dei metodi di valutazione con la serie ISO 11228 e ambito di applicazione.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82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Il metodo NIOSH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ISO 11228-1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Stima il peso limite raccomandato per un compito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Considera geometria, frequenza e qualita' della presa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Confronta il peso reale con quello raccomandato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Fornisce un indice di rischio sintetico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Schema a blocchi del metodo NIOSH: input geometrici, fattori e output (RWL e indice).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83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NIOSH: peso limite (RWL)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ISO 11228-1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RWL = peso massimo raccomandato in quelle condizioni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Parte da una costante di peso ideale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Ridotta da sei fattori moltiplicativi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Validi tutti i fattori tra 0 e 1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Formula RWL = LC x HM x VM x DM x AM x FM x CM rappresentata in modo grafico e chiaro.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84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NIOSH: la costante di peso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ISO 11228-1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Costante di carico (LC) in condizioni ideali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Valore di riferimento di 23 kg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Riferito a popolazione lavorativa sana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Punto di partenza del calcolo dell'RWL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Illustrazione del sollevamento in condizioni ideali con il valore di 23 kg evidenziato.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85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NIOSH: i fattori moltiplicativi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ISO 11228-1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HM distanza orizzontale; VM altezza di presa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DM dislocazione verticale; AM angolo di asimmetria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FM frequenza dei sollevamenti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CM qualita' della presa del carico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Pannello con i sei fattori NIOSH, ciascuno con un'icona e una breve descrizione.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86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NIOSH: indice di sollevamento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ISO 11228-1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LI = Peso effettivo / Peso limite (RWL)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Misura sintetica del livello di rischio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Calcolabile per singolo compito o composito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Guida le priorita' di intervento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Formula LI = Peso / RWL con un indicatore a semaforo del livello di rischio.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87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Interpretare l'indice (LI)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ISO 11228-1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LI &lt;= 1: rischio accettabile per la maggioranza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1 &lt; LI &lt;= 3: rischio presente, intervenire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LI &gt; 3: rischio elevato, azione prioritaria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Obiettivo: riportare LI il piu' vicino possibile a 1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Scala a colori dell'indice LI: verde (&lt;=1), giallo (1-3), rosso (&gt;3) con soglie indicate.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88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Massa di riferimento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All. XXXIII / ISO 11228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Valore di peso usato come riferimento di legge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Per la popolazione adulta sana: 25 kg (uomini)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Da intendersi in condizioni ottimali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Si riduce in presenza di fattori sfavorevoli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Confronto visivo tra masse di riferimento per fasce di popolazione, con valori in kg.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89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Limiti per sesso ed eta'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ISO 11228-1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Maschi adulti: riferimento circa 25 kg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Femmine adulte: riferimento circa 20 kg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Giovani e anziani: valori ridotti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Tutela rafforzata per minori e gestanti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Tabella dei limiti di peso per sesso e fascia d'eta' con barre proporzionali ai valori.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90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Spinta e traino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ISO 11228-2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Valutare la forza iniziale e di mantenimento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Preferire la spinta al traino quando possibile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Maniglie all'altezza corretta e buona aderenza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Manutenzione di ruote e pavimentazioni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Operatore che spinge un carrello con vettori di forza e altezza corretta delle maniglie.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91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Tecnica corretta di sollevamento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Buone pratiche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Piedi stabili e leggermente divaricati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Piegare le ginocchia, schiena in posizione neutra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Carico vicino al corpo, presa salda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Sollevare con le gambe, senza torsioni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Sequenza passo-passo del sollevamento corretto con ginocchia piegate e schiena dritta.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92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Errori comuni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Buone pratiche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Sollevare a schiena flessa e gambe tese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Ruotare il tronco con il carico in mano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Sollevare carichi troppo distanti dal corpo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Movimenti bruschi e senza preparazione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Confronto affiancato tra sollevamento errato e corretto, con gli errori barrati in rosso.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93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Trasporto e deposito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Buone pratiche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Mantenere il carico vicino e centrato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Percorsi liberi e ben illuminati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Deposito senza torsioni, accompagnando il carico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Altezze di presa e deposito ergonomiche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Sequenza di trasporto e deposito con percorso libero e altezze di lavoro ottimali.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94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Organizzazione del posto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Ergonomia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Posizionare i carichi tra le ginocchia e le spalle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Ridurre distanze, dislivelli e torsioni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Alternare i compiti e introdurre pause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Adeguare ritmi e frequenze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Postazione ergonomica con zona di presa ottimale evidenziata tra ginocchia e spalle.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95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Ausili meccanici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Art. 168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Carrelli, transpallet e sollevatori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Nastri, rulliere e tavoli regolabili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Manipolatori e bracci servoassistiti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Priorita': eliminare o ridurre la MMC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Galleria di ausili meccanici: transpallet, sollevatore, manipolatore, con didascalie tecniche.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96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Sorveglianza sanitaria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Art. 168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Prevista quando la valutazione evidenzia il rischio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Affidata al medico competente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Visite preventive e periodiche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Giudizio di idoneita' alla mansione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Ambulatorio del medico competente con cartella sanitaria e schema delle visite periodiche.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97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Informazione e formazione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Art. 169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Informazione sui rischi e sul peso dei carichi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Formazione sulle modalita' corrette di MMC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Addestramento pratico alle tecniche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Coinvolgimento di RLS e medico competente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Sessione di addestramento pratico alla MMC con istruttore e lavoratori, taglio fotografico.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98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80000"/>
            <a:ext cx="12192000" cy="52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50000" cy="10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90000"/>
            <a:ext cx="8900000" cy="9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Calibri"/>
                <a:cs typeface="Calibri"/>
              </a:rPr>
              <a:t>Sintesi e buone pratiche</a:t>
            </a:r>
          </a:p>
        </p:txBody>
      </p:sp>
      <p:sp>
        <p:nvSpPr>
          <p:cNvPr id="7" name="normtag"/>
          <p:cNvSpPr/>
          <p:nvPr/>
        </p:nvSpPr>
        <p:spPr>
          <a:xfrm>
            <a:off x="9300000" y="300000"/>
            <a:ext cx="2620000" cy="48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9320000" y="300000"/>
            <a:ext cx="2580000" cy="48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111111"/>
                </a:solidFill>
                <a:latin typeface="Calibri"/>
                <a:cs typeface="Calibri"/>
              </a:rPr>
              <a:t>Titolo VI D.Lgs. 81/08</a:t>
            </a:r>
          </a:p>
        </p:txBody>
      </p:sp>
      <p:sp>
        <p:nvSpPr>
          <p:cNvPr id="9" name="txt"/>
          <p:cNvSpPr txBox="1"/>
          <p:nvPr/>
        </p:nvSpPr>
        <p:spPr>
          <a:xfrm>
            <a:off x="470000" y="1400000"/>
            <a:ext cx="71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Valutare sempre il rischio prima di movimentare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Usare ausili e ridurre i pesi alla fonte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Applicare le tecniche corrette di sollevamento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Rispettare i limiti per sesso ed eta'</a:t>
            </a:r>
          </a:p>
          <a:p>
            <a:pPr marL="285750" indent="-285750" lv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700" b="0" dirty="0">
                <a:solidFill>
                  <a:srgbClr val="262626"/>
                </a:solidFill>
                <a:latin typeface="Calibri"/>
                <a:cs typeface="Calibri"/>
              </a:rPr>
              <a:t>Partecipare a sorveglianza sanitaria e formazione</a:t>
            </a:r>
          </a:p>
        </p:txBody>
      </p:sp>
      <p:sp>
        <p:nvSpPr>
          <p:cNvPr id="10" name="gbox"/>
          <p:cNvSpPr/>
          <p:nvPr/>
        </p:nvSpPr>
        <p:spPr>
          <a:xfrm>
            <a:off x="7820000" y="1400000"/>
            <a:ext cx="3950000" cy="4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ghdr"/>
          <p:cNvSpPr/>
          <p:nvPr/>
        </p:nvSpPr>
        <p:spPr>
          <a:xfrm>
            <a:off x="7820000" y="1400000"/>
            <a:ext cx="3950000" cy="43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gtab"/>
          <p:cNvSpPr/>
          <p:nvPr/>
        </p:nvSpPr>
        <p:spPr>
          <a:xfrm>
            <a:off x="7820000" y="1400000"/>
            <a:ext cx="130000" cy="43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20000" y="140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D200"/>
                </a:solidFill>
                <a:latin typeface="Calibri"/>
                <a:cs typeface="Calibri"/>
              </a:rPr>
              <a:t>SUGGERIMENTO GRAFICO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7990000" y="1960000"/>
            <a:ext cx="3610000" cy="40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1" dirty="0">
                <a:solidFill>
                  <a:srgbClr val="262626"/>
                </a:solidFill>
                <a:latin typeface="Calibri"/>
                <a:cs typeface="Calibri"/>
              </a:rPr>
              <a:t>Riepilogo finale a spunte gialle su fondo antracite con le regole d'oro della MMC.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388000"/>
            <a:ext cx="12192000" cy="47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388000"/>
            <a:ext cx="12192000" cy="44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388000"/>
            <a:ext cx="900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FFFFFF"/>
                </a:solidFill>
                <a:latin typeface="Calibri"/>
                <a:cs typeface="Calibri"/>
              </a:rPr>
              <a:t>Modulo 2 - Movimentazione Manuale dei Carichi  |  D.Lgs. 81/08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388000"/>
            <a:ext cx="178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D200"/>
                </a:solidFill>
                <a:latin typeface="Calibri"/>
                <a:cs typeface="Calibri"/>
              </a:rPr>
              <a:t>99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acc"/>
          <p:cNvSpPr/>
          <p:nvPr/>
        </p:nvSpPr>
        <p:spPr>
          <a:xfrm>
            <a:off x="0" y="1350000"/>
            <a:ext cx="12192000" cy="90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txt"/>
          <p:cNvSpPr txBox="1"/>
          <p:nvPr/>
        </p:nvSpPr>
        <p:spPr>
          <a:xfrm>
            <a:off x="900000" y="600000"/>
            <a:ext cx="10400000" cy="8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 b="1" dirty="0">
                <a:solidFill>
                  <a:srgbClr val="FFD200"/>
                </a:solidFill>
                <a:latin typeface="Calibri"/>
                <a:cs typeface="Calibri"/>
              </a:rPr>
              <a:t>Messaggi chiave</a:t>
            </a:r>
          </a:p>
        </p:txBody>
      </p:sp>
      <p:sp>
        <p:nvSpPr>
          <p:cNvPr id="5" name="txt"/>
          <p:cNvSpPr txBox="1"/>
          <p:nvPr/>
        </p:nvSpPr>
        <p:spPr>
          <a:xfrm>
            <a:off x="900000" y="1700000"/>
            <a:ext cx="10400000" cy="38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800" b="0" dirty="0">
                <a:solidFill>
                  <a:srgbClr val="FFFFFF"/>
                </a:solidFill>
                <a:latin typeface="Calibri"/>
                <a:cs typeface="Calibri"/>
              </a:rPr>
              <a:t>La sicurezza inizia dalla conoscenza dei pericoli</a:t>
            </a:r>
          </a:p>
          <a:p>
            <a:pPr marL="285750" indent="-285750" lv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800" b="0" dirty="0">
                <a:solidFill>
                  <a:srgbClr val="FFFFFF"/>
                </a:solidFill>
                <a:latin typeface="Calibri"/>
                <a:cs typeface="Calibri"/>
              </a:rPr>
              <a:t>Ripari e dispositivi non vanno mai manomessi</a:t>
            </a:r>
          </a:p>
          <a:p>
            <a:pPr marL="285750" indent="-285750" lv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800" b="0" dirty="0">
                <a:solidFill>
                  <a:srgbClr val="FFFFFF"/>
                </a:solidFill>
                <a:latin typeface="Calibri"/>
                <a:cs typeface="Calibri"/>
              </a:rPr>
              <a:t>In manutenzione: sempre procedura LOTO</a:t>
            </a:r>
          </a:p>
          <a:p>
            <a:pPr marL="285750" indent="-285750" lv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800" b="0" dirty="0">
                <a:solidFill>
                  <a:srgbClr val="FFFFFF"/>
                </a:solidFill>
                <a:latin typeface="Calibri"/>
                <a:cs typeface="Calibri"/>
              </a:rPr>
              <a:t>Movimentare i carichi con tecnica corretta e ausili</a:t>
            </a:r>
          </a:p>
          <a:p>
            <a:pPr marL="285750" indent="-285750" lv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FD200"/>
              </a:buClr>
              <a:buFont typeface="Arial"/>
              <a:buChar char="■"/>
            </a:pPr>
            <a:r>
              <a:rPr lang="it-IT" sz="1800" b="0" dirty="0">
                <a:solidFill>
                  <a:srgbClr val="FFFFFF"/>
                </a:solidFill>
                <a:latin typeface="Calibri"/>
                <a:cs typeface="Calibri"/>
              </a:rPr>
              <a:t>Segnalare ogni anomalia: la prevenzione e' di tutti</a:t>
            </a:r>
          </a:p>
        </p:txBody>
      </p:sp>
      <p:sp>
        <p:nvSpPr>
          <p:cNvPr id="6" name="ft"/>
          <p:cNvSpPr/>
          <p:nvPr/>
        </p:nvSpPr>
        <p:spPr>
          <a:xfrm>
            <a:off x="0" y="6338000"/>
            <a:ext cx="12192000" cy="520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txt"/>
          <p:cNvSpPr txBox="1"/>
          <p:nvPr/>
        </p:nvSpPr>
        <p:spPr>
          <a:xfrm>
            <a:off x="900000" y="6338000"/>
            <a:ext cx="104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dirty="0">
                <a:solidFill>
                  <a:srgbClr val="FFFFFF"/>
                </a:solidFill>
                <a:latin typeface="Calibri"/>
                <a:cs typeface="Calibri"/>
              </a:rPr>
              <a:t>Grazie per l'attenzione - Formazione lavoratori D.Lgs. 81/08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afetyIndustrial">
  <a:themeElements>
    <a:clrScheme name="SafetyIndustrial">
      <a:dk1>
        <a:srgbClr val="111111"/>
      </a:dk1>
      <a:lt1>
        <a:srgbClr val="FFFFFF"/>
      </a:lt1>
      <a:dk2>
        <a:srgbClr val="2B2B2B"/>
      </a:dk2>
      <a:lt2>
        <a:srgbClr val="F2F2F2"/>
      </a:lt2>
      <a:accent1>
        <a:srgbClr val="FFD200"/>
      </a:accent1>
      <a:accent2>
        <a:srgbClr val="2B2B2B"/>
      </a:accent2>
      <a:accent3>
        <a:srgbClr val="8C8C8C"/>
      </a:accent3>
      <a:accent4>
        <a:srgbClr val="595959"/>
      </a:accent4>
      <a:accent5>
        <a:srgbClr val="D9D9D9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Kiro OOXML Generator</Application>
  <Slides>100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RISCHIO MECCANICO</dc:title>
  <dc:creator>Kiro</dc:creator>
  <cp:keywords>D.Lgs. 81/08; Rischio Meccanico; MMC; NIOSH</cp:keywords>
</cp:coreProperties>
</file>