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Calibri"/>
              </a:rPr>
              <a:t>MINISTERO DELLA DIFESA - MARINA MILITARE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Servizio di Prevenzione e Protezione - Arsenale Militare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PROGETTO DI VALUTAZIONE DEL RISCHIO</a:t>
            </a:r>
          </a:p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STRESS LAVORO-CORRELATO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Briefing informativo per il Datore di Lavoro (Ammiraglio Direttore)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C9A227"/>
                </a:solidFill>
                <a:latin typeface="Calibri"/>
              </a:rPr>
              <a:t>Linee Guida INAIL 2017 + Monografia INAIL 2024/2025</a:t>
            </a:r>
          </a:p>
          <a:p>
            <a:pPr algn="l"/>
            <a:r>
              <a:rPr sz="1800" b="1">
                <a:solidFill>
                  <a:srgbClr val="C9A227"/>
                </a:solidFill>
                <a:latin typeface="Calibri"/>
              </a:rPr>
              <a:t>Modulo Smart Working / Technostress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ECECEC"/>
                </a:solidFill>
                <a:latin typeface="Calibri"/>
              </a:rPr>
              <a:t>D.Lgs. 81/2008 art. 28 c.1-bis | Accordo Europeo 8/10/2004 | Circ. Min. Lavoro 18/11/2010 | INAIL ed. 2017 + 2024/2025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Perche' siamo qui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Obbligo normativo e opportunita' gestionale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2/28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0B2E55"/>
                </a:solidFill>
                <a:latin typeface="Calibri"/>
              </a:rPr>
              <a:t>IL QUADRO IN SINTESI PER IL DATORE DI LAVORO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1097280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OBBLIGO DI LEGGE:</a:t>
            </a:r>
            <a:r>
              <a:rPr sz="1400">
                <a:solidFill>
                  <a:srgbClr val="1A1A1A"/>
                </a:solidFill>
                <a:latin typeface="Calibri"/>
              </a:rPr>
              <a:t> L'art. 28 comma 1-bis del D.Lgs. 81/2008 impone la valutazione del rischio Stress Lavoro-Correlato (SLC) per TUTTI i lavoratori, incluso il personale civile e militare degli arsenali.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NON E' FACOLTATIVO:</a:t>
            </a:r>
            <a:r>
              <a:rPr sz="1400">
                <a:solidFill>
                  <a:srgbClr val="1A1A1A"/>
                </a:solidFill>
                <a:latin typeface="Calibri"/>
              </a:rPr>
              <a:t> La mancata valutazione e' sanzionata penalmente a carico del Datore di Lavoro (arresto da 3 a 6 mesi o ammenda da 3.071 a 7.862 EUR - art. 55 c.1 lett. a) D.Lgs. 81/08).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PRIMA VALUTAZIONE:</a:t>
            </a:r>
            <a:r>
              <a:rPr sz="1400">
                <a:solidFill>
                  <a:srgbClr val="1A1A1A"/>
                </a:solidFill>
                <a:latin typeface="Calibri"/>
              </a:rPr>
              <a:t> Questo Arsenale non ha ancora effettuato una valutazione SLC formale. E' necessario avviare il processo con urgenza, documentandolo adeguatamente nel DVR.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NOVITA' 2024/2025:</a:t>
            </a:r>
            <a:r>
              <a:rPr sz="1400">
                <a:solidFill>
                  <a:srgbClr val="1A1A1A"/>
                </a:solidFill>
                <a:latin typeface="Calibri"/>
              </a:rPr>
              <a:t> INAIL ha pubblicato una Monografia (aprile 2024/2025) che integra il modulo SMART WORKING e TECHNOSTRESS - obbligatorio per il personale in lavoro agile.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STRUMENTI GIA' PRONTI:</a:t>
            </a:r>
            <a:r>
              <a:rPr sz="1400">
                <a:solidFill>
                  <a:srgbClr val="1A1A1A"/>
                </a:solidFill>
                <a:latin typeface="Calibri"/>
              </a:rPr>
              <a:t> Il SPP ha predisposto un kit operativo completo (Questionario Word + Foglio Excel automatizzato + Flowchart di processo) pronto per l'avvio immediato.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• COSA SERVE DA LEI:</a:t>
            </a:r>
            <a:r>
              <a:rPr sz="1400">
                <a:solidFill>
                  <a:srgbClr val="1A1A1A"/>
                </a:solidFill>
                <a:latin typeface="Calibri"/>
              </a:rPr>
              <a:t> 1) Approvazione formale dell'avvio del progetto; 2) Nomina del Gruppo di Gestione (GGV); 3) Firma della comunicazione ai lavoratori.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Cos'e' lo Stress Lavoro-Correlato (SLC)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Definizione ufficiale - semplificata per il decisore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3/28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14630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DEFINIZIONE (Accordo Europeo 8/10/2004):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Condizione in cui il lavoratore non si sente in grado di corrispondere alle richieste o aspettative lavorative.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NON E' una malattia, ma puo' causare malattie.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31B1B"/>
                </a:solidFill>
                <a:latin typeface="Calibri"/>
              </a:rPr>
              <a:t>ATTENZIONE - cosa NON e':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004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NON e' lo stress personale del singolo (problemi familiari, ecc.)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NON e' il mobbing (che richiede valutazione separata)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NON e' lo stress post-traumatico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Calibri"/>
              </a:rPr>
              <a:t>COSA SI VALUTA: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L'ORGANIZZAZIONE del lavoro (carichi, turni, ruoli, comunicazione)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Le CONDIZIONI di lavoro (ambiente, attrezzature, autonomia)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Le RELAZIONI sul lavoro (supporto capi, colleghi, clima)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Novita' INAIL 2024/2025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Cosa cambia rispetto al modello precedente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4/28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E55"/>
                </a:solidFill>
                <a:latin typeface="Calibri"/>
              </a:rPr>
              <a:t>EVOLUZIONE DELLA METODOLOGIA INAIL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371600" cy="73152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12801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554480"/>
            <a:ext cx="9784080" cy="73152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55448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Prima edizione del Manuale INAIL - 35 indicatori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1371600" cy="73152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12801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2017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468880"/>
            <a:ext cx="9784080" cy="73152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46888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Revisione: validazione Q-IND, differenze genere/eta'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371600" cy="73152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12801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2024/2025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3383280"/>
            <a:ext cx="9784080" cy="73152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383280"/>
            <a:ext cx="960120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MONOGRAFIA: Modulo Smart Working + Technostress (27 item aggiuntivi) - Lavoro da remoto e ICT intensivo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891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LE 3 NUOVE AREE DELLA MONOGRAFIA 2024/2025: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3657600" cy="1645920"/>
          </a:xfrm>
          <a:prstGeom prst="rect">
            <a:avLst/>
          </a:prstGeom>
          <a:solidFill>
            <a:srgbClr val="ECECEC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36576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REMOTE WORK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(10 item)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40680"/>
            <a:ext cx="33832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Postazione remota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Comunicazione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Isolamento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Supporto a distanza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Obiettivi remoti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9" y="4846320"/>
            <a:ext cx="3657600" cy="1645920"/>
          </a:xfrm>
          <a:prstGeom prst="rect">
            <a:avLst/>
          </a:prstGeom>
          <a:solidFill>
            <a:srgbClr val="ECECEC"/>
          </a:solidFill>
          <a:ln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39" y="4846320"/>
            <a:ext cx="3657600" cy="54864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4846320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TECHNOSTRESS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(15 item)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5440680"/>
            <a:ext cx="33832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Sovraccarico info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Ansia tecnologica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Monitoraggio invasivo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Affaticamento ICT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Obsolescenza digitale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78" y="4846320"/>
            <a:ext cx="3657600" cy="164592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8" y="4846320"/>
            <a:ext cx="36576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8" y="4846320"/>
            <a:ext cx="34747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WORK-LIFE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BALANCE (2 item)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38" y="5440680"/>
            <a:ext cx="338328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Confusione spazi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Diritto alla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disconnessione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Il processo di valutazione SLC in 6 Fasi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Flowchart conforme alle Linee Guida INAIL 2017 + 2024/2025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5/28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828800" cy="411480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18288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09728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PROPEDEUTICA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16459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Costituzione GGV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Definizione gruppi omogenei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Comunicazione al personale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1097280"/>
            <a:ext cx="1828800" cy="411480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2848" y="1097280"/>
            <a:ext cx="1828800" cy="4572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109728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1600200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9A227"/>
                </a:solidFill>
                <a:latin typeface="Calibri"/>
              </a:rPr>
              <a:t>GRUPPI</a:t>
            </a:r>
          </a:p>
          <a:p>
            <a:pPr algn="ctr"/>
            <a:r>
              <a:rPr sz="1100" b="1">
                <a:solidFill>
                  <a:srgbClr val="C9A227"/>
                </a:solidFill>
                <a:latin typeface="Calibri"/>
              </a:rPr>
              <a:t>OMOGENEI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2377440"/>
            <a:ext cx="16459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Identificazione per reparto,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mansione, turno, modalita'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51376" y="1097280"/>
            <a:ext cx="1828800" cy="411480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51376" y="1097280"/>
            <a:ext cx="18288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7096" y="109728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1600200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VALUTAZIONE</a:t>
            </a:r>
          </a:p>
          <a:p>
            <a:pPr algn="ctr"/>
            <a:r>
              <a:rPr sz="1100" b="1">
                <a:solidFill>
                  <a:srgbClr val="1F4E79"/>
                </a:solidFill>
                <a:latin typeface="Calibri"/>
              </a:rPr>
              <a:t>PRELIMINARE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2816" y="2377440"/>
            <a:ext cx="16459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Lista di controllo INAIL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Aree A + B + C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Calcolo punteggio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9904" y="1097280"/>
            <a:ext cx="1828800" cy="411480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9904" y="1097280"/>
            <a:ext cx="1828800" cy="4572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5624" y="109728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5624" y="1600200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9A825"/>
                </a:solidFill>
                <a:latin typeface="Calibri"/>
              </a:rPr>
              <a:t>DECISIONE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2377440"/>
            <a:ext cx="16459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Rischio Trascurabile?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SI -&gt; Monitoraggio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 -&gt; Fase Approfondita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28432" y="1097280"/>
            <a:ext cx="1828800" cy="411480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28432" y="1097280"/>
            <a:ext cx="1828800" cy="45720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74152" y="109728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4152" y="1600200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B31B1B"/>
                </a:solidFill>
                <a:latin typeface="Calibri"/>
              </a:rPr>
              <a:t>APPROFONDITA</a:t>
            </a:r>
          </a:p>
          <a:p>
            <a:pPr algn="ctr"/>
            <a:r>
              <a:rPr sz="1100" b="1">
                <a:solidFill>
                  <a:srgbClr val="B31B1B"/>
                </a:solidFill>
                <a:latin typeface="Calibri"/>
              </a:rPr>
              <a:t>(eventuale)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2377440"/>
            <a:ext cx="16459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Questionario 35+27 item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Focus group / Interviste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Analisi aggregata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1097280"/>
            <a:ext cx="1828800" cy="411480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66960" y="1097280"/>
            <a:ext cx="18288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1097280"/>
            <a:ext cx="1737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FASE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1600200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PIANO +</a:t>
            </a:r>
          </a:p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DVR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377440"/>
            <a:ext cx="1645920" cy="2743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Misure correttive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Inserimento nel DVR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Data rivalutazione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94960"/>
            <a:ext cx="11612880" cy="731520"/>
          </a:xfrm>
          <a:prstGeom prst="rect">
            <a:avLst/>
          </a:prstGeom>
          <a:solidFill>
            <a:srgbClr val="ECECEC"/>
          </a:solidFill>
          <a:ln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40680"/>
            <a:ext cx="114300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2E55"/>
                </a:solidFill>
                <a:latin typeface="Calibri"/>
              </a:rPr>
              <a:t>MONITORAGGIO CONTINUO: Rivalutazione ogni 2-3 anni o immediatamente dopo cambiamenti organizzativi significativi (riorganizzazione, nuove tecnologie, variazione organici)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Cosa deve fare il Datore di Lavoro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Ruolo dell'Ammiraglio Direttore nel processo SLC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6/28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E55"/>
                </a:solidFill>
                <a:latin typeface="Calibri"/>
              </a:rPr>
              <a:t>LE 7 AZIONI CHE COMPETONO AL DATORE DI LAVORO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1. APPROVARE l'avvio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4630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Autorizzare formalmente l'avvio della valutazione SLC (obbligo indelegabile ex art. 17 D.Lgs. 81/08).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2. NOMINARE il GGV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1488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Costituire il Gruppo di Gestione della Valutazione (RSPP + MC + RLS + Capi Reparto).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3. FIRMARE la comunicazione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346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Sottoscrivere l'informativa ai lavoratori sull'avvio della valutazione.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4. GARANTIRE le risorse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5204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Assicurare tempo, strumenti e budget per il processo (stampa questionari, eventuale consulente).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5. APPROVARE il DVR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2062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Sottoscrivere la sezione SLC del Documento di Valutazione dei Rischi con data certa.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6. ATTUARE le misure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8920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Disporre l'attuazione delle misure correttive individuate, assegnando responsabili e tempistiche.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E55"/>
                </a:solidFill>
                <a:latin typeface="Calibri"/>
              </a:rPr>
              <a:t>7. MONITORARE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577840"/>
            <a:ext cx="7772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Ricevere report periodici sull'andamento e disporre la rivalutazione nei tempi previsti.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Strumenti operativi gia' predisposti dal SPP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Kit pronto all'uso - in attesa di approvazione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7/28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E55"/>
                </a:solidFill>
                <a:latin typeface="Calibri"/>
              </a:rPr>
              <a:t>3 STRUMENTI COMPLEMENTARI + PRESENTAZIONE GUIDA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657600" cy="4572000"/>
          </a:xfrm>
          <a:prstGeom prst="rect">
            <a:avLst/>
          </a:prstGeom>
          <a:solidFill>
            <a:srgbClr val="ECECEC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6576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3474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QUESTIONARIO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WORD (.docx)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1F4E79"/>
                </a:solidFill>
                <a:latin typeface="Calibri"/>
              </a:rPr>
              <a:t>Questionario_SLC_INAIL_2025.docx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834640"/>
            <a:ext cx="33832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35 item standard + 27 item Smart/ICT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Scala Likert 1-5 | Anonimo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Informativa privacy integrata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Stampabile per compilazione cartacea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Sezione firme RSPP/MC/RLS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554480"/>
            <a:ext cx="3657600" cy="457200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554480"/>
            <a:ext cx="3657600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554480"/>
            <a:ext cx="3474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FOGLIO EXCEL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AUTOMATIZZATO (.xlsx)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Calibri"/>
              </a:rPr>
              <a:t>Valutazione_SLC_INAIL_2025.xlsx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3832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10 fogli di lavoro automatizzati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Fino a 20 gruppi omogenei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Calcolo automatico punteggi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Classificazione rischio a semaforo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Report pronto per il DVR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554480"/>
            <a:ext cx="3657600" cy="4572000"/>
          </a:xfrm>
          <a:prstGeom prst="rect">
            <a:avLst/>
          </a:prstGeom>
          <a:solidFill>
            <a:srgbClr val="ECECEC"/>
          </a:solidFill>
          <a:ln>
            <a:solidFill>
              <a:srgbClr val="E65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554480"/>
            <a:ext cx="3657600" cy="731520"/>
          </a:xfrm>
          <a:prstGeom prst="rect">
            <a:avLst/>
          </a:prstGeom>
          <a:solidFill>
            <a:srgbClr val="E65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554480"/>
            <a:ext cx="3474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FLOWCHART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INTERATTIVO (.html)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37744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E65C00"/>
                </a:solidFill>
                <a:latin typeface="Calibri"/>
              </a:rPr>
              <a:t>Flowchart_SLC_Interattivo.html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834640"/>
            <a:ext cx="3383280" cy="3200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Diagramma di flusso cliccabile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Spiegazione di ogni fase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Ruoli e responsabilita'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Apribile su qualsiasi browser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Guida visiva per il DL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FASE 1 - Propedeutica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Cosa fare PRIMA di iniziare la valutazione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8/28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A) Costituzione del GGV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53949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Ammiraglio Direttore (presiede o delega)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RSPP (coordina tecnicamente)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Medico Competente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RLS / RLST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Capi Reparto / Officina interessati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Eventuale psicologo del lavoro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B) Comunicazione al personale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53949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Informativa scritta (firmata dal DL)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Consultazione preventiva RLS (art. 50)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Garanzia di anonimato (GDPR)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Restituzione esiti in forma aggregata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C) Definizione gruppi omogenei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417320"/>
            <a:ext cx="53035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Per REPARTO (Officina Motori, Carpenteria...)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Per MANSIONE (operai, impiegati, tecnici...)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Per TURNO (giornaliero, H24, reperibilita')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Per MODALITA' (presenza, smart working, ICT)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Minimo 6 lavoratori per gruppo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D) Cronoprogramma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53035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Settimana 1-2: Nomina GGV + comunicazione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Settimana 3-4: Definizione gruppi + stampa questionari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Settimana 5-8: Somministrazione e raccolta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Settimana 9-10: Elaborazione dati (Excel)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Settimana 11-12: Redazione DVR + report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TOTALE: circa 90 giorni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FASE 2/3 - Valutazione Preliminare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Lista di controllo INAIL: 3 Aree di indagine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9/28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3657600" cy="512064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657600" cy="73152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474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AREA 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EVENTI SENTINELLA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Dati OGGETTIVI triennali: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Infortuni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Assenze malattia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Turnover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Ferie non godute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Sanzioni disciplinari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Visite straordinarie MC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3474720" cy="118872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329184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Il MC fornisce i dati sanitari</a:t>
            </a:r>
          </a:p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RSPP raccoglie da Ufficio Personale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097280"/>
            <a:ext cx="3657600" cy="5120640"/>
          </a:xfrm>
          <a:prstGeom prst="rect">
            <a:avLst/>
          </a:prstGeom>
          <a:solidFill>
            <a:srgbClr val="ECECEC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097280"/>
            <a:ext cx="36576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097280"/>
            <a:ext cx="3474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AREA B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CONTENUTO LAVORO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Caratteristiche del LAVORO: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Ambiente e attrezzature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Carichi e ritmi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Turni e orari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Competenze vs mansioni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Autonomia operativa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4937760"/>
            <a:ext cx="3474720" cy="11887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029200"/>
            <a:ext cx="329184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RSPP compila con sopralluogo</a:t>
            </a:r>
          </a:p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RLS contribuisce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097280"/>
            <a:ext cx="3657600" cy="512064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097280"/>
            <a:ext cx="3657600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1097280"/>
            <a:ext cx="34747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AREA C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CONTESTO LAVORO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192024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Caratteristiche ORGANIZZATIVE: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Chiarezza del ruolo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Comunicazione interna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Supporto dei capi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Relazioni colleghi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- Gestione cambiamenti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4937760"/>
            <a:ext cx="3474720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029200"/>
            <a:ext cx="329184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RSPP + RLS compilano insieme</a:t>
            </a:r>
          </a:p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Consultazione lavoratori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Esito della valutazione - Fasce di rischio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Come leggere i risultati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10/28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SEMAFORO DEL RISCHIO SLC (dal foglio Excel automatizzato)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371600" cy="1554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VERDE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554480"/>
            <a:ext cx="2286000" cy="155448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1554480"/>
            <a:ext cx="210312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RISCHIO</a:t>
            </a:r>
          </a:p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TRASCURABILE</a:t>
            </a:r>
          </a:p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/>
            </a:r>
          </a:p>
          <a:p>
            <a:pPr algn="ctr"/>
            <a:r>
              <a:rPr sz="1200" b="1">
                <a:solidFill>
                  <a:srgbClr val="2E7D32"/>
                </a:solidFill>
                <a:latin typeface="Calibri"/>
              </a:rPr>
              <a:t>Punteggio medio &lt;= 2.3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554480"/>
            <a:ext cx="7406640" cy="155448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713232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Nessuna azione correttiva necessaria.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Monitoraggio ogni 2-3 anni.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Inserimento nel DVR con esito favorevole.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371600" cy="155448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4612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GIALLO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3246120"/>
            <a:ext cx="2286000" cy="1554480"/>
          </a:xfrm>
          <a:prstGeom prst="rect">
            <a:avLst/>
          </a:prstGeom>
          <a:solidFill>
            <a:srgbClr val="ECECEC"/>
          </a:solidFill>
          <a:ln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246120"/>
            <a:ext cx="210312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F9A825"/>
                </a:solidFill>
                <a:latin typeface="Calibri"/>
              </a:rPr>
              <a:t>RISCHIO</a:t>
            </a:r>
          </a:p>
          <a:p>
            <a:pPr algn="ctr"/>
            <a:r>
              <a:rPr sz="1200" b="1">
                <a:solidFill>
                  <a:srgbClr val="F9A825"/>
                </a:solidFill>
                <a:latin typeface="Calibri"/>
              </a:rPr>
              <a:t>MODERATO</a:t>
            </a:r>
          </a:p>
          <a:p>
            <a:pPr algn="ctr"/>
            <a:r>
              <a:rPr sz="1200" b="1">
                <a:solidFill>
                  <a:srgbClr val="F9A825"/>
                </a:solidFill>
                <a:latin typeface="Calibri"/>
              </a:rPr>
              <a:t/>
            </a:r>
          </a:p>
          <a:p>
            <a:pPr algn="ctr"/>
            <a:r>
              <a:rPr sz="1200" b="1">
                <a:solidFill>
                  <a:srgbClr val="F9A825"/>
                </a:solidFill>
                <a:latin typeface="Calibri"/>
              </a:rPr>
              <a:t>Punteggio medio 2.3 - 3.0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246120"/>
            <a:ext cx="7406640" cy="1554480"/>
          </a:xfrm>
          <a:prstGeom prst="rect">
            <a:avLst/>
          </a:prstGeom>
          <a:solidFill>
            <a:srgbClr val="ECECEC"/>
          </a:solidFill>
          <a:ln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713232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Adozione misure correttive mirate.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Verifica efficacia entro 12 mesi.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Se inefficaci: passare a Fase Approfondita.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1371600" cy="15544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128016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ROSSO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4937760"/>
            <a:ext cx="2286000" cy="155448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937760"/>
            <a:ext cx="2103120" cy="1554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B31B1B"/>
                </a:solidFill>
                <a:latin typeface="Calibri"/>
              </a:rPr>
              <a:t>RISCHIO</a:t>
            </a:r>
          </a:p>
          <a:p>
            <a:pPr algn="ctr"/>
            <a:r>
              <a:rPr sz="1200" b="1">
                <a:solidFill>
                  <a:srgbClr val="B31B1B"/>
                </a:solidFill>
                <a:latin typeface="Calibri"/>
              </a:rPr>
              <a:t>RILEVANTE</a:t>
            </a:r>
          </a:p>
          <a:p>
            <a:pPr algn="ctr"/>
            <a:r>
              <a:rPr sz="1200" b="1">
                <a:solidFill>
                  <a:srgbClr val="B31B1B"/>
                </a:solidFill>
                <a:latin typeface="Calibri"/>
              </a:rPr>
              <a:t/>
            </a:r>
          </a:p>
          <a:p>
            <a:pPr algn="ctr"/>
            <a:r>
              <a:rPr sz="1200" b="1">
                <a:solidFill>
                  <a:srgbClr val="B31B1B"/>
                </a:solidFill>
                <a:latin typeface="Calibri"/>
              </a:rPr>
              <a:t>Punteggio medio &gt; 3.0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4937760"/>
            <a:ext cx="7406640" cy="155448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5029200"/>
            <a:ext cx="713232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Misure correttive IMMEDIATE.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Avvio Valutazione Approfondita (questionario).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Coinvolgimento MC + eventuale psicologo.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FASE 5 - Valutazione Approfondita (eventuale)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Quando e come si usa il questionario ai lavoratori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11/28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11247120" cy="82296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97280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B31B1B"/>
                </a:solidFill>
                <a:latin typeface="Calibri"/>
              </a:rPr>
              <a:t>SI ATTIVA SOLO SE: la fase preliminare da' esito RILEVANTE oppure le misure correttive adottate non funzionano entro 12 mesi.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E55"/>
                </a:solidFill>
                <a:latin typeface="Calibri"/>
              </a:rPr>
              <a:t>Lo strumento: Questionario 35+27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539496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PARTE 1 - Standard (35 item): OBBLIGATORIA per tutti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Contenuto del lavoro (10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Contesto del lavoro (9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Relazioni interpersonali (7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Cambiamento (4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Equilibrio vita-lavoro (5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PARTE 2 - Smart/ICT (27 item): SOLO per chi lavora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in smart working o con uso intensivo ICT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Remote Work (10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Technostress (15 item)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Work-Life Balance (2 item)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E55"/>
                </a:solidFill>
                <a:latin typeface="Calibri"/>
              </a:rPr>
              <a:t>Regole operative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53035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Compilazione ANONIMA (no nome, no CF)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Solo ID compilazione + ID gruppo omogeneo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Scala Likert 1 (MAI) - 5 (SEMPRE)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Soglia minima adesione: &gt;= 60% del gruppo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Consegna in busta chiusa / urna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Elaborazione SOLO aggregata per gruppo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RISPETTO GDPR: Reg. UE 679/2016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Base giuridica: art. 9 par.2 lett. b)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(obbligo ex D.Lgs. 81/08)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Nessun dato nominativo conservato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Come funziona il foglio Excel automatizzato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Valutazione_SLC_INAIL_2025.xlsx - 10 fogli integrati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12/28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FLUSSO DI LAVORO NEL FILE EXCEL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2194560" cy="2560320"/>
          </a:xfrm>
          <a:prstGeom prst="rect">
            <a:avLst/>
          </a:prstGeom>
          <a:solidFill>
            <a:srgbClr val="ECECEC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544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CONFIGURA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20116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Inserisci nome ente,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responsabili,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data valutazione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554480"/>
            <a:ext cx="2194560" cy="2560320"/>
          </a:xfrm>
          <a:prstGeom prst="rect">
            <a:avLst/>
          </a:prstGeom>
          <a:solidFill>
            <a:srgbClr val="ECECEC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1554480"/>
            <a:ext cx="2194560" cy="6400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5544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GRUPPI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86000"/>
            <a:ext cx="20116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Definisci fino a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20 gruppi omogenei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(reparto, mansione)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554480"/>
            <a:ext cx="2194560" cy="2560320"/>
          </a:xfrm>
          <a:prstGeom prst="rect">
            <a:avLst/>
          </a:prstGeom>
          <a:solidFill>
            <a:srgbClr val="ECECEC"/>
          </a:solidFill>
          <a:ln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554480"/>
            <a:ext cx="2194560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15544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INSERISCI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86000"/>
            <a:ext cx="20116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Trascrivi le risposte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dei questionari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(1 riga per persona)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554480"/>
            <a:ext cx="2194560" cy="256032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1554480"/>
            <a:ext cx="2194560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5544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AUTOMATICO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286000"/>
            <a:ext cx="20116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Il foglio calcola: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punteggi per area,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inversione item [R]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0" y="1554480"/>
            <a:ext cx="2194560" cy="256032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0" y="1554480"/>
            <a:ext cx="2194560" cy="64008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15544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RISULTATI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286000"/>
            <a:ext cx="20116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Classificazione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a semaforo per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ogni gruppo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E55"/>
                </a:solidFill>
                <a:latin typeface="Calibri"/>
              </a:rPr>
              <a:t>DETTAGLIO DEI 10 FOGLI: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109728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README_Istruzioni - Guida completa con riferimenti normativi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Configurazione - Dati organizzazione, soglie cut-off personalizzabili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Gruppi_Omogenei - Anagrafica dei gruppi (fino a 20)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DataEntry_Standard - Inserimento 35 item (fino a 50 compilazioni)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DataEntry_SmartICT - Inserimento 27 item aggiuntivi (solo gruppi ICT)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Calcolo_Punteggi - Inversione automatica, punteggi per sezione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Aggregazione_Gruppi - Media/DS per gruppo omogeneo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Classificazione_Rischio - Fascia + priorita' intervento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Report_Risultati - Tabelle pronte per il DVR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1A1A1A"/>
                </a:solidFill>
                <a:latin typeface="Calibri"/>
              </a:rPr>
              <a:t>• Privacy_Log - Traccia compilazioni GDPR-compliant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Specificita' del nostro Arsenale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Fattori che rendono la valutazione SLC particolarmente rilevante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13/28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Personale misto civile/militare:</a:t>
            </a:r>
            <a:r>
              <a:rPr sz="1300">
                <a:solidFill>
                  <a:srgbClr val="1A1A1A"/>
                </a:solidFill>
                <a:latin typeface="Calibri"/>
              </a:rPr>
              <a:t> ordinamento gerarchico + CCNL Funzioni Centrali - potenziali tensioni di ruolo.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Doppia catena di comando:</a:t>
            </a:r>
            <a:r>
              <a:rPr sz="1300">
                <a:solidFill>
                  <a:srgbClr val="1A1A1A"/>
                </a:solidFill>
                <a:latin typeface="Calibri"/>
              </a:rPr>
              <a:t> gerarchica militare e tecnico-funzionale (SPP) - possibile ambiguita' di ruolo.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Lavorazioni ad alta complessita':</a:t>
            </a:r>
            <a:r>
              <a:rPr sz="1300">
                <a:solidFill>
                  <a:srgbClr val="1A1A1A"/>
                </a:solidFill>
                <a:latin typeface="Calibri"/>
              </a:rPr>
              <a:t> cantieristica navale, saldatura, spazi confinati, lavori in quota - fattore CONTENUTO critico.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Tempi compressi:</a:t>
            </a:r>
            <a:r>
              <a:rPr sz="1300">
                <a:solidFill>
                  <a:srgbClr val="1A1A1A"/>
                </a:solidFill>
                <a:latin typeface="Calibri"/>
              </a:rPr>
              <a:t> consegna unita' navali in prontezza operativa - pressione temporale elevata.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Esposizioni multiple:</a:t>
            </a:r>
            <a:r>
              <a:rPr sz="1300">
                <a:solidFill>
                  <a:srgbClr val="1A1A1A"/>
                </a:solidFill>
                <a:latin typeface="Calibri"/>
              </a:rPr>
              <a:t> rumore, vibrazioni, agenti chimici, microclima - stress ambientale cumulativo.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Segretezza:</a:t>
            </a:r>
            <a:r>
              <a:rPr sz="1300">
                <a:solidFill>
                  <a:srgbClr val="1A1A1A"/>
                </a:solidFill>
                <a:latin typeface="Calibri"/>
              </a:rPr>
              <a:t> vincoli di riservatezza su programmi militari - possibile isolamento informativo.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Mobilita' forzata:</a:t>
            </a:r>
            <a:r>
              <a:rPr sz="1300">
                <a:solidFill>
                  <a:srgbClr val="1A1A1A"/>
                </a:solidFill>
                <a:latin typeface="Calibri"/>
              </a:rPr>
              <a:t> trasferimenti del personale militare per esigenze di servizio - rottura delle reti sociali.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Smart working limitato ma presente:</a:t>
            </a:r>
            <a:r>
              <a:rPr sz="1300">
                <a:solidFill>
                  <a:srgbClr val="1A1A1A"/>
                </a:solidFill>
                <a:latin typeface="Calibri"/>
              </a:rPr>
              <a:t> personale amministrativo/tecnico in telelavoro - necessario il modulo ICT 2024/2025.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Conseguenze della mancata valutazione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Profilo sanzionatorio - art. 55 D.Lgs. 81/08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14/28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1247120" cy="228600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B31B1B"/>
                </a:solidFill>
                <a:latin typeface="Calibri"/>
              </a:rPr>
              <a:t>SANZIONI PER IL DATORE DI LAVORO (art. 55 c.1 lett. a):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1078992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Arresto da 3 a 6 mesi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OPPURE ammenda da 3.071,27 EUR a 7.862,44 EUR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In caso di piu' violazioni: cumulo delle sanzioni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Prescrizione obbligatoria dell'organo di vigilanza (art. 20 D.Lgs. 758/94)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E55"/>
                </a:solidFill>
                <a:latin typeface="Calibri"/>
              </a:rPr>
              <a:t>ALTRE CONSEGUENZE: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23360"/>
            <a:ext cx="1097280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Responsabilita' civile:</a:t>
            </a:r>
            <a:r>
              <a:rPr sz="1300">
                <a:solidFill>
                  <a:srgbClr val="1A1A1A"/>
                </a:solidFill>
                <a:latin typeface="Calibri"/>
              </a:rPr>
              <a:t> risarcimento danni in caso di patologia SLC-correlata non prevenuta (art. 2087 c.c.).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Responsabilita' dirigenziale:</a:t>
            </a:r>
            <a:r>
              <a:rPr sz="1300">
                <a:solidFill>
                  <a:srgbClr val="1A1A1A"/>
                </a:solidFill>
                <a:latin typeface="Calibri"/>
              </a:rPr>
              <a:t> danno erariale per mancata adozione di misure obbligatorie (Corte dei Conti).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Responsabilita' ex D.Lgs. 231/01:</a:t>
            </a:r>
            <a:r>
              <a:rPr sz="1300">
                <a:solidFill>
                  <a:srgbClr val="1A1A1A"/>
                </a:solidFill>
                <a:latin typeface="Calibri"/>
              </a:rPr>
              <a:t> applicabile anche alle PA per reati contro la sicurezza sul lavoro.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1A"/>
                </a:solidFill>
                <a:latin typeface="Calibri"/>
              </a:rPr>
              <a:t>• Reputazione istituzionale:</a:t>
            </a:r>
            <a:r>
              <a:rPr sz="1300">
                <a:solidFill>
                  <a:srgbClr val="1A1A1A"/>
                </a:solidFill>
                <a:latin typeface="Calibri"/>
              </a:rPr>
              <a:t> contenziosi sindacali, segnalazioni ANAC, impatto mediatico negativo.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Cronoprogramma del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90 giorni dalla firma all'inserimento nel DVR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15/28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ATTIVITA'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88720"/>
            <a:ext cx="2194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ATTIVITA'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52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3784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064240" y="1188720"/>
            <a:ext cx="685800" cy="4572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0" y="1188720"/>
            <a:ext cx="685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1691640"/>
            <a:ext cx="2286000" cy="73152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169164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Sett. 1-2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Nomina GGV + Comunicazione personale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1874520"/>
            <a:ext cx="1371600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2468880"/>
            <a:ext cx="2286000" cy="73152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246888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Sett. 3-4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Definizione gruppi + Stampa questionari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2651760"/>
            <a:ext cx="137160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3246120"/>
            <a:ext cx="2286000" cy="73152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24612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Sett. 5-8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Somministrazione questionari + Raccolta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77840" y="3429000"/>
            <a:ext cx="2743200" cy="3657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023360"/>
            <a:ext cx="2286000" cy="73152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02336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Sett. 9-10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Data entry Excel + Elaborazione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4206240"/>
            <a:ext cx="1371600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800600"/>
            <a:ext cx="2286000" cy="73152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80060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Sett. 11-12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Redazione sezione DVR + Piano misure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4983480"/>
            <a:ext cx="1371600" cy="36576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5577840"/>
            <a:ext cx="2286000" cy="73152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5577840"/>
            <a:ext cx="219456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Sett. 13</a:t>
            </a:r>
          </a:p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Firma DL + Comunicazione esiti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64240" y="5760720"/>
            <a:ext cx="685800" cy="3657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ECECEC"/>
          </a:solidFill>
          <a:ln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NOTA: Il cronoprogramma e' indicativo. Il DL puo' accelerare i tempi autorizzando le risorse necessarie fin dalla prima settimana. Il RSPP gestisce operativamente le attivita'.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Misure correttive tipiche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Interventi graduati in base all'esito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16/28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2743200" cy="3200400"/>
          </a:xfrm>
          <a:prstGeom prst="rect">
            <a:avLst/>
          </a:prstGeom>
          <a:solidFill>
            <a:srgbClr val="ECECEC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27432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ORGANIZZATIVE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246888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Revisione turni e carichi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Rotazione mansioni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Pause programmate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Chiarificazione ruoli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097280"/>
            <a:ext cx="2743200" cy="3200400"/>
          </a:xfrm>
          <a:prstGeom prst="rect">
            <a:avLst/>
          </a:prstGeom>
          <a:solidFill>
            <a:srgbClr val="ECECEC"/>
          </a:solidFill>
          <a:ln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097280"/>
            <a:ext cx="2743200" cy="548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09728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COMUNICATIVE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37360"/>
            <a:ext cx="246888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Briefing periodici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Canali segnalazione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Feedback strutturato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Trasparenza obiettivi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743200" cy="3200400"/>
          </a:xfrm>
          <a:prstGeom prst="rect">
            <a:avLst/>
          </a:prstGeom>
          <a:solidFill>
            <a:srgbClr val="ECECEC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2743200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9728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FORMATIVE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737360"/>
            <a:ext cx="246888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Formazione preposti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Gestione del personale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Comunicazione efficace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Benessere organizzativo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097280"/>
            <a:ext cx="2743200" cy="3200400"/>
          </a:xfrm>
          <a:prstGeom prst="rect">
            <a:avLst/>
          </a:prstGeom>
          <a:solidFill>
            <a:srgbClr val="ECECEC"/>
          </a:solidFill>
          <a:ln>
            <a:solidFill>
              <a:srgbClr val="B3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097280"/>
            <a:ext cx="2743200" cy="548640"/>
          </a:xfrm>
          <a:prstGeom prst="rect">
            <a:avLst/>
          </a:prstGeom>
          <a:solidFill>
            <a:srgbClr val="B3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1097280"/>
            <a:ext cx="25603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SUPPORTO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46888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Sportello ascolto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Sorveglianza sanitaria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Supporto psicologico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Mediazione conflitti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E55"/>
                </a:solidFill>
                <a:latin typeface="Calibri"/>
              </a:rPr>
              <a:t>PRINCIPIO GUIDA (art. 15 D.Lgs. 81/08):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Le misure devono seguire la GERARCHIA DEI CONTROLLI: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1) Eliminare il rischio alla fonte (es. riorganizzazione)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2) Ridurre il rischio (es. rotazione, pause)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3) Proteggere il lavoratore (es. formazione, supporto)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Ogni misura deve avere: RESPONSABILE + TEMPISTICA + INDICATORE DI EFFICACIA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Privacy e garanzie per i lavoratori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Conformita' GDPR - Reg. UE 679/2016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17/28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E55"/>
                </a:solidFill>
                <a:latin typeface="Calibri"/>
              </a:rPr>
              <a:t>GARANZIE INTEGRATE NEL SISTEMA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ANONIMATO TOTALE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Nessun dato identificativo nel questionario. Solo ID compilazione (assegnato dal RSPP) e ID gruppo omogeneo.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488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488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ELABORAZIONE AGGREGATA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1488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 risultati sono elaborati e comunicati ESCLUSIVAMENTE in forma aggregata per gruppo omogeneo (mai individuali).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SOGLIA MINIMA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8346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Gruppi con meno di 6 compilazioni non vengono elaborati (rischio di identificabilita' indiretta).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204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5204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CONSEGNA PROTETTA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5204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Questionari in busta chiusa, raccolti in urna sigillata. Nessun intermediario tra compilatore e RSPP.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INFORMATIVA PREVENTIVA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2062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Ogni lavoratore riceve informativa completa ai sensi degli artt. 13-14 GDPR prima della compilazione.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920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BASE GIURIDICA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920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Art. 9 par.2 lett. b) GDPR: trattamento necessario per assolvere obblighi in materia di sicurezza sul lavoro.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577840"/>
            <a:ext cx="27432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B2E55"/>
                </a:solidFill>
                <a:latin typeface="Calibri"/>
              </a:rPr>
              <a:t>CONSERVAZIONE LIMITATA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5577840"/>
            <a:ext cx="82296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 questionari cartacei sono distrutti dopo l'elaborazione. Il file Excel non contiene dati personali.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Quadro normativo di riferimento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Le norme che governano il processo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18/28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solidFill>
            <a:srgbClr val="0B2E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097280"/>
            <a:ext cx="7132320" cy="548640"/>
          </a:xfrm>
          <a:prstGeom prst="rect">
            <a:avLst/>
          </a:prstGeom>
          <a:solidFill>
            <a:srgbClr val="0B2E55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D.Lgs. 81/2008 art. 28 c.1-bis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09728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Obbligo di valutazione SLC per tutti i lavoratori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9164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691640"/>
            <a:ext cx="7132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9164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Accordo Europeo 8/10/2004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9164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Definizione condivisa di stress lavoro-correlato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4114800" cy="54864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286000"/>
            <a:ext cx="7132320" cy="54864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8600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Circ. Min. Lavoro 18/11/2010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28600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Indicazioni metodologiche della Commissione Consultiva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2880360"/>
            <a:ext cx="7132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88036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INAIL ed. 2017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88036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Metodologia validata: lista di controllo + Q-IND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4114800" cy="54864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3474720"/>
            <a:ext cx="7132320" cy="54864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47472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INAIL Monografia 2024/2025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47472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Modulo Smart Working + Technostress (27 item aggiuntivi)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6908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4069080"/>
            <a:ext cx="7132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D.M. 284/2000 + D.P.R. 90/2010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06908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Applicazione al personale militare e civile della Difesa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63440"/>
            <a:ext cx="4114800" cy="54864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4663440"/>
            <a:ext cx="7132320" cy="54864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Reg. UE 679/2016 (GDPR)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66344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Tutela dati personali nei questionari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257800"/>
            <a:ext cx="411480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0" y="5257800"/>
            <a:ext cx="7132320" cy="548640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257800"/>
            <a:ext cx="393192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Accordo Stato-Regioni 21/12/2011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257800"/>
            <a:ext cx="69494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Formazione obbligatoria in materia di sicurezza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51560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Prossimi passi - Decisioni richieste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515600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Calibri"/>
              </a:rPr>
              <a:t>Azioni immediate per l'Ammiraglio Direttore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65392"/>
            <a:ext cx="731520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Progetto SLC - Arsenale Militare | Briefing Ammiraglio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565392"/>
            <a:ext cx="109728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900" b="0">
                <a:solidFill>
                  <a:srgbClr val="C9A227"/>
                </a:solidFill>
                <a:latin typeface="Calibri"/>
              </a:rPr>
              <a:t>19/28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B2E55"/>
                </a:solidFill>
                <a:latin typeface="Calibri"/>
              </a:rPr>
              <a:t>RICHIESTE AL DATORE DI LAVORO - IN ORDINE DI PRIORITA'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828800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OGGI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1645920"/>
            <a:ext cx="5029200" cy="82296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645920"/>
            <a:ext cx="48463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Approvare l'avvio del progetto SLC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1645920"/>
            <a:ext cx="4206240" cy="82296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164592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Disposizione scritta / Determina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14600"/>
            <a:ext cx="1828800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1460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ENTRO 7 GG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2514600"/>
            <a:ext cx="5029200" cy="82296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2514600"/>
            <a:ext cx="48463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Nominare il GGV (Gruppo di Gestione)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2514600"/>
            <a:ext cx="4206240" cy="82296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251460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Ordine di servizio con composizione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1828800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38328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ENTRO 14 GG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3383280"/>
            <a:ext cx="5029200" cy="82296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80" y="3383280"/>
            <a:ext cx="48463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Firmare la comunicazione ai lavoratori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383280"/>
            <a:ext cx="4206240" cy="82296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338328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Informativa predisposta dal RSPP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51960"/>
            <a:ext cx="1828800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25196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ENTRO 14 GG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4251960"/>
            <a:ext cx="5029200" cy="82296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0" y="4251960"/>
            <a:ext cx="48463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Autorizzare le risorse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79" y="4251960"/>
            <a:ext cx="4206240" cy="82296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0" y="425196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Stampa questionari + eventuale consulente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120640"/>
            <a:ext cx="1828800" cy="82296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120640"/>
            <a:ext cx="1737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ENTRO 90 GG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77440" y="5120640"/>
            <a:ext cx="5029200" cy="822960"/>
          </a:xfrm>
          <a:prstGeom prst="rect">
            <a:avLst/>
          </a:prstGeom>
          <a:solidFill>
            <a:srgbClr val="ECECEC"/>
          </a:solidFill>
          <a:ln>
            <a:solidFill>
              <a:srgbClr val="0B2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5120640"/>
            <a:ext cx="48463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Firmare il DVR aggiornato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5120640"/>
            <a:ext cx="4206240" cy="822960"/>
          </a:xfrm>
          <a:prstGeom prst="rect">
            <a:avLst/>
          </a:prstGeom>
          <a:solidFill>
            <a:srgbClr val="ECECEC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5120640"/>
            <a:ext cx="40233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Sezione SLC con data certa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Calibri"/>
              </a:rPr>
              <a:t>MINISTERO DELLA DIFESA - MARINA MILITARE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IN SINTESI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106424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1. E' un OBBLIGO DI LEGGE non ancora adempiuto - rischio sanzione.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2. Il SPP ha GIA' predisposto tutti gli strumenti operativi.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3. Servono 90 GIORNI dall'approvazione per completare il processo.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4. L'unica cosa che serve ORA e' la SUA FIRMA sull'avvio.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5. Il risultato: un DVR completo e conforme, tutela per l'Ente e per Lei personalmente.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972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  <a:latin typeface="Calibri"/>
              </a:rPr>
              <a:t>Il RSPP resta a disposizione per ogni chiarimento.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