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12191695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C9A227"/>
                </a:solidFill>
                <a:latin typeface="Calibri"/>
              </a:rPr>
              <a:t>MINISTERO DELLA DIFESA - MARINA MILITARE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Servizio di Prevenzione e Protezione - Arsenale Militare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5176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VALUTAZIONE DEL RISCHIO</a:t>
            </a:r>
          </a:p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DA STRESS LAVORO-CORRELATO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937760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9A227"/>
                </a:solidFill>
                <a:latin typeface="Calibri"/>
              </a:rPr>
              <a:t>Linee Guida INAIL - Metodologia aggiornata (ed. 2017)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Applicazione al contesto degli Arsenali Militari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ECECEC"/>
                </a:solidFill>
                <a:latin typeface="Calibri"/>
              </a:rPr>
              <a:t>D.Lgs. 81/2008 art. 28 c.1-bis  -  Accordo Europeo 8 ottobre 2004  -  Circolare Min. Lavoro prot. 23692 del 18/11/2010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05156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Indice della presentazione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51560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9A227"/>
                </a:solidFill>
                <a:latin typeface="Calibri"/>
              </a:rPr>
              <a:t>Articolazione dei contenuti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Linee Guida INAIL - Stress Lavoro-Correlato | Arsenali Militari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565392"/>
            <a:ext cx="109728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Calibri"/>
              </a:rPr>
              <a:t>2 /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97280"/>
            <a:ext cx="5760720" cy="5212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1. Definizioni e quadro di riferimento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2. Quadro normativo nazionale ed europeo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3. Indicazioni della Commissione Consultiva (2010)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4. Metodologia INAIL: dal 2011 all'aggiornamento 2017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5. Architettura del processo valutativo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6. Fase propedeutica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7. Valutazione preliminare - eventi sentinella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8. Contenuto del lavoro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9. Contesto del lavoro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10. Lista di controllo - punteggi e fasce di rischio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097280"/>
            <a:ext cx="5760720" cy="5212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11. Valutazione approfondita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12. Strumento Indicatore (Q-IND) - HSE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13. Pianificazione delle misure correttive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14. Monitoraggio e aggiornamento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15. Ruoli e responsabilita'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16. Specificita' degli Arsenali Militari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17. Fattori di rischio in ambito difensivo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18. Misure di prevenzione - buone prassi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19. Indicatori di efficacia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20. Riferimenti normativi e bibliografici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05156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Definizioni e quadro di riferimento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51560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9A227"/>
                </a:solidFill>
                <a:latin typeface="Calibri"/>
              </a:rPr>
              <a:t>Cosa si intende per stress lavoro-correlato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Linee Guida INAIL - Stress Lavoro-Correlato | Arsenali Militari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565392"/>
            <a:ext cx="109728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Calibri"/>
              </a:rPr>
              <a:t>3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11247120" cy="137160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188720"/>
            <a:ext cx="1097280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Definizione (Accordo Europeo 8 ottobre 2004, recepito in Italia dall'Accordo Interconfederale 9 giugno 2008):</a:t>
            </a:r>
          </a:p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"Lo stress lavoro-correlato e' una condizione che puo' essere accompagnata da disturbi o disfunzioni di natura fisica, psicologica o sociale ed e' conseguenza del fatto che taluni individui non si sentono in grado di corrispondere alle richieste o alle aspettative riposte in loro".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9748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0B2E55"/>
                </a:solidFill>
                <a:latin typeface="Calibri"/>
              </a:rPr>
              <a:t>Elementi distintivi: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60"/>
            <a:ext cx="10972800" cy="3200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Calibri"/>
              </a:rPr>
              <a:t>• Origine organizzativa:</a:t>
            </a:r>
            <a:r>
              <a:rPr sz="1400">
                <a:solidFill>
                  <a:srgbClr val="1A1A1A"/>
                </a:solidFill>
                <a:latin typeface="Calibri"/>
              </a:rPr>
              <a:t> lo stress lavoro-correlato non coincide con lo stress individuale; deriva dalla organizzazione e dalle condizioni di lavoro.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Calibri"/>
              </a:rPr>
              <a:t>• Ambito di applicazione:</a:t>
            </a:r>
            <a:r>
              <a:rPr sz="1400">
                <a:solidFill>
                  <a:srgbClr val="1A1A1A"/>
                </a:solidFill>
                <a:latin typeface="Calibri"/>
              </a:rPr>
              <a:t> tutti i lavoratori, pubblici e privati, ivi compreso il personale civile e militare in servizio presso le Forze Armate (cfr. D.M. 284/2000 e D.P.R. 90/2010 - T.U.O.M.).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Calibri"/>
              </a:rPr>
              <a:t>• Esclusioni concettuali:</a:t>
            </a:r>
            <a:r>
              <a:rPr sz="1400">
                <a:solidFill>
                  <a:srgbClr val="1A1A1A"/>
                </a:solidFill>
                <a:latin typeface="Calibri"/>
              </a:rPr>
              <a:t> non sono oggetto della valutazione la violenza sul lavoro, le molestie e lo stress post-traumatico, che richiedono valutazioni dedicate.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Calibri"/>
              </a:rPr>
              <a:t>• Riferimento normativo cogente:</a:t>
            </a:r>
            <a:r>
              <a:rPr sz="1400">
                <a:solidFill>
                  <a:srgbClr val="1A1A1A"/>
                </a:solidFill>
                <a:latin typeface="Calibri"/>
              </a:rPr>
              <a:t> art. 28, comma 1-bis, D.Lgs. 81/2008 - obbligo di valutazione secondo i contenuti dell'Accordo Europeo.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05156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Quadro normativo di riferimento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51560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9A227"/>
                </a:solidFill>
                <a:latin typeface="Calibri"/>
              </a:rPr>
              <a:t>Fonti europee e nazionali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Linee Guida INAIL - Stress Lavoro-Correlato | Arsenali Militari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565392"/>
            <a:ext cx="109728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Calibri"/>
              </a:rPr>
              <a:t>4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3291840" cy="502920"/>
          </a:xfrm>
          <a:prstGeom prst="rect">
            <a:avLst/>
          </a:prstGeom>
          <a:solidFill>
            <a:srgbClr val="0B2E55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749040" y="1097280"/>
            <a:ext cx="8412480" cy="502920"/>
          </a:xfrm>
          <a:prstGeom prst="rect">
            <a:avLst/>
          </a:prstGeom>
          <a:solidFill>
            <a:srgbClr val="0B2E55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097280"/>
            <a:ext cx="32004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Fonte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1097280"/>
            <a:ext cx="83210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Contenuto essenziale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600200"/>
            <a:ext cx="3291840" cy="502920"/>
          </a:xfrm>
          <a:prstGeom prst="rect">
            <a:avLst/>
          </a:prstGeom>
          <a:solidFill>
            <a:srgbClr val="FFFFFF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49040" y="1600200"/>
            <a:ext cx="84124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1600200"/>
            <a:ext cx="32004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Accordo Europeo 8/10/2004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1600200"/>
            <a:ext cx="83210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Definizione condivisa di stress lavoro-correlato; obbligo datoriale di prevenzione; partecipazione dei lavoratori.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103120"/>
            <a:ext cx="3291840" cy="502920"/>
          </a:xfrm>
          <a:prstGeom prst="rect">
            <a:avLst/>
          </a:prstGeom>
          <a:solidFill>
            <a:srgbClr val="ECECEC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9040" y="2103120"/>
            <a:ext cx="8412480" cy="502920"/>
          </a:xfrm>
          <a:prstGeom prst="rect">
            <a:avLst/>
          </a:prstGeom>
          <a:solidFill>
            <a:srgbClr val="ECECEC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2103120"/>
            <a:ext cx="32004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Accordo Interconfederale 9/6/2008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2103120"/>
            <a:ext cx="83210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Recepimento in Italia dell'Accordo Europeo.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3291840" cy="502920"/>
          </a:xfrm>
          <a:prstGeom prst="rect">
            <a:avLst/>
          </a:prstGeom>
          <a:solidFill>
            <a:srgbClr val="FFFFFF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49040" y="2606040"/>
            <a:ext cx="84124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2606040"/>
            <a:ext cx="32004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D.Lgs. 81/2008 - art. 28 c.1-bis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2606040"/>
            <a:ext cx="83210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Obbligo di valutazione del rischio SLC secondo i contenuti dell'Accordo Europeo, nell'ambito del DVR.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108960"/>
            <a:ext cx="3291840" cy="502920"/>
          </a:xfrm>
          <a:prstGeom prst="rect">
            <a:avLst/>
          </a:prstGeom>
          <a:solidFill>
            <a:srgbClr val="ECECEC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49040" y="3108960"/>
            <a:ext cx="8412480" cy="502920"/>
          </a:xfrm>
          <a:prstGeom prst="rect">
            <a:avLst/>
          </a:prstGeom>
          <a:solidFill>
            <a:srgbClr val="ECECEC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3108960"/>
            <a:ext cx="32004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Commissione Consultiva Permanente - 17/11/2010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3108960"/>
            <a:ext cx="83210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Indicazioni metodologiche minime per la valutazione del rischio SLC.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611880"/>
            <a:ext cx="3291840" cy="502920"/>
          </a:xfrm>
          <a:prstGeom prst="rect">
            <a:avLst/>
          </a:prstGeom>
          <a:solidFill>
            <a:srgbClr val="FFFFFF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749040" y="3611880"/>
            <a:ext cx="84124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3611880"/>
            <a:ext cx="32004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Circolare Min. Lavoro prot. 23692 del 18/11/2010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94760" y="3611880"/>
            <a:ext cx="83210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Diffusione delle indicazioni; data di decorrenza dell'obbligo: 31/12/2010.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114800"/>
            <a:ext cx="3291840" cy="502920"/>
          </a:xfrm>
          <a:prstGeom prst="rect">
            <a:avLst/>
          </a:prstGeom>
          <a:solidFill>
            <a:srgbClr val="ECECEC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749040" y="4114800"/>
            <a:ext cx="8412480" cy="502920"/>
          </a:xfrm>
          <a:prstGeom prst="rect">
            <a:avLst/>
          </a:prstGeom>
          <a:solidFill>
            <a:srgbClr val="ECECEC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4114800"/>
            <a:ext cx="32004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Metodologia INAIL ed. 2011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94760" y="4114800"/>
            <a:ext cx="83210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Modello operativo di prima applicazione (Manuale ad uso delle aziende).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617720"/>
            <a:ext cx="3291840" cy="502920"/>
          </a:xfrm>
          <a:prstGeom prst="rect">
            <a:avLst/>
          </a:prstGeom>
          <a:solidFill>
            <a:srgbClr val="FFFFFF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749040" y="4617720"/>
            <a:ext cx="84124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4617720"/>
            <a:ext cx="32004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Metodologia INAIL ed. 2017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94760" y="4617720"/>
            <a:ext cx="83210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AGGIORNAMENTO: revisione lista di controllo, validazione Q-IND, integrazione differenze di genere/eta'/provenienza.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5120640"/>
            <a:ext cx="3291840" cy="502920"/>
          </a:xfrm>
          <a:prstGeom prst="rect">
            <a:avLst/>
          </a:prstGeom>
          <a:solidFill>
            <a:srgbClr val="ECECEC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749040" y="5120640"/>
            <a:ext cx="8412480" cy="502920"/>
          </a:xfrm>
          <a:prstGeom prst="rect">
            <a:avLst/>
          </a:prstGeom>
          <a:solidFill>
            <a:srgbClr val="ECECEC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5120640"/>
            <a:ext cx="32004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D.M. 284/2000 - D.P.R. 90/2010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94760" y="5120640"/>
            <a:ext cx="83210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Applicazione del T.U. 81/08 al personale militare e civile della Difesa, con adattamenti.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05156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Indicazioni della Commissione Consultiva (17/11/2010)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51560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9A227"/>
                </a:solidFill>
                <a:latin typeface="Calibri"/>
              </a:rPr>
              <a:t>Percorso metodologico minimo - Lettera Circolare 23692/2010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Linee Guida INAIL - Stress Lavoro-Correlato | Arsenali Militari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565392"/>
            <a:ext cx="109728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Calibri"/>
              </a:rPr>
              <a:t>5 /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0B2E55"/>
                </a:solidFill>
                <a:latin typeface="Calibri"/>
              </a:rPr>
              <a:t>La valutazione si articola in DUE FASI: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91640"/>
            <a:ext cx="5486400" cy="4206240"/>
          </a:xfrm>
          <a:prstGeom prst="rect">
            <a:avLst/>
          </a:prstGeom>
          <a:solidFill>
            <a:srgbClr val="ECECEC"/>
          </a:solidFill>
          <a:ln>
            <a:solidFill>
              <a:srgbClr val="0B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5486400" cy="45720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691640"/>
            <a:ext cx="530352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FASE 1 - VALUTAZIONE PRELIMINARE (necessaria)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86000"/>
            <a:ext cx="5120640" cy="3566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Rilevazione di indicatori OGGETTIVI e VERIFICABILI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Tre famiglie di indicatori: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1) Eventi sentinella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2) Fattori di contenuto del lavoro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3) Fattori di contesto del lavoro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Coinvolgimento di Datore di Lavoro, RSPP, MC, RLS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Sentire i lavoratori e/o un campione rappresentativo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Esito: rischio NON RILEVANTE / MEDIO / ALTO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691640"/>
            <a:ext cx="5486400" cy="4206240"/>
          </a:xfrm>
          <a:prstGeom prst="rect">
            <a:avLst/>
          </a:prstGeom>
          <a:solidFill>
            <a:srgbClr val="ECECEC"/>
          </a:solidFill>
          <a:ln>
            <a:solidFill>
              <a:srgbClr val="0B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691640"/>
            <a:ext cx="5486400" cy="457200"/>
          </a:xfrm>
          <a:prstGeom prst="rect">
            <a:avLst/>
          </a:prstGeom>
          <a:solidFill>
            <a:srgbClr val="B3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691640"/>
            <a:ext cx="530352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FASE 2 - VALUTAZIONE APPROFONDITA (eventuale)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86000"/>
            <a:ext cx="5120640" cy="3566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Attivata SOLO se la fase preliminare evidenzia elementi di rischio e le misure correttive risultano inefficaci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Rilevazione della percezione soggettiva dei lavoratori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Strumenti: questionari, focus group, interviste semi-strutturate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Riferimento INAIL: Strumento Indicatore (Q-IND), versione italiana del HSE Indicator Tool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Nelle aziende con &lt; 5 lavoratori: riunioni con i lavoratori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Coinvolgimento del MC e dello psicologo del lavoro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Calibri"/>
              </a:rPr>
              <a:t>Riferimento: Lettera Circolare prot. 15/SEGR/0023692 del 18/11/2010 - Allegato 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05156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Metodologia INAIL: dal 2011 all'aggiornamento 2017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51560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9A227"/>
                </a:solidFill>
                <a:latin typeface="Calibri"/>
              </a:rPr>
              <a:t>Cosa cambia con la nuova edizione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Linee Guida INAIL - Stress Lavoro-Correlato | Arsenali Militari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565392"/>
            <a:ext cx="109728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Calibri"/>
              </a:rPr>
              <a:t>6 /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0B2E55"/>
                </a:solidFill>
                <a:latin typeface="Calibri"/>
              </a:rPr>
              <a:t>Le novita' introdotte dalla edizione 2017 della Metodologia INAIL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2377440" cy="640080"/>
          </a:xfrm>
          <a:prstGeom prst="rect">
            <a:avLst/>
          </a:prstGeom>
          <a:solidFill>
            <a:srgbClr val="0B2E55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554480"/>
            <a:ext cx="22860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Aspetto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34640" y="1554480"/>
            <a:ext cx="4206240" cy="640080"/>
          </a:xfrm>
          <a:prstGeom prst="rect">
            <a:avLst/>
          </a:prstGeom>
          <a:solidFill>
            <a:srgbClr val="0B2E55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0360" y="1554480"/>
            <a:ext cx="41148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Edizione 2011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0880" y="1554480"/>
            <a:ext cx="5120640" cy="640080"/>
          </a:xfrm>
          <a:prstGeom prst="rect">
            <a:avLst/>
          </a:prstGeom>
          <a:solidFill>
            <a:srgbClr val="0B2E55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86600" y="1554480"/>
            <a:ext cx="50292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Edizione 2017 (aggiornata)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194560"/>
            <a:ext cx="2377440" cy="640080"/>
          </a:xfrm>
          <a:prstGeom prst="rect">
            <a:avLst/>
          </a:prstGeom>
          <a:solidFill>
            <a:srgbClr val="FFFFFF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194560"/>
            <a:ext cx="22860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Lista di controllo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34640" y="2194560"/>
            <a:ext cx="4206240" cy="640080"/>
          </a:xfrm>
          <a:prstGeom prst="rect">
            <a:avLst/>
          </a:prstGeom>
          <a:solidFill>
            <a:srgbClr val="FFFFFF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80360" y="2194560"/>
            <a:ext cx="41148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35 indicatori - aree A/B/C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40880" y="2194560"/>
            <a:ext cx="5120640" cy="640080"/>
          </a:xfrm>
          <a:prstGeom prst="rect">
            <a:avLst/>
          </a:prstGeom>
          <a:solidFill>
            <a:srgbClr val="FFFFFF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86600" y="2194560"/>
            <a:ext cx="50292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Revisione/integrazione indicatori; maggiore aderenza al contesto organizzativo reale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834640"/>
            <a:ext cx="2377440" cy="640080"/>
          </a:xfrm>
          <a:prstGeom prst="rect">
            <a:avLst/>
          </a:prstGeom>
          <a:solidFill>
            <a:srgbClr val="ECECEC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2834640"/>
            <a:ext cx="22860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Differenze di genere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34640" y="2834640"/>
            <a:ext cx="4206240" cy="640080"/>
          </a:xfrm>
          <a:prstGeom prst="rect">
            <a:avLst/>
          </a:prstGeom>
          <a:solidFill>
            <a:srgbClr val="ECECEC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80360" y="2834640"/>
            <a:ext cx="41148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Non esplicitamente trattate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2834640"/>
            <a:ext cx="5120640" cy="640080"/>
          </a:xfrm>
          <a:prstGeom prst="rect">
            <a:avLst/>
          </a:prstGeom>
          <a:solidFill>
            <a:srgbClr val="ECECEC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86600" y="2834640"/>
            <a:ext cx="50292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Integrazione esplicita di genere, eta', provenienza, tipologia contrattuale (D.Lgs. 81/08 art. 28 c.1)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474720"/>
            <a:ext cx="2377440" cy="640080"/>
          </a:xfrm>
          <a:prstGeom prst="rect">
            <a:avLst/>
          </a:prstGeom>
          <a:solidFill>
            <a:srgbClr val="FFFFFF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3474720"/>
            <a:ext cx="22860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Strumento Indicatore (Q-IND)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34640" y="3474720"/>
            <a:ext cx="4206240" cy="640080"/>
          </a:xfrm>
          <a:prstGeom prst="rect">
            <a:avLst/>
          </a:prstGeom>
          <a:solidFill>
            <a:srgbClr val="FFFFFF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80360" y="3474720"/>
            <a:ext cx="41148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Adattamento del HSE Indicator Tool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40880" y="3474720"/>
            <a:ext cx="5120640" cy="640080"/>
          </a:xfrm>
          <a:prstGeom prst="rect">
            <a:avLst/>
          </a:prstGeom>
          <a:solidFill>
            <a:srgbClr val="FFFFFF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86600" y="3474720"/>
            <a:ext cx="50292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Versione validata INAIL su campione italiano; piattaforma online INAIL per somministrazione e analisi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114800"/>
            <a:ext cx="2377440" cy="640080"/>
          </a:xfrm>
          <a:prstGeom prst="rect">
            <a:avLst/>
          </a:prstGeom>
          <a:solidFill>
            <a:srgbClr val="ECECEC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4114800"/>
            <a:ext cx="22860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Coinvolgimento lavoratori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34640" y="4114800"/>
            <a:ext cx="4206240" cy="640080"/>
          </a:xfrm>
          <a:prstGeom prst="rect">
            <a:avLst/>
          </a:prstGeom>
          <a:solidFill>
            <a:srgbClr val="ECECEC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80360" y="4114800"/>
            <a:ext cx="41148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Genericamente previsto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040880" y="4114800"/>
            <a:ext cx="5120640" cy="640080"/>
          </a:xfrm>
          <a:prstGeom prst="rect">
            <a:avLst/>
          </a:prstGeom>
          <a:solidFill>
            <a:srgbClr val="ECECEC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86600" y="4114800"/>
            <a:ext cx="50292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Modalita' definite (focus group strutturati, partecipazione preposti)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4754880"/>
            <a:ext cx="2377440" cy="640080"/>
          </a:xfrm>
          <a:prstGeom prst="rect">
            <a:avLst/>
          </a:prstGeom>
          <a:solidFill>
            <a:srgbClr val="FFFFFF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4754880"/>
            <a:ext cx="22860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Gestione del rischio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34640" y="4754880"/>
            <a:ext cx="4206240" cy="640080"/>
          </a:xfrm>
          <a:prstGeom prst="rect">
            <a:avLst/>
          </a:prstGeom>
          <a:solidFill>
            <a:srgbClr val="FFFFFF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80360" y="4754880"/>
            <a:ext cx="41148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Misure correttive a valle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040880" y="4754880"/>
            <a:ext cx="5120640" cy="640080"/>
          </a:xfrm>
          <a:prstGeom prst="rect">
            <a:avLst/>
          </a:prstGeom>
          <a:solidFill>
            <a:srgbClr val="FFFFFF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086600" y="4754880"/>
            <a:ext cx="50292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Approccio gestionale ciclico (PDCA) - integrazione con SGSL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394960"/>
            <a:ext cx="2377440" cy="640080"/>
          </a:xfrm>
          <a:prstGeom prst="rect">
            <a:avLst/>
          </a:prstGeom>
          <a:solidFill>
            <a:srgbClr val="ECECEC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5394960"/>
            <a:ext cx="22860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Strumenti operativi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34640" y="5394960"/>
            <a:ext cx="4206240" cy="640080"/>
          </a:xfrm>
          <a:prstGeom prst="rect">
            <a:avLst/>
          </a:prstGeom>
          <a:solidFill>
            <a:srgbClr val="ECECEC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880360" y="5394960"/>
            <a:ext cx="41148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Manuale + foglio di calcolo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040880" y="5394960"/>
            <a:ext cx="5120640" cy="640080"/>
          </a:xfrm>
          <a:prstGeom prst="rect">
            <a:avLst/>
          </a:prstGeom>
          <a:solidFill>
            <a:srgbClr val="ECECEC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86600" y="5394960"/>
            <a:ext cx="50292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Piattaforma INAIL on-line + manuale aggiornato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05156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Architettura del processo valutativo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51560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9A227"/>
                </a:solidFill>
                <a:latin typeface="Calibri"/>
              </a:rPr>
              <a:t>Le quattro fasi della Metodologia INAIL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Linee Guida INAIL - Stress Lavoro-Correlato | Arsenali Militari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565392"/>
            <a:ext cx="109728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Calibri"/>
              </a:rPr>
              <a:t>7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71600"/>
            <a:ext cx="2743200" cy="3840480"/>
          </a:xfrm>
          <a:prstGeom prst="rect">
            <a:avLst/>
          </a:prstGeom>
          <a:solidFill>
            <a:srgbClr val="ECECEC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371600"/>
            <a:ext cx="2743200" cy="100584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417320"/>
            <a:ext cx="25603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FASE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PROPEDEUTICA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2468880" cy="2560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Costituzione Gruppo di Gestione della Valutazione (GGV);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definizione dei gruppi omogenei;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attivita' di sensibilizzazione.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6120" y="1371600"/>
            <a:ext cx="2743200" cy="3840480"/>
          </a:xfrm>
          <a:prstGeom prst="rect">
            <a:avLst/>
          </a:prstGeom>
          <a:solidFill>
            <a:srgbClr val="ECECEC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46120" y="1371600"/>
            <a:ext cx="2743200" cy="10058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417320"/>
            <a:ext cx="25603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VALUTAZIONE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PRELIMINARE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514600"/>
            <a:ext cx="2468880" cy="2560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Lista di controllo: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Eventi sentinella + Contenuto + Contesto.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Esito: NON RILEVANTE / MEDIO / ALTO.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371600"/>
            <a:ext cx="2743200" cy="3840480"/>
          </a:xfrm>
          <a:prstGeom prst="rect">
            <a:avLst/>
          </a:prstGeom>
          <a:solidFill>
            <a:srgbClr val="ECECEC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371600"/>
            <a:ext cx="2743200" cy="10058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1417320"/>
            <a:ext cx="25603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PIANO DI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AZIONE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514600"/>
            <a:ext cx="2468880" cy="2560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Definizione e attuazione delle misure correttive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tecniche, organizzative, procedurali, formative.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06840" y="1371600"/>
            <a:ext cx="2743200" cy="3840480"/>
          </a:xfrm>
          <a:prstGeom prst="rect">
            <a:avLst/>
          </a:prstGeom>
          <a:solidFill>
            <a:srgbClr val="ECECEC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06840" y="1371600"/>
            <a:ext cx="2743200" cy="1005840"/>
          </a:xfrm>
          <a:prstGeom prst="rect">
            <a:avLst/>
          </a:prstGeom>
          <a:solidFill>
            <a:srgbClr val="B3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98280" y="1417320"/>
            <a:ext cx="25603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VALUTAZIONE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APPROFONDITA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2514600"/>
            <a:ext cx="2468880" cy="2560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(Eventuale) Q-IND, focus group, interviste.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Coinvolgimento Medico Competente.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39496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0B2E55"/>
                </a:solidFill>
                <a:latin typeface="Calibri"/>
              </a:rPr>
              <a:t>MONITORAGGIO E RIESAME - Riesame periodico ed in occasione di mutamenti organizzativi significativi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  <a:latin typeface="Calibri"/>
              </a:rPr>
              <a:t>Approccio ciclico (PDCA) coerente con il Sistema di Gestione della Sicurezza sul Lavoro (UNI ISO 45001 - art. 30 D.Lgs. 81/08)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05156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Fase propedeutica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51560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9A227"/>
                </a:solidFill>
                <a:latin typeface="Calibri"/>
              </a:rPr>
              <a:t>Pianificazione, partecipazione, gruppi omogenei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Linee Guida INAIL - Stress Lavoro-Correlato | Arsenali Militari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565392"/>
            <a:ext cx="109728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Calibri"/>
              </a:rPr>
              <a:t>8 /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51560"/>
            <a:ext cx="56692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0B2E55"/>
                </a:solidFill>
                <a:latin typeface="Calibri"/>
              </a:rPr>
              <a:t>1) Costituzione del GGV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63040"/>
            <a:ext cx="548640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Datore di Lavoro o suo delegato (presiede)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RSPP / ASPP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Medico Competente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RLS / RLST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Eventuale consulente esperto (psicologo del lavoro)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Per gli arsenali: Direttore di Stabilimento, Capi Reparto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520440"/>
            <a:ext cx="56692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0B2E55"/>
                </a:solidFill>
                <a:latin typeface="Calibri"/>
              </a:rPr>
              <a:t>2) Definizione dei gruppi omogenei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31920"/>
            <a:ext cx="5486400" cy="2468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Per mansione/lavorazione (es. saldatori carpenteria navale)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Per partizione organizzativa (es. Officina Motori)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Per turnazione (es. squadre H24 banchina)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Tenere conto di genere, eta', anzianita' di servizio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05156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0B2E55"/>
                </a:solidFill>
                <a:latin typeface="Calibri"/>
              </a:rPr>
              <a:t>3) Strategia di comunicazione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463040"/>
            <a:ext cx="530352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Informativa preventiva al personale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Coinvolgimento RLS e Organizzazioni Sindacali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Tutela della riservatezza dei dati (Reg. UE 679/2016)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Pubblicazione esiti in forma aggregata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52044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0B2E55"/>
                </a:solidFill>
                <a:latin typeface="Calibri"/>
              </a:rPr>
              <a:t>4) Cronoprogramma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931920"/>
            <a:ext cx="5303520" cy="2468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Avvio entro 30 gg dalla nomina del GGV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Conclusione fase preliminare entro 90 gg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Revisione almeno biennale o al mutare delle condizioni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Aggiornamento immediato in caso di evento sentinella critico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05156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Valutazione preliminare - Area A: Eventi sentinella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51560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9A227"/>
                </a:solidFill>
                <a:latin typeface="Calibri"/>
              </a:rPr>
              <a:t>Indicatori oggettivi - dati consuntivi triennali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Linee Guida INAIL - Stress Lavoro-Correlato | Arsenali Militari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565392"/>
            <a:ext cx="109728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Calibri"/>
              </a:rPr>
              <a:t>9 /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Calibri"/>
              </a:rPr>
              <a:t>Si confronta l'andamento del triennio con i due trienni precedenti (variazione % per gruppo omogeneo)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91640"/>
            <a:ext cx="2788920" cy="777240"/>
          </a:xfrm>
          <a:prstGeom prst="rect">
            <a:avLst/>
          </a:prstGeom>
          <a:solidFill>
            <a:srgbClr val="ECECEC"/>
          </a:solidFill>
          <a:ln>
            <a:solidFill>
              <a:srgbClr val="0B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26060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1A1A1A"/>
                </a:solidFill>
                <a:latin typeface="Calibri"/>
              </a:rPr>
              <a:t>Indici infortunistici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1691640"/>
            <a:ext cx="2788920" cy="777240"/>
          </a:xfrm>
          <a:prstGeom prst="rect">
            <a:avLst/>
          </a:prstGeom>
          <a:solidFill>
            <a:srgbClr val="ECECEC"/>
          </a:solidFill>
          <a:ln>
            <a:solidFill>
              <a:srgbClr val="0B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691640"/>
            <a:ext cx="26060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1A1A1A"/>
                </a:solidFill>
                <a:latin typeface="Calibri"/>
              </a:rPr>
              <a:t>Assenze per malattia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691640"/>
            <a:ext cx="2788920" cy="777240"/>
          </a:xfrm>
          <a:prstGeom prst="rect">
            <a:avLst/>
          </a:prstGeom>
          <a:solidFill>
            <a:srgbClr val="ECECEC"/>
          </a:solidFill>
          <a:ln>
            <a:solidFill>
              <a:srgbClr val="0B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1691640"/>
            <a:ext cx="26060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1A1A1A"/>
                </a:solidFill>
                <a:latin typeface="Calibri"/>
              </a:rPr>
              <a:t>Assenze dal lavoro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61120" y="1691640"/>
            <a:ext cx="2788920" cy="777240"/>
          </a:xfrm>
          <a:prstGeom prst="rect">
            <a:avLst/>
          </a:prstGeom>
          <a:solidFill>
            <a:srgbClr val="ECECEC"/>
          </a:solidFill>
          <a:ln>
            <a:solidFill>
              <a:srgbClr val="0B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60" y="1691640"/>
            <a:ext cx="26060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1A1A1A"/>
                </a:solidFill>
                <a:latin typeface="Calibri"/>
              </a:rPr>
              <a:t>Ferie non godute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560320"/>
            <a:ext cx="2788920" cy="777240"/>
          </a:xfrm>
          <a:prstGeom prst="rect">
            <a:avLst/>
          </a:prstGeom>
          <a:solidFill>
            <a:srgbClr val="ECECEC"/>
          </a:solidFill>
          <a:ln>
            <a:solidFill>
              <a:srgbClr val="0B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560320"/>
            <a:ext cx="26060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1A1A1A"/>
                </a:solidFill>
                <a:latin typeface="Calibri"/>
              </a:rPr>
              <a:t>Rotazione del personale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91840" y="2560320"/>
            <a:ext cx="2788920" cy="777240"/>
          </a:xfrm>
          <a:prstGeom prst="rect">
            <a:avLst/>
          </a:prstGeom>
          <a:solidFill>
            <a:srgbClr val="ECECEC"/>
          </a:solidFill>
          <a:ln>
            <a:solidFill>
              <a:srgbClr val="0B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83280" y="2560320"/>
            <a:ext cx="26060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1A1A1A"/>
                </a:solidFill>
                <a:latin typeface="Calibri"/>
              </a:rPr>
              <a:t>Turnover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2560320"/>
            <a:ext cx="2788920" cy="777240"/>
          </a:xfrm>
          <a:prstGeom prst="rect">
            <a:avLst/>
          </a:prstGeom>
          <a:solidFill>
            <a:srgbClr val="ECECEC"/>
          </a:solidFill>
          <a:ln>
            <a:solidFill>
              <a:srgbClr val="0B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2560320"/>
            <a:ext cx="26060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1A1A1A"/>
                </a:solidFill>
                <a:latin typeface="Calibri"/>
              </a:rPr>
              <a:t>Procedimenti / sanzioni disciplinari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61120" y="2560320"/>
            <a:ext cx="2788920" cy="777240"/>
          </a:xfrm>
          <a:prstGeom prst="rect">
            <a:avLst/>
          </a:prstGeom>
          <a:solidFill>
            <a:srgbClr val="ECECEC"/>
          </a:solidFill>
          <a:ln>
            <a:solidFill>
              <a:srgbClr val="0B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52560" y="2560320"/>
            <a:ext cx="26060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1A1A1A"/>
                </a:solidFill>
                <a:latin typeface="Calibri"/>
              </a:rPr>
              <a:t>Richieste di visita medica straordinaria al MC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429000"/>
            <a:ext cx="2788920" cy="777240"/>
          </a:xfrm>
          <a:prstGeom prst="rect">
            <a:avLst/>
          </a:prstGeom>
          <a:solidFill>
            <a:srgbClr val="ECECEC"/>
          </a:solidFill>
          <a:ln>
            <a:solidFill>
              <a:srgbClr val="0B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429000"/>
            <a:ext cx="26060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1A1A1A"/>
                </a:solidFill>
                <a:latin typeface="Calibri"/>
              </a:rPr>
              <a:t>Segnalazioni del MC su condizioni di stress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91840" y="3429000"/>
            <a:ext cx="2788920" cy="777240"/>
          </a:xfrm>
          <a:prstGeom prst="rect">
            <a:avLst/>
          </a:prstGeom>
          <a:solidFill>
            <a:srgbClr val="ECECEC"/>
          </a:solidFill>
          <a:ln>
            <a:solidFill>
              <a:srgbClr val="0B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83280" y="3429000"/>
            <a:ext cx="26060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1A1A1A"/>
                </a:solidFill>
                <a:latin typeface="Calibri"/>
              </a:rPr>
              <a:t>Istanze giudiziarie per molestie/mobbing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846320"/>
            <a:ext cx="11247120" cy="1554480"/>
          </a:xfrm>
          <a:prstGeom prst="rect">
            <a:avLst/>
          </a:prstGeom>
          <a:solidFill>
            <a:srgbClr val="ECECEC"/>
          </a:solidFill>
          <a:ln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93776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0B2E55"/>
                </a:solidFill>
                <a:latin typeface="Calibri"/>
              </a:rPr>
              <a:t>Modalita' di valutazione (Metodologia INAIL):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257800"/>
            <a:ext cx="10972800" cy="1188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Per ciascun indicatore: 0 punti se diminuisce/stabile, 1 punto se aumenta entro soglia, 4 punti se aumento &gt; 10%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Somma dei punteggi -&gt; punteggio dell'Area A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Eventi sentinella attribuibili al gruppo omogeneo, NON al singolo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05156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Valutazione preliminare - Area B: Contenuto del lavoro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51560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9A227"/>
                </a:solidFill>
                <a:latin typeface="Calibri"/>
              </a:rPr>
              <a:t>Fattori legati alle caratteristiche tecniche e operative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Linee Guida INAIL - Stress Lavoro-Correlato | Arsenali Militari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565392"/>
            <a:ext cx="109728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Calibri"/>
              </a:rPr>
              <a:t>10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5669280" cy="2468880"/>
          </a:xfrm>
          <a:prstGeom prst="rect">
            <a:avLst/>
          </a:prstGeom>
          <a:solidFill>
            <a:srgbClr val="ECECEC"/>
          </a:solidFill>
          <a:ln>
            <a:solidFill>
              <a:srgbClr val="0B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097280"/>
            <a:ext cx="5669280" cy="6400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97280"/>
            <a:ext cx="539496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Ambiente di lavoro</a:t>
            </a:r>
          </a:p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ed attrezzature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783080"/>
            <a:ext cx="5394960" cy="1691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Esposizione a rumore, vibrazioni, microclima, illuminazione, agenti chimici/cancerogeni, spazi confinati, lavori in quota; adeguatezza dei DPI; manutenzione attrezzature.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097280"/>
            <a:ext cx="5669280" cy="2468880"/>
          </a:xfrm>
          <a:prstGeom prst="rect">
            <a:avLst/>
          </a:prstGeom>
          <a:solidFill>
            <a:srgbClr val="ECECEC"/>
          </a:solidFill>
          <a:ln>
            <a:solidFill>
              <a:srgbClr val="0B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097280"/>
            <a:ext cx="5669280" cy="6400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097280"/>
            <a:ext cx="539496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Pianificazione</a:t>
            </a:r>
          </a:p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dei compiti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1783080"/>
            <a:ext cx="5394960" cy="1691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Adeguatezza dei compiti rispetto alle competenze; carenze nella definizione di mansioni e procedure; lavoro frammentato o ripetitivo.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657600"/>
            <a:ext cx="5669280" cy="2468880"/>
          </a:xfrm>
          <a:prstGeom prst="rect">
            <a:avLst/>
          </a:prstGeom>
          <a:solidFill>
            <a:srgbClr val="ECECEC"/>
          </a:solidFill>
          <a:ln>
            <a:solidFill>
              <a:srgbClr val="0B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657600"/>
            <a:ext cx="5669280" cy="6400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657600"/>
            <a:ext cx="539496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Carico - Ritmo</a:t>
            </a:r>
          </a:p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di lavoro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343400"/>
            <a:ext cx="5394960" cy="1691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Sovraccarico/sottocarico; pressione temporale; scadenze rigide (es. consegna unita' navale); ritmi imposti da macchine.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3657600"/>
            <a:ext cx="5669280" cy="2468880"/>
          </a:xfrm>
          <a:prstGeom prst="rect">
            <a:avLst/>
          </a:prstGeom>
          <a:solidFill>
            <a:srgbClr val="ECECEC"/>
          </a:solidFill>
          <a:ln>
            <a:solidFill>
              <a:srgbClr val="0B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3657600"/>
            <a:ext cx="5669280" cy="6400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3657600"/>
            <a:ext cx="539496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Orario di lavoro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4343400"/>
            <a:ext cx="5394960" cy="1691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Turnazione; lavoro notturno; reperibilita'; straordinari frequenti; mancanza di flessibilita'; lavoro in giorni festivi.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Calibri"/>
              </a:rPr>
              <a:t>Riferimento: Lista di controllo INAIL ed. 2017 - indicatori organizzativi verificabili.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05156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Valutazione preliminare - Area C: Contesto del lavoro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51560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9A227"/>
                </a:solidFill>
                <a:latin typeface="Calibri"/>
              </a:rPr>
              <a:t>Fattori organizzativi, relazionali, gestionali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Linee Guida INAIL - Stress Lavoro-Correlato | Arsenali Militari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565392"/>
            <a:ext cx="109728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Calibri"/>
              </a:rPr>
              <a:t>11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51560"/>
            <a:ext cx="3749039" cy="1691640"/>
          </a:xfrm>
          <a:prstGeom prst="rect">
            <a:avLst/>
          </a:prstGeom>
          <a:solidFill>
            <a:srgbClr val="ECECEC"/>
          </a:solidFill>
          <a:ln>
            <a:solidFill>
              <a:srgbClr val="0B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051560"/>
            <a:ext cx="3749039" cy="54864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051560"/>
            <a:ext cx="3566159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Funzione e cultura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organizzativa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645920"/>
            <a:ext cx="3566159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Chiarezza degli obiettivi; sistema di comunicazione interna; coerenza tra dichiarato e agito; codice etico/disciplinare.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7" y="1051560"/>
            <a:ext cx="3749039" cy="1691640"/>
          </a:xfrm>
          <a:prstGeom prst="rect">
            <a:avLst/>
          </a:prstGeom>
          <a:solidFill>
            <a:srgbClr val="ECECEC"/>
          </a:solidFill>
          <a:ln>
            <a:solidFill>
              <a:srgbClr val="0B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7" y="1051560"/>
            <a:ext cx="3749039" cy="54864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61687" y="1051560"/>
            <a:ext cx="3566159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Ruolo nell'ambito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dell'organizzazione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1687" y="1645920"/>
            <a:ext cx="3566159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Conflitto di ruolo; ambiguita' di ruolo; sovrapposizione gerarchica civile/militare tipica degli arsenali.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83294" y="1051560"/>
            <a:ext cx="3749039" cy="1691640"/>
          </a:xfrm>
          <a:prstGeom prst="rect">
            <a:avLst/>
          </a:prstGeom>
          <a:solidFill>
            <a:srgbClr val="ECECEC"/>
          </a:solidFill>
          <a:ln>
            <a:solidFill>
              <a:srgbClr val="0B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83294" y="1051560"/>
            <a:ext cx="3749039" cy="54864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74734" y="1051560"/>
            <a:ext cx="3566159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Evoluzione della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carriera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4734" y="1645920"/>
            <a:ext cx="3566159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Trasparenza percorsi di sviluppo; sistema premiante; mobilita' interna; precarieta' del rapporto di lavoro.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834640"/>
            <a:ext cx="3749039" cy="1691640"/>
          </a:xfrm>
          <a:prstGeom prst="rect">
            <a:avLst/>
          </a:prstGeom>
          <a:solidFill>
            <a:srgbClr val="ECECEC"/>
          </a:solidFill>
          <a:ln>
            <a:solidFill>
              <a:srgbClr val="0B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2834640"/>
            <a:ext cx="3749039" cy="54864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834640"/>
            <a:ext cx="3566159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Autonomia decisionale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- Controllo del lavoro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429000"/>
            <a:ext cx="3566159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Margini di autonomia operativa; partecipazione alle decisioni; rigidita' delle procedure.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70247" y="2834640"/>
            <a:ext cx="3749039" cy="1691640"/>
          </a:xfrm>
          <a:prstGeom prst="rect">
            <a:avLst/>
          </a:prstGeom>
          <a:solidFill>
            <a:srgbClr val="ECECEC"/>
          </a:solidFill>
          <a:ln>
            <a:solidFill>
              <a:srgbClr val="0B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70247" y="2834640"/>
            <a:ext cx="3749039" cy="54864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61687" y="2834640"/>
            <a:ext cx="3566159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Rapporti interpersonali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sul lavoro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61687" y="3429000"/>
            <a:ext cx="3566159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Qualita' delle relazioni con colleghi e superiori; presenza di conflitti; supporto sociale.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4" y="2834640"/>
            <a:ext cx="3749039" cy="1691640"/>
          </a:xfrm>
          <a:prstGeom prst="rect">
            <a:avLst/>
          </a:prstGeom>
          <a:solidFill>
            <a:srgbClr val="ECECEC"/>
          </a:solidFill>
          <a:ln>
            <a:solidFill>
              <a:srgbClr val="0B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83294" y="2834640"/>
            <a:ext cx="3749039" cy="54864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74734" y="2834640"/>
            <a:ext cx="3566159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Interfaccia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casa-lavoro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74734" y="3429000"/>
            <a:ext cx="3566159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Conciliazione tempi di vita/lavoro; pendolarismo; impatto delle turnazioni sulla vita familiare.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663440"/>
            <a:ext cx="11247120" cy="1691640"/>
          </a:xfrm>
          <a:prstGeom prst="rect">
            <a:avLst/>
          </a:prstGeom>
          <a:solidFill>
            <a:srgbClr val="ECECEC"/>
          </a:solidFill>
          <a:ln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75488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0B2E55"/>
                </a:solidFill>
                <a:latin typeface="Calibri"/>
              </a:rPr>
              <a:t>Specificita' del contesto militare: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074920"/>
            <a:ext cx="10972800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  <a:latin typeface="Calibri"/>
              </a:rPr>
              <a:t>• Compresenza di personale militare (ordinamento gerarchico) e civile (CCNL Funzioni Centrali) - potenziali tensioni di ruolo e di trattamento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  <a:latin typeface="Calibri"/>
              </a:rPr>
              <a:t>• Vincoli operativi connessi alle esigenze di prontezza operativa e segretezza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  <a:latin typeface="Calibri"/>
              </a:rPr>
              <a:t>• Mobilita' del personale militare per esigenze di servizio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  <a:latin typeface="Calibri"/>
              </a:rPr>
              <a:t>• Doppia catena di comando: gerarchica militare e tecnico-funzionale in ambito SPP (art. 31 D.Lgs. 81/08)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05156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Lista di controllo - Punteggi e fasce di rischio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51560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9A227"/>
                </a:solidFill>
                <a:latin typeface="Calibri"/>
              </a:rPr>
              <a:t>Esito della valutazione preliminare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Linee Guida INAIL - Stress Lavoro-Correlato | Arsenali Militari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565392"/>
            <a:ext cx="109728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Calibri"/>
              </a:rPr>
              <a:t>12 /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Aggregazione dei punteggi nelle tre Aree (A, B, C) e attribuzione del livello di rischio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91640"/>
            <a:ext cx="2377440" cy="914400"/>
          </a:xfrm>
          <a:prstGeom prst="rect">
            <a:avLst/>
          </a:prstGeom>
          <a:solidFill>
            <a:srgbClr val="0B2E55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219456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Fascia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34640" y="1691640"/>
            <a:ext cx="2743200" cy="914400"/>
          </a:xfrm>
          <a:prstGeom prst="rect">
            <a:avLst/>
          </a:prstGeom>
          <a:solidFill>
            <a:srgbClr val="0B2E55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0" y="1691640"/>
            <a:ext cx="25603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Punteggio totale (% sul max)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77840" y="1691640"/>
            <a:ext cx="6583680" cy="914400"/>
          </a:xfrm>
          <a:prstGeom prst="rect">
            <a:avLst/>
          </a:prstGeom>
          <a:solidFill>
            <a:srgbClr val="0B2E55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1691640"/>
            <a:ext cx="640080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Conseguenze operative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606040"/>
            <a:ext cx="2377440" cy="914400"/>
          </a:xfrm>
          <a:prstGeom prst="rect">
            <a:avLst/>
          </a:prstGeom>
          <a:solidFill>
            <a:srgbClr val="2E7D32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606040"/>
            <a:ext cx="219456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RISCHIO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NON RILEVANTE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34640" y="2606040"/>
            <a:ext cx="2743200" cy="914400"/>
          </a:xfrm>
          <a:prstGeom prst="rect">
            <a:avLst/>
          </a:prstGeom>
          <a:solidFill>
            <a:srgbClr val="FFFFFF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26080" y="2606040"/>
            <a:ext cx="25603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0% - 25%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77840" y="2606040"/>
            <a:ext cx="6583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0" y="2606040"/>
            <a:ext cx="640080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Monitoraggio biennale; non sono richieste misure correttive.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520440"/>
            <a:ext cx="2377440" cy="914400"/>
          </a:xfrm>
          <a:prstGeom prst="rect">
            <a:avLst/>
          </a:prstGeom>
          <a:solidFill>
            <a:srgbClr val="F9A825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520440"/>
            <a:ext cx="219456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1A1A1A"/>
                </a:solidFill>
                <a:latin typeface="Calibri"/>
              </a:rPr>
              <a:t>RISCHIO</a:t>
            </a:r>
          </a:p>
          <a:p>
            <a:pPr algn="ctr"/>
            <a:r>
              <a:rPr sz="1200" b="1">
                <a:solidFill>
                  <a:srgbClr val="1A1A1A"/>
                </a:solidFill>
                <a:latin typeface="Calibri"/>
              </a:rPr>
              <a:t>MEDIO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34640" y="3520440"/>
            <a:ext cx="2743200" cy="914400"/>
          </a:xfrm>
          <a:prstGeom prst="rect">
            <a:avLst/>
          </a:prstGeom>
          <a:solidFill>
            <a:srgbClr val="ECECEC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26080" y="3520440"/>
            <a:ext cx="25603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25% - 50%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77840" y="3520440"/>
            <a:ext cx="6583680" cy="914400"/>
          </a:xfrm>
          <a:prstGeom prst="rect">
            <a:avLst/>
          </a:prstGeom>
          <a:solidFill>
            <a:srgbClr val="ECECEC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0" y="3520440"/>
            <a:ext cx="640080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Adozione di misure correttive (organizzative, formative, comunicative); verifica di efficacia entro 12 mesi.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434840"/>
            <a:ext cx="2377440" cy="914400"/>
          </a:xfrm>
          <a:prstGeom prst="rect">
            <a:avLst/>
          </a:prstGeom>
          <a:solidFill>
            <a:srgbClr val="B31B1B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434840"/>
            <a:ext cx="219456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RISCHIO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ALTO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34640" y="4434840"/>
            <a:ext cx="2743200" cy="914400"/>
          </a:xfrm>
          <a:prstGeom prst="rect">
            <a:avLst/>
          </a:prstGeom>
          <a:solidFill>
            <a:srgbClr val="FFFFFF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26080" y="4434840"/>
            <a:ext cx="25603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&gt; 50%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77840" y="4434840"/>
            <a:ext cx="6583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0" y="4434840"/>
            <a:ext cx="640080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Misure correttive immediate + Valutazione approfondita (Fase 2) entro tempi congrui.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486400"/>
            <a:ext cx="1124712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Le soglie di calcolo derivano dall'algoritmo della Metodologia INAIL (Manuale ed. 2017): la somma dei punteggi delle Aree A, B e C viene rapportata al massimo teorico, con pesi differenziati per Area. L'esito alimenta direttamente la sezione "Stress lavoro-correlato" del DVR.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05156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Valutazione approfondita (Fase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51560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9A227"/>
                </a:solidFill>
                <a:latin typeface="Calibri"/>
              </a:rPr>
              <a:t>Quando, come, con quali strumenti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Linee Guida INAIL - Stress Lavoro-Correlato | Arsenali Militari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565392"/>
            <a:ext cx="109728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Calibri"/>
              </a:rPr>
              <a:t>13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51560"/>
            <a:ext cx="11247120" cy="960120"/>
          </a:xfrm>
          <a:prstGeom prst="rect">
            <a:avLst/>
          </a:prstGeom>
          <a:solidFill>
            <a:srgbClr val="ECECEC"/>
          </a:solidFill>
          <a:ln>
            <a:solidFill>
              <a:srgbClr val="B3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097280"/>
            <a:ext cx="10972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B31B1B"/>
                </a:solidFill>
                <a:latin typeface="Calibri"/>
              </a:rPr>
              <a:t>QUANDO si attiva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Esclusivamente quando la fase preliminare evidenzia rischio ALTO oppure quando le misure correttive adottate non si rivelano efficaci entro i tempi pianificati.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28600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0B2E55"/>
                </a:solidFill>
                <a:latin typeface="Calibri"/>
              </a:rPr>
              <a:t>Strumenti privilegiati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697480"/>
            <a:ext cx="5394960" cy="3474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Calibri"/>
              </a:rPr>
              <a:t>• Q-IND (Strumento Indicatore INAIL):</a:t>
            </a:r>
            <a:r>
              <a:rPr sz="1200">
                <a:solidFill>
                  <a:srgbClr val="1A1A1A"/>
                </a:solidFill>
                <a:latin typeface="Calibri"/>
              </a:rPr>
              <a:t> questionario validato derivato dal HSE Indicator Tool, 35 item su 7 dimensioni (Domanda, Controllo, Supporto dei superiori, Supporto dei colleghi, Relazioni, Ruolo, Cambiamento).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Calibri"/>
              </a:rPr>
              <a:t>• Focus group:</a:t>
            </a:r>
            <a:r>
              <a:rPr sz="1200">
                <a:solidFill>
                  <a:srgbClr val="1A1A1A"/>
                </a:solidFill>
                <a:latin typeface="Calibri"/>
              </a:rPr>
              <a:t> gruppi di 6-10 lavoratori per gruppo omogeneo, condotti da facilitatore esperto.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Calibri"/>
              </a:rPr>
              <a:t>• Interviste semi-strutturate:</a:t>
            </a:r>
            <a:r>
              <a:rPr sz="1200">
                <a:solidFill>
                  <a:srgbClr val="1A1A1A"/>
                </a:solidFill>
                <a:latin typeface="Calibri"/>
              </a:rPr>
              <a:t> per gruppi ridotti o per posizioni dirigenziali.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28600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0B2E55"/>
                </a:solidFill>
                <a:latin typeface="Calibri"/>
              </a:rPr>
              <a:t>Requisiti procedurali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697480"/>
            <a:ext cx="5394960" cy="3474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Tutela dell'anonimato dei rispondenti (Reg. UE 679/2016 - GDPR)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Soglia minima di adesione per significativita' statistica (consigliato &gt;= 60% del gruppo omogeneo)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Coinvolgimento attivo del Medico Competente (artt. 25 e 41 D.Lgs. 81/08)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Restituzione degli esiti aggregati a tutti i lavoratori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Per imprese &lt; 5 lavoratori: riunioni dirette in luogo dei questionari (Indicazioni CCP 2010)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05156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Strumento Indicatore (Q-IND)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51560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9A227"/>
                </a:solidFill>
                <a:latin typeface="Calibri"/>
              </a:rPr>
              <a:t>Le 7 dimensioni HSE - traduzione e validazione INAIL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Linee Guida INAIL - Stress Lavoro-Correlato | Arsenali Militari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565392"/>
            <a:ext cx="109728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Calibri"/>
              </a:rPr>
              <a:t>14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1828800" cy="64008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0" y="1097280"/>
            <a:ext cx="3749040" cy="640080"/>
          </a:xfrm>
          <a:prstGeom prst="rect">
            <a:avLst/>
          </a:prstGeom>
          <a:solidFill>
            <a:srgbClr val="ECECEC"/>
          </a:solidFill>
          <a:ln>
            <a:solidFill>
              <a:srgbClr val="0B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097280"/>
            <a:ext cx="178308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DOMANDA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19" y="1097280"/>
            <a:ext cx="36576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Carico di lavoro, ritmi, ore di lavoro, ambiente fisico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097280"/>
            <a:ext cx="1828800" cy="64008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55280" y="1097280"/>
            <a:ext cx="3749040" cy="640080"/>
          </a:xfrm>
          <a:prstGeom prst="rect">
            <a:avLst/>
          </a:prstGeom>
          <a:solidFill>
            <a:srgbClr val="ECECEC"/>
          </a:solidFill>
          <a:ln>
            <a:solidFill>
              <a:srgbClr val="0B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1097280"/>
            <a:ext cx="178308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CONTROLLO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0999" y="1097280"/>
            <a:ext cx="36576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Margine di autonomia decisionale del lavoratore sui propri compiti e tempi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1828800"/>
            <a:ext cx="1828800" cy="64008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286000" y="1828800"/>
            <a:ext cx="3749040" cy="640080"/>
          </a:xfrm>
          <a:prstGeom prst="rect">
            <a:avLst/>
          </a:prstGeom>
          <a:solidFill>
            <a:srgbClr val="ECECEC"/>
          </a:solidFill>
          <a:ln>
            <a:solidFill>
              <a:srgbClr val="0B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1828800"/>
            <a:ext cx="178308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SUPPORTO DEI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SUPERIORI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19" y="1828800"/>
            <a:ext cx="36576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Sostegno informativo, organizzativo, emotivo da parte dei responsabili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1828800"/>
            <a:ext cx="1828800" cy="64008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55280" y="1828800"/>
            <a:ext cx="3749040" cy="640080"/>
          </a:xfrm>
          <a:prstGeom prst="rect">
            <a:avLst/>
          </a:prstGeom>
          <a:solidFill>
            <a:srgbClr val="ECECEC"/>
          </a:solidFill>
          <a:ln>
            <a:solidFill>
              <a:srgbClr val="0B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0" y="1828800"/>
            <a:ext cx="178308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SUPPORTO DEI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COLLEGHI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0999" y="1828800"/>
            <a:ext cx="36576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Aiuto e collaborazione tra colleghi nel medesimo gruppo omogeneo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560320"/>
            <a:ext cx="1828800" cy="64008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86000" y="2560320"/>
            <a:ext cx="3749040" cy="640080"/>
          </a:xfrm>
          <a:prstGeom prst="rect">
            <a:avLst/>
          </a:prstGeom>
          <a:solidFill>
            <a:srgbClr val="ECECEC"/>
          </a:solidFill>
          <a:ln>
            <a:solidFill>
              <a:srgbClr val="0B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2560320"/>
            <a:ext cx="178308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RELAZIONI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31719" y="2560320"/>
            <a:ext cx="36576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Qualita' delle relazioni interpersonali; presenza di conflitti o comportamenti inaccettabili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2560320"/>
            <a:ext cx="1828800" cy="64008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955280" y="2560320"/>
            <a:ext cx="3749040" cy="640080"/>
          </a:xfrm>
          <a:prstGeom prst="rect">
            <a:avLst/>
          </a:prstGeom>
          <a:solidFill>
            <a:srgbClr val="ECECEC"/>
          </a:solidFill>
          <a:ln>
            <a:solidFill>
              <a:srgbClr val="0B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2200" y="2560320"/>
            <a:ext cx="178308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RUOLO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0999" y="2560320"/>
            <a:ext cx="36576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Chiarezza del ruolo, compatibilita' fra i compiti, conflitti di ruolo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06927" y="3291840"/>
            <a:ext cx="1828800" cy="64008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135727" y="3291840"/>
            <a:ext cx="3749040" cy="640080"/>
          </a:xfrm>
          <a:prstGeom prst="rect">
            <a:avLst/>
          </a:prstGeom>
          <a:solidFill>
            <a:srgbClr val="ECECEC"/>
          </a:solidFill>
          <a:ln>
            <a:solidFill>
              <a:srgbClr val="0B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52647" y="3291840"/>
            <a:ext cx="178308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CAMBIAMENTO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81446" y="3291840"/>
            <a:ext cx="36576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Modalita' di gestione e comunicazione dei cambiamenti organizzativi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754880"/>
            <a:ext cx="11247120" cy="1554480"/>
          </a:xfrm>
          <a:prstGeom prst="rect">
            <a:avLst/>
          </a:prstGeom>
          <a:solidFill>
            <a:srgbClr val="ECECEC"/>
          </a:solidFill>
          <a:ln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484632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0B2E55"/>
                </a:solidFill>
                <a:latin typeface="Calibri"/>
              </a:rPr>
              <a:t>Esito del Q-IND - rappresentazione "a semaforo" per dimensione: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5212080"/>
            <a:ext cx="1097280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VERDE: situazione adeguata - mantenere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GIALLO: necessitano interventi di miglioramento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ARANCIONE/ROSSO: necessita' di azioni correttive prioritarie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05156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Pianificazione delle misure correttive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51560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9A227"/>
                </a:solidFill>
                <a:latin typeface="Calibri"/>
              </a:rPr>
              <a:t>Dalla valutazione all'azione di prevenzione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Linee Guida INAIL - Stress Lavoro-Correlato | Arsenali Militari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565392"/>
            <a:ext cx="109728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Calibri"/>
              </a:rPr>
              <a:t>15 /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0B2E55"/>
                </a:solidFill>
                <a:latin typeface="Calibri"/>
              </a:rPr>
              <a:t>Tassonomia delle misure (gerarchia dei controlli - art. 15 D.Lgs. 81/08):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49039" cy="2240280"/>
          </a:xfrm>
          <a:prstGeom prst="rect">
            <a:avLst/>
          </a:prstGeom>
          <a:solidFill>
            <a:srgbClr val="ECECEC"/>
          </a:solidFill>
          <a:ln>
            <a:solidFill>
              <a:srgbClr val="0B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554480"/>
            <a:ext cx="3749039" cy="6400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554480"/>
            <a:ext cx="3566159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MISURE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ORGANIZZATIVE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286000"/>
            <a:ext cx="3474719" cy="1417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Riprogettazione carichi e turni;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rotazione delle mansioni particolarmente gravose;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revisione delle procedure;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ottimizzazione delle pause.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0247" y="1554480"/>
            <a:ext cx="3749039" cy="2240280"/>
          </a:xfrm>
          <a:prstGeom prst="rect">
            <a:avLst/>
          </a:prstGeom>
          <a:solidFill>
            <a:srgbClr val="ECECEC"/>
          </a:solidFill>
          <a:ln>
            <a:solidFill>
              <a:srgbClr val="0B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0247" y="1554480"/>
            <a:ext cx="3749039" cy="6400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61687" y="1554480"/>
            <a:ext cx="3566159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MISURE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COMUNICATIVE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7" y="2286000"/>
            <a:ext cx="3474719" cy="1417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Riunioni periodiche di reparto;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sistema di feedback;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trasparenza degli obiettivi;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canali per segnalazioni (whistleblowing - L. 179/2017).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83294" y="1554480"/>
            <a:ext cx="3749039" cy="2240280"/>
          </a:xfrm>
          <a:prstGeom prst="rect">
            <a:avLst/>
          </a:prstGeom>
          <a:solidFill>
            <a:srgbClr val="ECECEC"/>
          </a:solidFill>
          <a:ln>
            <a:solidFill>
              <a:srgbClr val="0B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83294" y="1554480"/>
            <a:ext cx="3749039" cy="6400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74734" y="1554480"/>
            <a:ext cx="3566159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MISURE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FORMATIVE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0454" y="2286000"/>
            <a:ext cx="3474719" cy="1417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Formazione preposti su gestione del personale;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formazione specifica ex art. 37 D.Lgs. 81/08;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formazione lavoratori (Accordo S-R 21/12/2011).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886200"/>
            <a:ext cx="3749039" cy="2240280"/>
          </a:xfrm>
          <a:prstGeom prst="rect">
            <a:avLst/>
          </a:prstGeom>
          <a:solidFill>
            <a:srgbClr val="ECECEC"/>
          </a:solidFill>
          <a:ln>
            <a:solidFill>
              <a:srgbClr val="0B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886200"/>
            <a:ext cx="3749039" cy="6400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886200"/>
            <a:ext cx="3566159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MISURE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TECNICHE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617720"/>
            <a:ext cx="3474719" cy="1417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Bonifica ambientale (rumore, microclima);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ergonomia delle postazioni;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strumenti tecnologici di supporto;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DPI adeguati (Titolo III).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70247" y="3886200"/>
            <a:ext cx="3749039" cy="2240280"/>
          </a:xfrm>
          <a:prstGeom prst="rect">
            <a:avLst/>
          </a:prstGeom>
          <a:solidFill>
            <a:srgbClr val="ECECEC"/>
          </a:solidFill>
          <a:ln>
            <a:solidFill>
              <a:srgbClr val="0B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70247" y="3886200"/>
            <a:ext cx="3749039" cy="6400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61687" y="3886200"/>
            <a:ext cx="3566159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MISURE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GESTIONALI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07407" y="4617720"/>
            <a:ext cx="3474719" cy="1417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Sistema premiante equo;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valutazione della prestazione;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percorsi di sviluppo;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supporto psicologico (sportello di ascolto).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83294" y="3886200"/>
            <a:ext cx="3749039" cy="2240280"/>
          </a:xfrm>
          <a:prstGeom prst="rect">
            <a:avLst/>
          </a:prstGeom>
          <a:solidFill>
            <a:srgbClr val="ECECEC"/>
          </a:solidFill>
          <a:ln>
            <a:solidFill>
              <a:srgbClr val="0B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83294" y="3886200"/>
            <a:ext cx="3749039" cy="6400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74734" y="3886200"/>
            <a:ext cx="3566159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MISURE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SANITARIE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0454" y="4617720"/>
            <a:ext cx="3474719" cy="1417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Sorveglianza sanitaria mirata (art. 41 c.2 lett. a);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visite a richiesta del lavoratore (art. 41 c.2 lett. c);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protocollo MC integrato con SLC.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126480"/>
            <a:ext cx="11247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Calibri"/>
              </a:rPr>
              <a:t>Per ciascuna misura: responsabile, tempistica, risorse, indicatore di efficacia. Tracciabilita' nel DVR.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05156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Monitoraggio e aggiornamento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51560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9A227"/>
                </a:solidFill>
                <a:latin typeface="Calibri"/>
              </a:rPr>
              <a:t>Ciclo di Deming applicato alla valutazione SLC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Linee Guida INAIL - Stress Lavoro-Correlato | Arsenali Militari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565392"/>
            <a:ext cx="109728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Calibri"/>
              </a:rPr>
              <a:t>16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1005840"/>
            <a:ext cx="2194560" cy="2194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7520" y="1097280"/>
            <a:ext cx="201168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691640"/>
            <a:ext cx="2011680" cy="1417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Pianificare la valutazione, definire metodi, GGV, gruppi omogenei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94960" y="3474720"/>
            <a:ext cx="2194560" cy="2194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3566160"/>
            <a:ext cx="201168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4160520"/>
            <a:ext cx="2011680" cy="1417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Eseguire la rilevazione (lista di controllo + eventuale Q-IND), raccogliere dati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6080" y="5943600"/>
            <a:ext cx="2194560" cy="21945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17520" y="6035040"/>
            <a:ext cx="201168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CHECK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6629400"/>
            <a:ext cx="2011680" cy="1417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Verificare risultati, efficacia delle misure, indicatori di monitoraggio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474720"/>
            <a:ext cx="2194560" cy="2194560"/>
          </a:xfrm>
          <a:prstGeom prst="rect">
            <a:avLst/>
          </a:prstGeom>
          <a:solidFill>
            <a:srgbClr val="B3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566160"/>
            <a:ext cx="201168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160520"/>
            <a:ext cx="2011680" cy="1417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Riesaminare, correggere, aggiornare il DVR e ripianificare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1188720"/>
            <a:ext cx="4846320" cy="5120640"/>
          </a:xfrm>
          <a:prstGeom prst="rect">
            <a:avLst/>
          </a:prstGeom>
          <a:solidFill>
            <a:srgbClr val="ECECEC"/>
          </a:solidFill>
          <a:ln>
            <a:solidFill>
              <a:srgbClr val="0B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0" y="1188720"/>
            <a:ext cx="4846320" cy="45720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49440" y="1188720"/>
            <a:ext cx="466344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Eventi che impongono il riesame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1783080"/>
            <a:ext cx="4572000" cy="4480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  <a:latin typeface="Calibri"/>
              </a:rPr>
              <a:t>• Modifica significativa dell'organizzazione (es. riorganizzazione di reparto, accorpamento officine)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  <a:latin typeface="Calibri"/>
              </a:rPr>
              <a:t>• Introduzione di nuove tecnologie/lavorazioni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  <a:latin typeface="Calibri"/>
              </a:rPr>
              <a:t>• Variazione consistente degli organici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  <a:latin typeface="Calibri"/>
              </a:rPr>
              <a:t>• Eventi infortunistici/sanitari ripetuti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  <a:latin typeface="Calibri"/>
              </a:rPr>
              <a:t>• Segnalazioni RLS o lavoratori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  <a:latin typeface="Calibri"/>
              </a:rPr>
              <a:t>• Esito non conforme della sorveglianza sanitaria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  <a:latin typeface="Calibri"/>
              </a:rPr>
              <a:t>• Cadenza minima: revisione almeno biennale (best practice INAIL)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  <a:latin typeface="Calibri"/>
              </a:rPr>
              <a:t>• Aggiornamento del DVR ai sensi dell'art. 29 c.3 D.Lgs. 81/08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05156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Ruoli e responsabilita'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51560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9A227"/>
                </a:solidFill>
                <a:latin typeface="Calibri"/>
              </a:rPr>
              <a:t>Il sistema di prevenzione applicato all'arsenale militare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Linee Guida INAIL - Stress Lavoro-Correlato | Arsenali Militari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565392"/>
            <a:ext cx="109728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Calibri"/>
              </a:rPr>
              <a:t>17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3749039" cy="1645920"/>
          </a:xfrm>
          <a:prstGeom prst="rect">
            <a:avLst/>
          </a:prstGeom>
          <a:solidFill>
            <a:srgbClr val="ECECEC"/>
          </a:solidFill>
          <a:ln>
            <a:solidFill>
              <a:srgbClr val="0B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097280"/>
            <a:ext cx="1097280" cy="164592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097280"/>
            <a:ext cx="1005840" cy="1645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DATORE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DI LAVORO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1188720"/>
            <a:ext cx="2468879" cy="1463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Direttore dell'Arsenale (o soggetto delegato ex art. 16). Obbligo di valutazione (art. 17), redazione DVR, attuazione misure, riesame.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7" y="1097280"/>
            <a:ext cx="3749039" cy="1645920"/>
          </a:xfrm>
          <a:prstGeom prst="rect">
            <a:avLst/>
          </a:prstGeom>
          <a:solidFill>
            <a:srgbClr val="ECECEC"/>
          </a:solidFill>
          <a:ln>
            <a:solidFill>
              <a:srgbClr val="0B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7" y="1097280"/>
            <a:ext cx="1097280" cy="164592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15967" y="1097280"/>
            <a:ext cx="1005840" cy="1645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DIRIGENTI E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PREPOSTI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58967" y="1188720"/>
            <a:ext cx="2468879" cy="1463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Capi Reparto/Officina, Sottufficiali responsabili. Vigilanza ex artt. 18 e 19; obbligo di attuazione delle misure di prevenzione.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83294" y="1097280"/>
            <a:ext cx="3749039" cy="1645920"/>
          </a:xfrm>
          <a:prstGeom prst="rect">
            <a:avLst/>
          </a:prstGeom>
          <a:solidFill>
            <a:srgbClr val="ECECEC"/>
          </a:solidFill>
          <a:ln>
            <a:solidFill>
              <a:srgbClr val="0B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83294" y="1097280"/>
            <a:ext cx="1097280" cy="164592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29014" y="1097280"/>
            <a:ext cx="1005840" cy="1645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RSPP / ASPP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72014" y="1188720"/>
            <a:ext cx="2468879" cy="1463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Coordinamento tecnico-metodologico della valutazione SLC; elaborazione lista di controllo; tenuta documentale.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880360"/>
            <a:ext cx="3749039" cy="1645920"/>
          </a:xfrm>
          <a:prstGeom prst="rect">
            <a:avLst/>
          </a:prstGeom>
          <a:solidFill>
            <a:srgbClr val="ECECEC"/>
          </a:solidFill>
          <a:ln>
            <a:solidFill>
              <a:srgbClr val="0B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2880360"/>
            <a:ext cx="1097280" cy="164592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2880360"/>
            <a:ext cx="1005840" cy="1645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MEDICO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COMPETENTE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2971800"/>
            <a:ext cx="2468879" cy="1463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Collabora alla VdR (art. 25 c.1 lett. a); sorveglianza sanitaria mirata; segnalazioni di casi indicativi di stress.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70247" y="2880360"/>
            <a:ext cx="3749039" cy="1645920"/>
          </a:xfrm>
          <a:prstGeom prst="rect">
            <a:avLst/>
          </a:prstGeom>
          <a:solidFill>
            <a:srgbClr val="ECECEC"/>
          </a:solidFill>
          <a:ln>
            <a:solidFill>
              <a:srgbClr val="0B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70247" y="2880360"/>
            <a:ext cx="1097280" cy="164592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15967" y="2880360"/>
            <a:ext cx="1005840" cy="1645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58967" y="2971800"/>
            <a:ext cx="2468879" cy="1463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Consultato preventivamente (art. 50); accesso al DVR; partecipazione al GGV; ricezione esiti aggregati.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4" y="2880360"/>
            <a:ext cx="3749039" cy="1645920"/>
          </a:xfrm>
          <a:prstGeom prst="rect">
            <a:avLst/>
          </a:prstGeom>
          <a:solidFill>
            <a:srgbClr val="ECECEC"/>
          </a:solidFill>
          <a:ln>
            <a:solidFill>
              <a:srgbClr val="0B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83294" y="2880360"/>
            <a:ext cx="1097280" cy="164592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29014" y="2880360"/>
            <a:ext cx="1005840" cy="1645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LAVORATORI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72014" y="2971800"/>
            <a:ext cx="2468879" cy="1463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Cooperazione (art. 20); partecipazione a Q-IND e focus group; segnalazione di criticita' al preposto/RLS.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  <a:latin typeface="Calibri"/>
              </a:rPr>
              <a:t>In ambito difensivo trovano applicazione le specificita' del D.M. 14/06/2000 n. 284 e del D.P.R. 90/2010 (T.U.O.M.).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05156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Specificita' degli Arsenali Militari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51560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9A227"/>
                </a:solidFill>
                <a:latin typeface="Calibri"/>
              </a:rPr>
              <a:t>Fattori organizzativi caratteristici da considerare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Linee Guida INAIL - Stress Lavoro-Correlato | Arsenali Militari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565392"/>
            <a:ext cx="109728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Calibri"/>
              </a:rPr>
              <a:t>18 /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97280"/>
            <a:ext cx="11247120" cy="5212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Compresenza di personale militare (ordinamento gerarchico) e civile (CCNL Funzioni Centrali)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Doppia catena di comando: gerarchica militare e tecnico-professionale (RSPP, MC)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Lavorazioni di cantieristica navale militare ad alta complessita' (saldatura, carpenteria, allestimento, manutenzione propulsivi)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Lavori in spazi confinati (D.P.R. 177/2011) a bordo unita' in costruzione/manutenzione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Lavori in quota su ponteggi di carena, alberature, scali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Manipolazione di materiale esplosivo (D.M. 272/1999) e munizionamento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Esposizione ad agenti chimici (vernici, sgrassanti), cancerogeni (residui amianto in unita' datate)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Lavorazioni in regime di prontezza operativa - tempi compressi (es. allestimento pre-deployment)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Riservatezza/segretezza connessa a programmi militari (potenziale isolamento informativo)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Mobilita' del personale militare per esigenze di servizio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05156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Misure di prevenzione - Buone prassi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51560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9A227"/>
                </a:solidFill>
                <a:latin typeface="Calibri"/>
              </a:rPr>
              <a:t>Esempi di interventi adottabili nel contesto MARINARSEN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Linee Guida INAIL - Stress Lavoro-Correlato | Arsenali Militari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565392"/>
            <a:ext cx="109728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Calibri"/>
              </a:rPr>
              <a:t>19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11247120" cy="960120"/>
          </a:xfrm>
          <a:prstGeom prst="rect">
            <a:avLst/>
          </a:prstGeom>
          <a:solidFill>
            <a:srgbClr val="ECECEC"/>
          </a:solidFill>
          <a:ln>
            <a:solidFill>
              <a:srgbClr val="0B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097280"/>
            <a:ext cx="2743200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097280"/>
            <a:ext cx="2651760" cy="9601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Officina Motori / Carpenteria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143000"/>
            <a:ext cx="8275320" cy="8686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Rotazione su lavorazioni a maggiore impatto (rumore, MMC); pause programmate; rotazione su mansioni a complessita' elevata; revisione layout per riduzione spostamenti.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103120"/>
            <a:ext cx="11247120" cy="960120"/>
          </a:xfrm>
          <a:prstGeom prst="rect">
            <a:avLst/>
          </a:prstGeom>
          <a:solidFill>
            <a:srgbClr val="ECECEC"/>
          </a:solidFill>
          <a:ln>
            <a:solidFill>
              <a:srgbClr val="0B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103120"/>
            <a:ext cx="2743200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103120"/>
            <a:ext cx="2651760" cy="9601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Bacino di carenaggio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2148840"/>
            <a:ext cx="8275320" cy="8686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Pianificazione delle lavorazioni con margini per imprevisti meteo-marini; coordinamento con ditte appaltatrici via PSC (art. 100); briefing di squadra a inizio/fine turno.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108960"/>
            <a:ext cx="11247120" cy="960120"/>
          </a:xfrm>
          <a:prstGeom prst="rect">
            <a:avLst/>
          </a:prstGeom>
          <a:solidFill>
            <a:srgbClr val="ECECEC"/>
          </a:solidFill>
          <a:ln>
            <a:solidFill>
              <a:srgbClr val="0B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108960"/>
            <a:ext cx="2743200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108960"/>
            <a:ext cx="2651760" cy="9601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Deposito munizionamento (D.M. 272/99)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7560" y="3154680"/>
            <a:ext cx="8275320" cy="8686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Procedure operative chiare; double-check; turnazione equa; supporto psicologico per personale impiegato in operazioni ad alta criticita'.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114800"/>
            <a:ext cx="11247120" cy="960120"/>
          </a:xfrm>
          <a:prstGeom prst="rect">
            <a:avLst/>
          </a:prstGeom>
          <a:solidFill>
            <a:srgbClr val="ECECEC"/>
          </a:solidFill>
          <a:ln>
            <a:solidFill>
              <a:srgbClr val="0B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114800"/>
            <a:ext cx="2743200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114800"/>
            <a:ext cx="2651760" cy="9601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Squadre di banchina H24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560" y="4160520"/>
            <a:ext cx="8275320" cy="8686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Equilibrio nei turni di reperibilita'; riposi compensativi; monitoraggio ore di straordinario per gruppo omogeneo.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120640"/>
            <a:ext cx="11247120" cy="960120"/>
          </a:xfrm>
          <a:prstGeom prst="rect">
            <a:avLst/>
          </a:prstGeom>
          <a:solidFill>
            <a:srgbClr val="ECECEC"/>
          </a:solidFill>
          <a:ln>
            <a:solidFill>
              <a:srgbClr val="0B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120640"/>
            <a:ext cx="2743200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120640"/>
            <a:ext cx="2651760" cy="9601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Tutte le aree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37560" y="5166360"/>
            <a:ext cx="8275320" cy="8686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Sportello di ascolto psicologico (anonimato garantito); formazione preposti su gestione del personale; canale segnalazioni ex L. 179/2017; riconoscimenti non monetari.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05156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Indicatori di efficacia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51560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9A227"/>
                </a:solidFill>
                <a:latin typeface="Calibri"/>
              </a:rPr>
              <a:t>Come misurare l'effetto delle misure adottate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Linee Guida INAIL - Stress Lavoro-Correlato | Arsenali Militari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565392"/>
            <a:ext cx="109728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Calibri"/>
              </a:rPr>
              <a:t>20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3794760" cy="4937760"/>
          </a:xfrm>
          <a:prstGeom prst="rect">
            <a:avLst/>
          </a:prstGeom>
          <a:solidFill>
            <a:srgbClr val="ECECEC"/>
          </a:solidFill>
          <a:ln>
            <a:solidFill>
              <a:srgbClr val="0B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097280"/>
            <a:ext cx="3794760" cy="77724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097280"/>
            <a:ext cx="361188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INDICATORI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OGGETTIVI (lag)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65960"/>
            <a:ext cx="3520440" cy="3977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Riduzione assenze per malattia (%);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Riduzione tasso infortunistico SLC-correlato;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Riduzione turnover/richieste di trasferimento;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Riduzione richieste di visita straordinaria al MC;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Riduzione procedimenti disciplinari.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5968" y="1097280"/>
            <a:ext cx="3794760" cy="4937760"/>
          </a:xfrm>
          <a:prstGeom prst="rect">
            <a:avLst/>
          </a:prstGeom>
          <a:solidFill>
            <a:srgbClr val="ECECEC"/>
          </a:solidFill>
          <a:ln>
            <a:solidFill>
              <a:srgbClr val="0B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1097280"/>
            <a:ext cx="3794760" cy="77724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07408" y="1097280"/>
            <a:ext cx="361188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INDICATORI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DI PROCESSO (lead)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1965960"/>
            <a:ext cx="3520440" cy="3977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% lavoratori formati su SLC (target &gt;= 95%);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% misure correttive attuate nei tempi pianificati;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Numero focus group/riunioni effettuati;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Tempo medio di risposta a segnalazioni RLS;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Copertura sorveglianza sanitaria mirata.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74736" y="1097280"/>
            <a:ext cx="3794760" cy="4937760"/>
          </a:xfrm>
          <a:prstGeom prst="rect">
            <a:avLst/>
          </a:prstGeom>
          <a:solidFill>
            <a:srgbClr val="ECECEC"/>
          </a:solidFill>
          <a:ln>
            <a:solidFill>
              <a:srgbClr val="0B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74736" y="1097280"/>
            <a:ext cx="3794760" cy="77724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66176" y="1097280"/>
            <a:ext cx="361188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INDICATORI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DI PERCEZIONE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1896" y="1965960"/>
            <a:ext cx="3520440" cy="3977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Punteggi Q-IND per dimensione;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Soddisfazione lavoratori (survey periodica);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Indicatore di clima organizzativo;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Tasso di adesione ai questionari (proxy di engagement).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172200"/>
            <a:ext cx="11247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Calibri"/>
              </a:rPr>
              <a:t>Ogni indicatore deve avere: baseline, target, frequenza di rilevazione, responsabile.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05156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Riferimenti normativi e bibliografici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51560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9A227"/>
                </a:solidFill>
                <a:latin typeface="Calibri"/>
              </a:rPr>
              <a:t>Fonti utilizzate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Linee Guida INAIL - Stress Lavoro-Correlato | Arsenali Militari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565392"/>
            <a:ext cx="109728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Calibri"/>
              </a:rPr>
              <a:t>21 /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5156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0B2E55"/>
                </a:solidFill>
                <a:latin typeface="Calibri"/>
              </a:rPr>
              <a:t>Normativa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17320"/>
            <a:ext cx="548640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  <a:latin typeface="Calibri"/>
              </a:rPr>
              <a:t>• D.Lgs. 9 aprile 2008, n. 81 (artt. 17, 18, 25, 28, 29, 31, 37, 41, 50)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  <a:latin typeface="Calibri"/>
              </a:rPr>
              <a:t>• Accordo Quadro Europeo sullo stress lavoro-correlato dell'8 ottobre 2004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  <a:latin typeface="Calibri"/>
              </a:rPr>
              <a:t>• Accordo Interconfederale di recepimento del 9 giugno 2008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  <a:latin typeface="Calibri"/>
              </a:rPr>
              <a:t>• Commissione Consultiva Permanente - documento approvato il 17 novembre 2010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  <a:latin typeface="Calibri"/>
              </a:rPr>
              <a:t>• Lettera Circolare del Ministero del Lavoro prot. 23692 del 18 novembre 2010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  <a:latin typeface="Calibri"/>
              </a:rPr>
              <a:t>• D.M. 14 giugno 2000 n. 284 - applicazione T.U. al personale militare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  <a:latin typeface="Calibri"/>
              </a:rPr>
              <a:t>• D.P.R. 15 marzo 2010 n. 90 - T.U. Ordinamento Militare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  <a:latin typeface="Calibri"/>
              </a:rPr>
              <a:t>• Accordo Stato-Regioni 21 dicembre 2011 (art. 37)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  <a:latin typeface="Calibri"/>
              </a:rPr>
              <a:t>• Accordo Stato-Regioni 7 luglio 2016 (revisione formazione)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  <a:latin typeface="Calibri"/>
              </a:rPr>
              <a:t>• Reg. UE 679/2016 (GDPR) - tutela dati nei questionari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05156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0B2E55"/>
                </a:solidFill>
                <a:latin typeface="Calibri"/>
              </a:rPr>
              <a:t>Documentazione tecnica INAIL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417320"/>
            <a:ext cx="548640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  <a:latin typeface="Calibri"/>
              </a:rPr>
              <a:t>• INAIL (2017) - "La metodologia per la valutazione e gestione del rischio stress lavoro-correlato. Manuale ad uso delle aziende" - edizione aggiornata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  <a:latin typeface="Calibri"/>
              </a:rPr>
              <a:t>• INAIL (2011) - prima edizione del Manuale (Network Nazionale per la prevenzione del Disagio Psicosociale nei Luoghi di Lavoro)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  <a:latin typeface="Calibri"/>
              </a:rPr>
              <a:t>• INAIL - Piattaforma online per la valutazione del rischio SLC (accesso via Punto Cliente)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  <a:latin typeface="Calibri"/>
              </a:rPr>
              <a:t>• ISO 45003:2021 - Gestione della salute e sicurezza psicologica sul lavoro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  <a:latin typeface="Calibri"/>
              </a:rPr>
              <a:t>• EU-OSHA - Calculating the cost of work-related stress and psychosocial risks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A1A1A"/>
                </a:solidFill>
                <a:latin typeface="Calibri"/>
              </a:rPr>
              <a:t>• HSE - Management Standards Indicator Tool (versione originale)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C9A227"/>
                </a:solidFill>
                <a:latin typeface="Calibri"/>
              </a:rPr>
              <a:t>MINISTERO DELLA DIFESA - MARINA MILITARE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9748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MESSAGGI CHIAVE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11064240" cy="2468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1. La valutazione SLC e' un OBBLIGO di legge (art. 28 c.1-bis) e parte integrante del DVR.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2. La Metodologia INAIL (ed. 2017) e' lo strumento di riferimento, conforme alle indicazioni della Commissione Consultiva.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3. La PARTECIPAZIONE attiva di lavoratori, RLS e MC e' un requisito di validita' del processo.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4. La valutazione e' un PROCESSO CICLICO: pianificare - fare - verificare - agire.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5. Negli arsenali militari il modello va calato sulle SPECIFICITA' organizzative e operative del contesto difensivo.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9728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C9A227"/>
                </a:solidFill>
                <a:latin typeface="Calibri"/>
              </a:rPr>
              <a:t>Grazie per l'attenzione - Servizio di Prevenzione e Protezione, Arsenale Militare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