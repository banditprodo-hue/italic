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_master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_master" Type="http://schemas.openxmlformats.org/officeDocument/2006/relationships/slideMaster" Target="slideMasters/slideMaster1.xml"/><Relationship Id="rId_theme" Type="http://schemas.openxmlformats.org/officeDocument/2006/relationships/theme" Target="theme/theme1.xml"/><Relationship Id="rId_props" Type="http://schemas.openxmlformats.org/officeDocument/2006/relationships/presProps" Target="presProps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Calibri"/>
        </a:defRPr>
      </a:lvl1pPr>
    </p:titleStyle>
    <p:bodyStyle>
      <a:lvl1pPr marL="285750" indent="-285750">
        <a:defRPr sz="1800">
          <a:solidFill>
            <a:schemeClr val="tx1"/>
          </a:solidFill>
          <a:latin typeface="Calibri"/>
        </a:defRPr>
      </a:lvl1pPr>
      <a:lvl2pPr marL="571500" indent="-285750">
        <a:defRPr sz="1600">
          <a:solidFill>
            <a:schemeClr val="tx1"/>
          </a:solidFill>
          <a:latin typeface="Calibri"/>
        </a:defRPr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band"/>
          <p:cNvSpPr/>
          <p:nvPr/>
        </p:nvSpPr>
        <p:spPr>
          <a:xfrm>
            <a:off x="0" y="2050000"/>
            <a:ext cx="12192000" cy="190000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lbar"/>
          <p:cNvSpPr/>
          <p:nvPr/>
        </p:nvSpPr>
        <p:spPr>
          <a:xfrm>
            <a:off x="0" y="2050000"/>
            <a:ext cx="360000" cy="190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820000" y="1450000"/>
            <a:ext cx="10500000" cy="56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8FAADC"/>
                </a:solidFill>
                <a:latin typeface="Calibri"/>
                <a:cs typeface="Calibri"/>
              </a:rPr>
              <a:t>CONGRESSO NAZIONALE - TERAPIA DEL DOLORE PERIOPERATORIO</a:t>
            </a:r>
          </a:p>
        </p:txBody>
      </p:sp>
      <p:sp>
        <p:nvSpPr>
          <p:cNvPr id="7" name="txt"/>
          <p:cNvSpPr txBox="1"/>
          <p:nvPr/>
        </p:nvSpPr>
        <p:spPr>
          <a:xfrm>
            <a:off x="820000" y="2150000"/>
            <a:ext cx="10500000" cy="11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000" b="1" dirty="0">
                <a:solidFill>
                  <a:srgbClr val="FFFFFF"/>
                </a:solidFill>
                <a:latin typeface="Calibri"/>
                <a:cs typeface="Calibri"/>
              </a:rPr>
              <a:t>Il Dolore Postoperatorio: una sfida di squadra</a:t>
            </a:r>
          </a:p>
        </p:txBody>
      </p:sp>
      <p:sp>
        <p:nvSpPr>
          <p:cNvPr id="8" name="txt"/>
          <p:cNvSpPr txBox="1"/>
          <p:nvPr/>
        </p:nvSpPr>
        <p:spPr>
          <a:xfrm>
            <a:off x="820000" y="3320000"/>
            <a:ext cx="10500000" cy="56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50" b="0" dirty="0">
                <a:solidFill>
                  <a:srgbClr val="8FAADC"/>
                </a:solidFill>
                <a:latin typeface="Calibri"/>
                <a:cs typeface="Calibri"/>
              </a:rPr>
              <a:t>Valutazione strutturata, analgesia multimodale e coordinamento dell'equipe</a:t>
            </a:r>
          </a:p>
        </p:txBody>
      </p:sp>
      <p:sp>
        <p:nvSpPr>
          <p:cNvPr id="9" name="txt"/>
          <p:cNvSpPr txBox="1"/>
          <p:nvPr/>
        </p:nvSpPr>
        <p:spPr>
          <a:xfrm>
            <a:off x="820000" y="4350000"/>
            <a:ext cx="10500000" cy="1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rgbClr val="FFFFFF"/>
                </a:solidFill>
                <a:latin typeface="Calibri"/>
                <a:cs typeface="Calibri"/>
              </a:rPr>
              <a:t>Dott.ssa Antonella Cecere</a:t>
            </a:r>
          </a:p>
          <a:p>
            <a:pPr marL="0" indent="0"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it-IT" sz="1500" b="0" dirty="0">
                <a:solidFill>
                  <a:srgbClr val="8FAADC"/>
                </a:solidFill>
                <a:latin typeface="Calibri"/>
                <a:cs typeface="Calibri"/>
              </a:rPr>
              <a:t>Anestesista Rianimatore</a:t>
            </a:r>
          </a:p>
        </p:txBody>
      </p:sp>
      <p:sp>
        <p:nvSpPr>
          <p:cNvPr id="10" name="ft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txt"/>
          <p:cNvSpPr txBox="1"/>
          <p:nvPr/>
        </p:nvSpPr>
        <p:spPr>
          <a:xfrm>
            <a:off x="820000" y="6318000"/>
            <a:ext cx="10500000" cy="54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1" dirty="0">
                <a:solidFill>
                  <a:srgbClr val="FFFFFF"/>
                </a:solidFill>
                <a:latin typeface="Calibri"/>
                <a:cs typeface="Calibri"/>
              </a:rPr>
              <a:t>Congresso Nazionale di Urologia / Anestesia - Sessione Terapia del Dolore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OBIETTIVI FORMATIVI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Obiettivi di apprendimento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Learning goals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Riconoscere impatto clinico e prognostico del dolore postoperatorio non controllato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Applicare in modo sistematico le scale del dolore (paziente comunicante e non)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Impostare un'analgesia multimodale e opioid-sparing, procedura-specifica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Definire ruoli e flussi di comunicazione dell'equipe (Acute Pain Service, handover SBAR)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Schema (BioRender) con 4 icone: valutazione, farmaco, blocco loco-regionale, team. Palette blu/grigio,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EPIDEMIOLOGIA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Epidemiologia e impatto clinico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CPG 2024 / Gan 2017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Una quota rilevante di pazienti riferisce dolore moderato-severo dopo l'intervento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Il dolore acuto severo e' predittore di dolore cronico postchirurgico (CPSP)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CPSP: incidenza variabile per tipo di chirurgia (toracica, mammella, ernia, ortopedia)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Conseguenze: ritardata mobilizzazione, complicanze, degenza e costi maggiori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Grafico a barre: prevalenza dolore moderato-severo per tipo di chirurgia. Fonte: dati aggregati, ricreare in stile vettoriale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FISIOPATOLOGIA 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Fisiopatologia del dolore acuto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Pain pathway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Lesione tissutale -&gt; mediatori infiammatori -&gt; sensibilizzazione periferica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Amplificazione midollare e sensibilizzazione centrale (fenomeno del wind-up)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Comparsa di iperalgesia e allodinia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Componenti: nocicettiva, infiammatoria e neuropatica (lesione nervosa)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Diagramma della via del dolore (nocicettore -&gt; midollo -&gt; talamo -&gt; corteccia) con punti d'azione dei farmaci. BioRender,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FISIOPATOLOGIA 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Dalla fase acuta alla cronicizzazione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Glare 2019 / Lancet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Esiste una finestra critica: un buon controllo del dolore acuto previene la cronicizzazione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Fattori di rischio CPSP: dolore preoperatorio, dolore acuto intenso, lesione nervosa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Fattori psicologici: catastrofizzazione, ansia, depressione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Fattori non modificabili: sesso femminile, eta' giovane, tipo di intervento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Timeline orizzontale 'dolore acuto -&gt; transizione -&gt; dolore cronico' con finestra d'intervento evidenziata. Vettoriale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CLASSIFICAZIONE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Classificazione del dolore postoperatorio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IASP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Nocicettivo: somatico (ferita, osso) e viscerale (organi)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Neuropatico: lesione/irritazione nervosa, spesso urente o a scossa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Misto: combinazione delle componenti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Valutare sempre dolore a RIPOSO e DINAMICO (movimento, tosse, mobilizzazione)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comparativa tipi di dolore (caratteristiche, esempi chirurgici, target terapeutico). Stile tabellare blu/grigio.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SCALE DEL DOLORE 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Le scale del dolore: paziente comunicante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NRS / VAS / VRS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NRS (0-10): scala numerica, standard raccomandato nell'adulto comunicante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VAS: scala analogico-visiva (linea 0-100 mm)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VRS: scala verbale (nessuno-lieve-moderato-severo)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Wong-Baker FACES: utile in pediatria e barriere linguistiche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NRS, VAS e VRS mostrano forte correlazione tra loro nel postoperatorio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Pannello visivo con NRS 0-10, righello VAS e scala FACES affiancate. Grafica ad alta leggibilita',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7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SCALE DEL DOLORE 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Le scale del dolore: paziente non comunicante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CPOT / BPS / PAINAD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CPOT e BPS: pazienti sedati/intubati in terapia intensiva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PAINAD: pazienti con deterioramento cognitivo/demenza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Si basano su indicatori comportamentali osservabili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Espressione facciale, tono muscolare, movimenti, adattamento al ventilatore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Mai assumere assenza di dolore solo perche' il paziente non lo riferisce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di scoring CPOT (4 item, 0-8) con descrizione dei comportamenti. Ricreare come tabella vettoriale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8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VALUTAZIONE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Valutazione strutturata: come e quando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CPG 2024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Misurare a riposo e in movimento, a intervalli regolari e dopo ogni terapia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Target operativi: NRS &lt;=3 a riposo e controllo del dolore dinamico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Il dolore come '5o parametro vitale': sempre documentato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Rivalutare dopo l'intervento analgesico (es. entro 30-60 minuti)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Flowchart dell'algoritmo: valuta -&gt; tratta -&gt; rivaluta -&gt; aggiusta. Diagramma a blocchi blu/grigio,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9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COORDINAMENTO EQUIPE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Una responsabilita' di squadra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Team coordination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Chirurgo: tecnica, infiltrazione ferita, indicazioni procedura-specifiche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Anestesista: piano analgesico, tecniche loco-regionali, gestione del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Infermiere: valutazione, somministrazione, monitoraggio, educazione del paziente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Acute Pain Service: protocolli condivisi, formazione, audit e continuita'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Obiettivi e soglie d'intervento devono essere CONDIVISI da tutta l'equipe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Matrice RACI / diagramma a cerchi sovrapposti dei ruoli (chirurgo-anestesista-infermiere-APS) con il paziente al centro.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10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COMUNICAZIONE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Comunicazione e passaggio di consegne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SBAR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Documentazione standardizzata: migliora gli esiti e riduce il consumo di oppioidi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Soglie d'intervento condivise (es. rivalutare/trattare se NRS &gt;=4)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Handover strutturato SBAR tra sala operatoria, PACU e reparto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Situation - Background - Assessment - Recommendation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Template grafico SBAR applicato al dolore postoperatorio (4 riquadri). Stile infografico blu/grigio,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11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TRATTAMENTO 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Analgesia multimodale: i principi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PROSPECT / CPG 2024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Combinare farmaci con meccanismi d'azione diversi e complementari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Strategia opioid-sparing: ridurre dose e effetti avversi degli oppioidi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Approccio procedura-specifico (raccomandazioni PROSPECT)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Integrazione nei percorsi ERAS (Enhanced Recovery After Surgery)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Piramide/colonna dei bersagli lungo la via del dolore con i farmaci che agiscono su ciascun punto. BioRender,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TRATTAMENTO 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Analgesici non oppioidi e adiuvanti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Multimodal review 2024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Base: paracetamolo + FANS o COX-2 selettivi (salvo controindicazioni)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Adiuvanti selettivi: ketamina a basse dosi, lidocaina ev, desametasone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Alfa-2 agonisti e gabapentinoidi in casi selezionati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Riducono il fabbisogno di oppioidi e migliorano il controllo dinamico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'farmaco - meccanismo d'azione - ruolo nel multimodale'. Stile tabellare, evitare dosaggi specifici.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TRATTAMENTO III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Oppioidi: uso razionale e sicuro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CPG 2024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Indicati nel dolore moderato-severo, alla dose minima efficace e per il tempo piu' breve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PCA (analgesia controllata dal paziente) per una titolazione personalizzata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Rischi: depressione respiratoria, sedazione, nausea/vomito, ileo, ritenzione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Monitorare la sedazione; attenzione a iperalgesia, tolleranza e dipendenza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Foto/schema di pompa PCA con legenda dei parametri (bolo, lockout). Imaging anonimizzato o vettoriale,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TRATTAMENTO IV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Tecniche loco-regionali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ASRA / PROSPECT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Analgesia neuroassiale (peridurale) nella chirurgia maggiore toraco-addominale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Blocchi dei piani fasciali ecoguidati: TAP, ESP, PECS, quadrato dei lombi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Infiltrazione della ferita e cateteri perineurali continui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Migliorano il controllo del dolore dinamico e riducono gli oppioidi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Immagine ecografica di blocco ecoguidato (es. ESP block) con annotazioni anatomiche. Imaging anonimizzato,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TRATTAMENTO V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Approccio procedura-specifico ed ERAS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PROSPECT 2024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Il miglior schema dipende dal tipo di intervento (procedura-specifico)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Toracotomia: blocco paravertebrale o ESP; addome: TAP o peridurale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Mammella: blocchi della parete toracica; ortopedia: blocchi periferici dedicati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Integrazione nei bundle ERAS per recupero precoce della funzione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comparativa: tipo di chirurgia -&gt; tecnica raccomandata -&gt; livello di evidenza (PROSPECT).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COMPLICANZE 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Complicanze: gestione perioperatoria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Safety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Oppioidi: depressione respiratoria (antagonista: naloxone), sedazione, PONV, ileo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FANS: rischio gastrointestinale, renale, cardiovascolare ed emorragico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Prevenzione: selezione del paziente, monitoraggio, profilassi PONV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Personalizzare in base a comorbidita' e fragilita'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'effetto avverso - segni - gestione' con codifica a colori del rischio. Stile clinico,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17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COMPLICANZE 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Complicanze delle tecniche regionali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ASRA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Peridurale: ipotensione, blocco motorio, raro ematoma/ascesso (gestione anticoagulanti)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Tossicita' sistemica da anestetici locali (LAST): riconoscimento precoce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Trattamento della LAST con emulsione lipidica (lipid rescue)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Sorveglianza neurologica e protocolli di emergenza disponibili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Algoritmo di gestione della LAST (riconoscimento -&gt; ABC -&gt; lipidi) a step. Diagramma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18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FOLLOW-UP 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Acute Pain Service e continuita'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APS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Team dedicato con ronde, protocolli condivisi e formazione continua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Riduce intensita' del dolore e complicanze, aumenta la soddisfazione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Transizione sicura degli oppioidi alla dimissione (de-prescribing)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Audit periodici e indicatori di qualita' del controllo del dolore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Workflow dell'Acute Pain Service (24/7) con punti di contatto del percorso del paziente. Infografica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19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FOLLOW-UP II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Prevenire il dolore cronico postchirurgico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Doleman 2023 / BJA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Identificare precocemente i pazienti ad alto rischio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Ottimizzare l'analgesia perioperatoria multimodale e opioid-sparing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Transitional Pain Service per i casi complessi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Rivalutazione strutturata a distanza dall'intervento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Modello di Transitional Pain Service (pre -&gt; intra -&gt; post -&gt; follow-up). Schema a percorso,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20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CASI CLINICI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Casi clinici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Case-based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Caso 1 - Chirurgia addominale maggiore (ERAS): peridurale/TAP + multimodale, PCA, mobilizzazione precoce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Caso 2 - Paziente anziano con deterioramento cognitivo: valutazione con PAINAD, schema opioid-sparing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Discussione: scelta della scala, ruolo dell'equipe e outcome funzionale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Due pannelli affiancati con timeline del caso e box 'pre/post trattamento' (NRS o PAINAD). Imaging anonimizzato,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21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CONTROVERSIE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Controversie e ricerca in corso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Open questions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Gabapentinoidi di routine: benefici limitati a fronte di effetti avversi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Ketamina e lidocaina ev: evidenze in evoluzione, indicazioni da definire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Anestetici locali a rilascio prolungato: dibattito su costo-efficacia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Predizione del dolore con strumenti digitali e intelligenza artificiale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Slide 'research highlights' con 3-4 trial/ambiti in corso e icone. Stile editoriale blu/grigio,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22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CONCLUSIONI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Take-home messages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Key points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Il dolore postoperatorio e' prevedibile e trattabile: valutarlo e' il primo atto terapeutico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Una scala condivisa (NRS) e strumenti dedicati ai non comunicanti (CPOT/PAINAD)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Analgesia multimodale, opioid-sparing e procedura-specifica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Controllare il dolore acuto previene il dolore cronico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Il coordinamento dell'equipe (APS, handover SBAR) fa la differenza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Visual riepilogativo con 5 icone numerate dei messaggi chiave. Grafica pulita,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23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BIBLIOGRAFIA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Bibliografia essenziale (Vancouver)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References 1-7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1. Clinical practice guidelines for postoperative pain management in adults (2024 ed.). 2024.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2. Chou R, et al. Management of postoperative pain: APS/ASRA/ASA guideline. J Pain. 2016;17(2):131-57.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3. Joshi GP, et al. PROSPECT procedure-specific recommendations. Anaesthesia (aggiornamenti 2023-2024).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4. Doleman B, et al. Non-opioid analgesics for prevention of CPSP: NMA. Br J Anaesth. 2023.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5. Glare P, Aubrey KR, Myles PS. Transition from acute to chronic pain after surgery. Lancet. 2019;393:1537-46.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6. Gan TJ. Poorly controlled postoperative pain: prevalence and prevention. J Pain Res. 2017;10:2287-98.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7. Perioperative multimodal analgesia: efficacy and safety review. 2024.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Sfondo neutro; elenco riferimenti su due colonne se necessario. Verificare sempre le citazioni sulle fonti originali.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24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BIBLIOGRAFIA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Bibliografia essenziale (Vancouver)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References 8-14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8. Kehlet H, Jensen TS, Woolf CJ. Persistent postsurgical pain: risk factors and prevention. Lancet. 2006;367:1618-25.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9. Beyond measurement: pain scales for postoperative pain assessment. 2024.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10. Gelinas C, et al. Critical-Care Pain Observation Tool (CPOT): validazione e uso clinico.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11. Warden V, et al. Pain Assessment in Advanced Dementia (PAINAD) scale.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12. ERAS Society Guidelines (procedure-specifiche), aggiornamenti recenti.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13. Neal JM, et al. ASRA practice advisory on Local Anesthetic Systemic Toxicity (LAST).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14. Documentazione del dolore e consumo di oppioidi: studio d'intervento. 2022.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Continua l'elenco. Formato Vancouver coerente; controllare volume/pagine sulle riviste originali.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25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DISCLOSURE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Disclosure / Conflitti di interesse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Disclosure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La relatrice dichiara l'assenza di conflitti di interesse rilevanti per questa presentazione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Eventuali rapporti con aziende (relazioni, advisory board, grant) vanno elencati qui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 contenuti riflettono linee guida ed evidenze indipendenti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Aggiornare con le dichiarazioni effettive prima del congresso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Slide istituzionale sobria con logo del congresso/centro. Sfondo bianco, testo navy.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acc"/>
          <p:cNvSpPr/>
          <p:nvPr/>
        </p:nvSpPr>
        <p:spPr>
          <a:xfrm>
            <a:off x="820000" y="3050000"/>
            <a:ext cx="1700000" cy="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txt"/>
          <p:cNvSpPr txBox="1"/>
          <p:nvPr/>
        </p:nvSpPr>
        <p:spPr>
          <a:xfrm>
            <a:off x="820000" y="2350000"/>
            <a:ext cx="10500000" cy="10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b="1" dirty="0">
                <a:solidFill>
                  <a:srgbClr val="FFFFFF"/>
                </a:solidFill>
                <a:latin typeface="Calibri"/>
                <a:cs typeface="Calibri"/>
              </a:rPr>
              <a:t>Slide di backup</a:t>
            </a:r>
          </a:p>
        </p:txBody>
      </p:sp>
      <p:sp>
        <p:nvSpPr>
          <p:cNvPr id="5" name="txt"/>
          <p:cNvSpPr txBox="1"/>
          <p:nvPr/>
        </p:nvSpPr>
        <p:spPr>
          <a:xfrm>
            <a:off x="820000" y="3250000"/>
            <a:ext cx="10500000" cy="7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 b="0" dirty="0">
                <a:solidFill>
                  <a:srgbClr val="8FAADC"/>
                </a:solidFill>
                <a:latin typeface="Calibri"/>
                <a:cs typeface="Calibri"/>
              </a:rPr>
              <a:t>Materiale di supporto per la discussione</a:t>
            </a:r>
          </a:p>
        </p:txBody>
      </p:sp>
      <p:sp>
        <p:nvSpPr>
          <p:cNvPr id="6" name="txt"/>
          <p:cNvSpPr txBox="1"/>
          <p:nvPr/>
        </p:nvSpPr>
        <p:spPr>
          <a:xfrm>
            <a:off x="10092000" y="6338000"/>
            <a:ext cx="1680000" cy="42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0" dirty="0">
                <a:solidFill>
                  <a:srgbClr val="8FAADC"/>
                </a:solidFill>
                <a:latin typeface="Calibri"/>
                <a:cs typeface="Calibri"/>
              </a:rPr>
              <a:t>26 / 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Backup - Dettaglio scala CPOT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Espressione facciale (0-2)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Movimenti corporei (0-2)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Tensione muscolare (0-2)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Adattamento al ventilatore o vocalizzazione (0-2)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Punteggio totale 0-8; soglia indicativa di dolore &gt; 2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Tabella CPOT completa con descrittori per ciascun punteggio. Vettoriale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27 / 27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Backup - Handover SBAR esteso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Situation: stato attuale del dolore (scala, sede, dinamico/riposo)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Background: intervento, tecnica analgesica, allergie, comorbidita'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Assessment: efficacia, effetti avversi, sedazione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Recommendation: piano, soglie, quando allertare l'anestesista/APS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Modulo SBAR compilabile per il dolore postoperatorio. Layout a form,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28 / 28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header"/>
          <p:cNvSpPr/>
          <p:nvPr/>
        </p:nvSpPr>
        <p:spPr>
          <a:xfrm>
            <a:off x="0" y="0"/>
            <a:ext cx="12192000" cy="10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" name="hacc"/>
          <p:cNvSpPr/>
          <p:nvPr/>
        </p:nvSpPr>
        <p:spPr>
          <a:xfrm>
            <a:off x="0" y="1020000"/>
            <a:ext cx="12192000" cy="4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htab"/>
          <p:cNvSpPr/>
          <p:nvPr/>
        </p:nvSpPr>
        <p:spPr>
          <a:xfrm>
            <a:off x="0" y="0"/>
            <a:ext cx="140000" cy="102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6" name="txt"/>
          <p:cNvSpPr txBox="1"/>
          <p:nvPr/>
        </p:nvSpPr>
        <p:spPr>
          <a:xfrm>
            <a:off x="420000" y="120000"/>
            <a:ext cx="8800000" cy="3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7" name="txt"/>
          <p:cNvSpPr txBox="1"/>
          <p:nvPr/>
        </p:nvSpPr>
        <p:spPr>
          <a:xfrm>
            <a:off x="420000" y="360000"/>
            <a:ext cx="88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500" b="1" dirty="0">
                <a:solidFill>
                  <a:srgbClr val="FFFFFF"/>
                </a:solidFill>
                <a:latin typeface="Calibri"/>
                <a:cs typeface="Calibri"/>
              </a:rPr>
              <a:t>Backup - Elementi del bundle ERAS</a:t>
            </a:r>
          </a:p>
        </p:txBody>
      </p:sp>
      <p:sp>
        <p:nvSpPr>
          <p:cNvPr id="8" name="tag"/>
          <p:cNvSpPr/>
          <p:nvPr/>
        </p:nvSpPr>
        <p:spPr>
          <a:xfrm>
            <a:off x="9250000" y="300000"/>
            <a:ext cx="2680000" cy="4700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xt"/>
          <p:cNvSpPr txBox="1"/>
          <p:nvPr/>
        </p:nvSpPr>
        <p:spPr>
          <a:xfrm>
            <a:off x="9270000" y="300000"/>
            <a:ext cx="2640000" cy="47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1F3864"/>
                </a:solidFill>
                <a:latin typeface="Calibri"/>
                <a:cs typeface="Calibri"/>
              </a:rPr>
              <a:t>Backup</a:t>
            </a:r>
          </a:p>
        </p:txBody>
      </p:sp>
      <p:sp>
        <p:nvSpPr>
          <p:cNvPr id="10" name="txt"/>
          <p:cNvSpPr txBox="1"/>
          <p:nvPr/>
        </p:nvSpPr>
        <p:spPr>
          <a:xfrm>
            <a:off x="470000" y="1360000"/>
            <a:ext cx="7150000" cy="49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Preoperatorio: educazione, ottimizzazione, no digiuno prolungato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Intraoperatorio: analgesia multimodale, tecniche regionali, normotermia</a:t>
            </a:r>
          </a:p>
          <a:p>
            <a:pPr marL="285750" indent="-285750" lvl="0" algn="l">
              <a:lnSpc>
                <a:spcPct val="110000"/>
              </a:lnSpc>
              <a:spcBef>
                <a:spcPts val="520"/>
              </a:spcBef>
              <a:spcAft>
                <a:spcPts val="0"/>
              </a:spcAft>
              <a:buClr>
                <a:srgbClr val="2E75B6"/>
              </a:buClr>
              <a:buFont typeface="Arial"/>
              <a:buChar char="■"/>
            </a:pPr>
            <a:r>
              <a:rPr lang="it-IT" sz="1650" b="0" dirty="0">
                <a:solidFill>
                  <a:srgbClr val="1A2238"/>
                </a:solidFill>
                <a:latin typeface="Calibri"/>
                <a:cs typeface="Calibri"/>
              </a:rPr>
              <a:t>Postoperatorio: mobilizzazione precoce, rialimentazione, opioid-sparing</a:t>
            </a:r>
          </a:p>
          <a:p>
            <a:pPr marL="285750" indent="-285750" lvl="1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8FAADC"/>
              </a:buClr>
              <a:buFont typeface="Arial"/>
              <a:buChar char="■"/>
            </a:pPr>
            <a:r>
              <a:rPr lang="it-IT" sz="1400" b="0" dirty="0">
                <a:solidFill>
                  <a:srgbClr val="595959"/>
                </a:solidFill>
                <a:latin typeface="Calibri"/>
                <a:cs typeface="Calibri"/>
              </a:rPr>
              <a:t>Il controllo del dolore e' un pilastro trasversale dell'intero percorso</a:t>
            </a:r>
          </a:p>
        </p:txBody>
      </p:sp>
      <p:sp>
        <p:nvSpPr>
          <p:cNvPr id="11" name="imgbox"/>
          <p:cNvSpPr/>
          <p:nvPr/>
        </p:nvSpPr>
        <p:spPr>
          <a:xfrm>
            <a:off x="7820000" y="1360000"/>
            <a:ext cx="3950000" cy="4800000"/>
          </a:xfrm>
          <a:prstGeom prst="rect">
            <a:avLst/>
          </a:prstGeom>
          <a:solidFill>
            <a:srgbClr val="EAF1FA"/>
          </a:solidFill>
          <a:ln w="9525">
            <a:solidFill>
              <a:srgbClr val="8FAADC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imghdr"/>
          <p:cNvSpPr/>
          <p:nvPr/>
        </p:nvSpPr>
        <p:spPr>
          <a:xfrm>
            <a:off x="7820000" y="1360000"/>
            <a:ext cx="3950000" cy="43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3" name="imgtab"/>
          <p:cNvSpPr/>
          <p:nvPr/>
        </p:nvSpPr>
        <p:spPr>
          <a:xfrm>
            <a:off x="7820000" y="1360000"/>
            <a:ext cx="130000" cy="43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4" name="txt"/>
          <p:cNvSpPr txBox="1"/>
          <p:nvPr/>
        </p:nvSpPr>
        <p:spPr>
          <a:xfrm>
            <a:off x="8020000" y="1360000"/>
            <a:ext cx="3730000" cy="43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1" dirty="0">
                <a:solidFill>
                  <a:srgbClr val="FFFFFF"/>
                </a:solidFill>
                <a:latin typeface="Calibri"/>
                <a:cs typeface="Calibri"/>
              </a:rPr>
              <a:t>IMMAGINE / GRAFICO</a:t>
            </a:r>
          </a:p>
        </p:txBody>
      </p:sp>
      <p:sp>
        <p:nvSpPr>
          <p:cNvPr id="15" name="txt"/>
          <p:cNvSpPr txBox="1"/>
          <p:nvPr/>
        </p:nvSpPr>
        <p:spPr>
          <a:xfrm>
            <a:off x="7990000" y="1900000"/>
            <a:ext cx="3610000" cy="4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lv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 b="0" i="1" dirty="0">
                <a:solidFill>
                  <a:srgbClr val="1A2238"/>
                </a:solidFill>
                <a:latin typeface="Calibri"/>
                <a:cs typeface="Calibri"/>
              </a:rPr>
              <a:t>Schema circolare del percorso ERAS con la voce 'analgesia' evidenziata. 300 dpi.</a:t>
            </a:r>
          </a:p>
        </p:txBody>
      </p:sp>
      <p:sp>
        <p:nvSpPr>
          <p:cNvPr id="16" name="footer"/>
          <p:cNvSpPr/>
          <p:nvPr/>
        </p:nvSpPr>
        <p:spPr>
          <a:xfrm>
            <a:off x="0" y="6408000"/>
            <a:ext cx="12192000" cy="45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7" name="facc"/>
          <p:cNvSpPr/>
          <p:nvPr/>
        </p:nvSpPr>
        <p:spPr>
          <a:xfrm>
            <a:off x="0" y="6408000"/>
            <a:ext cx="12192000" cy="4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txt"/>
          <p:cNvSpPr txBox="1"/>
          <p:nvPr/>
        </p:nvSpPr>
        <p:spPr>
          <a:xfrm>
            <a:off x="420000" y="6408000"/>
            <a:ext cx="900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b="0" dirty="0">
                <a:solidFill>
                  <a:srgbClr val="FFFFFF"/>
                </a:solidFill>
                <a:latin typeface="Calibri"/>
                <a:cs typeface="Calibri"/>
              </a:rPr>
              <a:t>Dolore postoperatorio - Dott.ssa A. Cecere, Anestesista Rianimatore</a:t>
            </a:r>
          </a:p>
        </p:txBody>
      </p:sp>
      <p:sp>
        <p:nvSpPr>
          <p:cNvPr id="19" name="txt"/>
          <p:cNvSpPr txBox="1"/>
          <p:nvPr/>
        </p:nvSpPr>
        <p:spPr>
          <a:xfrm>
            <a:off x="10092000" y="6408000"/>
            <a:ext cx="1680000" cy="4500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b="1" dirty="0">
                <a:solidFill>
                  <a:srgbClr val="8FAADC"/>
                </a:solidFill>
                <a:latin typeface="Calibri"/>
                <a:cs typeface="Calibri"/>
              </a:rPr>
              <a:t>29 / 29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afetyIndustrial">
  <a:themeElements>
    <a:clrScheme name="SafetyIndustrial">
      <a:dk1>
        <a:srgbClr val="111111"/>
      </a:dk1>
      <a:lt1>
        <a:srgbClr val="FFFFFF"/>
      </a:lt1>
      <a:dk2>
        <a:srgbClr val="2B2B2B"/>
      </a:dk2>
      <a:lt2>
        <a:srgbClr val="F2F2F2"/>
      </a:lt2>
      <a:accent1>
        <a:srgbClr val="FFD200"/>
      </a:accent1>
      <a:accent2>
        <a:srgbClr val="2B2B2B"/>
      </a:accent2>
      <a:accent3>
        <a:srgbClr val="8C8C8C"/>
      </a:accent3>
      <a:accent4>
        <a:srgbClr val="595959"/>
      </a:accent4>
      <a:accent5>
        <a:srgbClr val="D9D9D9"/>
      </a:accent5>
      <a:accent6>
        <a:srgbClr val="000000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Kiro OOXML Generator</Application>
  <Slides>30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Dolore Postoperatorio - una sfida di squadra</dc:title>
  <dc:creator>Kiro</dc:creator>
  <cp:keywords>D.Lgs. 81/08; Rischio Meccanico; MMC; NIOSH</cp:keywords>
</cp:coreProperties>
</file>